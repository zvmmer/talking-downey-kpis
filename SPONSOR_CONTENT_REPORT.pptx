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09728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C9A227"/>
                </a:solidFill>
                <a:latin typeface="Helvetica Neue"/>
              </a:rPr>
              <a:t>SPONSOR CONTENT REPORT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737360"/>
            <a:ext cx="100584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6400" b="1">
                <a:solidFill>
                  <a:srgbClr val="FFFFFF"/>
                </a:solidFill>
                <a:latin typeface="Georgia"/>
              </a:rPr>
              <a:t>Talking Downey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10896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400" b="0">
                <a:solidFill>
                  <a:srgbClr val="FCF6F5"/>
                </a:solidFill>
                <a:latin typeface="Georgia"/>
              </a:rPr>
              <a:t>What worked. What to fund more of.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57200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Reporting window: Jun 8 → 2026-10-30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93776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Every content category, ranked. One page per bucket.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30352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Numbers are cumulative views since engagement start.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603504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Prepared by Zhamir Pascual — Z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54864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C9A227"/>
                </a:solidFill>
                <a:latin typeface="Helvetica Neue"/>
              </a:rPr>
              <a:t>AUDIENCE TAGS — READ ME FIRST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914400"/>
            <a:ext cx="105156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Georgia"/>
              </a:rPr>
              <a:t>The audience labels on each category are THEORETICAL.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103120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>The tags on each category card ("Young 18-40", "Older 55+ values-driven", etc.) are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359152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>based on CONTENT VIBE — not on actual platform demographic data.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615184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871216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>Why? Platforms lock demographics behind account access. Right now Z only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127248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>sees public metrics (view counts, likes, timestamps). Age/gender/location breakdowns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383280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>sit inside the Facebook Business Suite, Instagram Insights, YouTube Studio, and TikTok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639312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>Business analytics — accessible only to the account owner or someone with delegated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895344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>access.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4151376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/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407408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>How to upgrade this deck: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663440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>  Grant Z view-only access to Talking Downey's Meta Business Suite +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4919472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>  YouTube Studio + TikTok Business. That flips these theoretical labels into hard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5175504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>  data — real age brackets, real gender splits, real geo. Same content, sharper story.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5431536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/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5687568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>Until then: treat the audience tags as EDUCATED HYPOTHESES to react to,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5943600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>not facts to invest against. They're worth including because content-vibe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6199632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>inference has a track record — but honest is honest.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31520" y="6309360"/>
            <a:ext cx="10698480" cy="36576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4400" y="6355080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Ask the sponsor for analytics access — it's the single biggest upgrade to this report.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AT A GLANCE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Where your money went — and what it earned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Every content type, ranked by total views. Bigger = better performing.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121408"/>
            <a:ext cx="3200400" cy="27105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Military Service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0" y="2174639"/>
            <a:ext cx="6217920" cy="128016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424160" y="2121408"/>
            <a:ext cx="2286000" cy="27105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286,593 views · 69 posts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392462"/>
            <a:ext cx="3200400" cy="27105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Elections &amp; Judicial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0" y="2445693"/>
            <a:ext cx="2397949" cy="128016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04189" y="2392462"/>
            <a:ext cx="2286000" cy="27105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110,525 views · 153 posts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663516"/>
            <a:ext cx="3200400" cy="27105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Truth &amp; Scandal Reporting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0" y="2716747"/>
            <a:ext cx="2291487" cy="128016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7727" y="2663516"/>
            <a:ext cx="2286000" cy="27105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105,618 views · 51 posts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2934570"/>
            <a:ext cx="3200400" cy="27105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Other / Uncategorized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114800" y="2987801"/>
            <a:ext cx="1887920" cy="128016"/>
          </a:xfrm>
          <a:prstGeom prst="rect">
            <a:avLst/>
          </a:prstGeom>
          <a:solidFill>
            <a:srgbClr val="6B7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94160" y="2934570"/>
            <a:ext cx="2286000" cy="27105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87,017 views · 47 posts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3205625"/>
            <a:ext cx="3200400" cy="27105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Sports (FIFA, UCLA, Rams/NFL)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0" y="3258856"/>
            <a:ext cx="1662086" cy="128016"/>
          </a:xfrm>
          <a:prstGeom prst="rect">
            <a:avLst/>
          </a:prstGeom>
          <a:solidFill>
            <a:srgbClr val="6B7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868326" y="3205625"/>
            <a:ext cx="2286000" cy="27105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76,608 views · 43 posts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3476679"/>
            <a:ext cx="3200400" cy="27105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Community &amp; Culture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114800" y="3529910"/>
            <a:ext cx="1645727" cy="128016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851967" y="3476679"/>
            <a:ext cx="2286000" cy="27105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75,854 views · 71 posts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3747733"/>
            <a:ext cx="3200400" cy="27105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Downtown Development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14800" y="3800964"/>
            <a:ext cx="1121899" cy="128016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328139" y="3747733"/>
            <a:ext cx="2286000" cy="27105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51,710 views · 20 posts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20" y="4018787"/>
            <a:ext cx="3200400" cy="27105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City Hall &amp; Civic Issues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114800" y="4072019"/>
            <a:ext cx="907825" cy="128016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114065" y="4018787"/>
            <a:ext cx="2286000" cy="27105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41,843 views · 49 posts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20" y="4289842"/>
            <a:ext cx="3200400" cy="27105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Political Individual Highlights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114800" y="4343073"/>
            <a:ext cx="773744" cy="128016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979984" y="4289842"/>
            <a:ext cx="2286000" cy="27105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35,663 views · 37 posts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1520" y="4560896"/>
            <a:ext cx="3200400" cy="27105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Legislation &amp; Policy Watch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114800" y="4614127"/>
            <a:ext cx="462298" cy="128016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668538" y="4560896"/>
            <a:ext cx="2286000" cy="27105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21,308 views · 43 posts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31520" y="4831950"/>
            <a:ext cx="3200400" cy="27105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Resident Highlights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114800" y="4885182"/>
            <a:ext cx="255318" cy="128016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461558" y="4831950"/>
            <a:ext cx="2286000" cy="27105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11,768 views · 14 posts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31520" y="5103005"/>
            <a:ext cx="3200400" cy="27105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American Pride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114800" y="5156236"/>
            <a:ext cx="188841" cy="128016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395081" y="5103005"/>
            <a:ext cx="2286000" cy="27105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8,704 views · 16 posts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31520" y="5374059"/>
            <a:ext cx="3200400" cy="27105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Leadership &amp; Life Lessons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114800" y="5427290"/>
            <a:ext cx="131260" cy="128016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337500" y="5374059"/>
            <a:ext cx="2286000" cy="27105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6,050 views · 21 posts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31520" y="5645113"/>
            <a:ext cx="3200400" cy="27105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Brand Growth Content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114800" y="5698344"/>
            <a:ext cx="48034" cy="128016"/>
          </a:xfrm>
          <a:prstGeom prst="rect">
            <a:avLst/>
          </a:prstGeom>
          <a:solidFill>
            <a:srgbClr val="E87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254274" y="5645113"/>
            <a:ext cx="2286000" cy="27105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2,214 views · 4 posts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31520" y="626364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Top bucket is your engine. Bottom bucket is either an opportunity or a lane to retire.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37744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00" b="1">
                <a:solidFill>
                  <a:srgbClr val="990011"/>
                </a:solidFill>
                <a:latin typeface="Helvetica Neue"/>
              </a:rPr>
              <a:t>SECTION 1 OF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834640"/>
            <a:ext cx="1005840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6400" b="1">
                <a:solidFill>
                  <a:srgbClr val="FFFFFF"/>
                </a:solidFill>
                <a:latin typeface="Georgia"/>
              </a:rPr>
              <a:t>The engines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20624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0">
                <a:solidFill>
                  <a:srgbClr val="FCF6F5"/>
                </a:solidFill>
                <a:latin typeface="Helvetica Neue"/>
              </a:rPr>
              <a:t>8 categories driving the bulk of your reach. Each averages 800+ views per post — proven audience.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CATEGORY DEEP-DIVE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Military Service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Army/JROTC/veteran interviews — the human side of military service (NOT policy — that's Legislation Watch).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9164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C9A227"/>
                </a:solidFill>
                <a:latin typeface="Helvetica Neue"/>
              </a:rPr>
              <a:t>AUDIENCE (theoretical): Traditional / patriotic · Middle (40-55) + Older (55+), veterans + families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2194560"/>
            <a:ext cx="91440" cy="32004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3774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C9A227"/>
                </a:solidFill>
                <a:latin typeface="Helvetica Neue"/>
              </a:rPr>
              <a:t>TOTAL VIEWS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697480"/>
            <a:ext cx="45720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5400" b="1">
                <a:solidFill>
                  <a:srgbClr val="2F3C7E"/>
                </a:solidFill>
                <a:latin typeface="Georgia"/>
              </a:rPr>
              <a:t>286,593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38404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69 posts · 9,880 likes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42062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4,154 average views per post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21945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C9A227"/>
                </a:solidFill>
                <a:latin typeface="Helvetica Neue"/>
              </a:rPr>
              <a:t>TOP 3 IN THIS CATEGORY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25603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26480" y="2560320"/>
            <a:ext cx="54864" cy="82296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26517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C9A227"/>
                </a:solidFill>
                <a:latin typeface="Helvetica Neue"/>
              </a:rPr>
              <a:t>#1  ·  IG  ·  83,242 views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29443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Joined the National Guard for college tuition. Now a Battalion Commander after moving ever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26480" y="34747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26480" y="3474720"/>
            <a:ext cx="54864" cy="82296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0" y="35661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C9A227"/>
                </a:solidFill>
                <a:latin typeface="Helvetica Neue"/>
              </a:rPr>
              <a:t>#2  ·  IG  ·  82,151 views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8587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Visa issues left me without a country to study in. Malaysia or Singapore were the options.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26480" y="43891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26480" y="4389120"/>
            <a:ext cx="54864" cy="82296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9360" y="4480559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C9A227"/>
                </a:solidFill>
                <a:latin typeface="Helvetica Neue"/>
              </a:rPr>
              <a:t>#3  ·  TT  ·  37,900 views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47731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Combat jobs aren't for everyone. See how your MOS determines deployment likelihood and wha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" y="5623560"/>
            <a:ext cx="10698480" cy="73152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7150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C9A227"/>
                </a:solidFill>
                <a:latin typeface="Helvetica Neue"/>
              </a:rPr>
              <a:t>RECOMMENDATION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59436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FCF6F5"/>
                </a:solidFill>
                <a:latin typeface="Helvetica Neue"/>
              </a:rPr>
              <a:t>Strong performer. Keep investing — Military Service is a proven driver of reach.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CATEGORY DEEP-DIVE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Truth &amp; Scandal Reporting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Investigative — the heat that drives peak reach.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9164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990011"/>
                </a:solidFill>
                <a:latin typeface="Helvetica Neue"/>
              </a:rPr>
              <a:t>AUDIENCE (theoretical): Cut-throat drama · punches hardest Young (18-40), broad appeal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2194560"/>
            <a:ext cx="91440" cy="320040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3774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990011"/>
                </a:solidFill>
                <a:latin typeface="Helvetica Neue"/>
              </a:rPr>
              <a:t>TOTAL VIEWS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697480"/>
            <a:ext cx="45720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5400" b="1">
                <a:solidFill>
                  <a:srgbClr val="2F3C7E"/>
                </a:solidFill>
                <a:latin typeface="Georgia"/>
              </a:rPr>
              <a:t>105,618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38404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51 posts · 2,281 likes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42062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2,071 average views per post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21945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990011"/>
                </a:solidFill>
                <a:latin typeface="Helvetica Neue"/>
              </a:rPr>
              <a:t>TOP 3 IN THIS CATEGORY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25603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26480" y="2560320"/>
            <a:ext cx="54864" cy="82296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26517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990011"/>
                </a:solidFill>
                <a:latin typeface="Helvetica Neue"/>
              </a:rPr>
              <a:t>#1  ·  TT  ·  9,839 views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29443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Grew up in Huntington Park and still own property there. The city's o...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26480" y="34747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26480" y="3474720"/>
            <a:ext cx="54864" cy="82296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0" y="35661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990011"/>
                </a:solidFill>
                <a:latin typeface="Helvetica Neue"/>
              </a:rPr>
              <a:t>#2  ·  IG  ·  7,762 views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8587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Chaos erupted! Lissette Rivera refused to calm down, escalating until she was escorted out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26480" y="43891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26480" y="4389120"/>
            <a:ext cx="54864" cy="82296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9360" y="4480559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990011"/>
                </a:solidFill>
                <a:latin typeface="Helvetica Neue"/>
              </a:rPr>
              <a:t>#3  ·  IG  ·  7,031 views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47731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A woman's outburst at a city council meeting, repeatedly warned by the mayor, led to her f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" y="5623560"/>
            <a:ext cx="10698480" cy="73152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7150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990011"/>
                </a:solidFill>
                <a:latin typeface="Helvetica Neue"/>
              </a:rPr>
              <a:t>RECOMMENDATION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59436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FCF6F5"/>
                </a:solidFill>
                <a:latin typeface="Helvetica Neue"/>
              </a:rPr>
              <a:t>Solid mid-tier. Worth continued investment. Test scaling to see if it holds.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CATEGORY DEEP-DIVE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Sports (FIFA, UCLA, Rams/NFL)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Sports commentary — World Cup, UCLA memories, Rams/NFL takes.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9164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6B7082"/>
                </a:solidFill>
                <a:latin typeface="Helvetica Neue"/>
              </a:rPr>
              <a:t>AUDIENCE (theoretical): Sports commentary · Young-Middle (25-45), sports fans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2194560"/>
            <a:ext cx="91440" cy="3200400"/>
          </a:xfrm>
          <a:prstGeom prst="rect">
            <a:avLst/>
          </a:prstGeom>
          <a:solidFill>
            <a:srgbClr val="6B7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3774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6B7082"/>
                </a:solidFill>
                <a:latin typeface="Helvetica Neue"/>
              </a:rPr>
              <a:t>TOTAL VIEWS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697480"/>
            <a:ext cx="45720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5400" b="1">
                <a:solidFill>
                  <a:srgbClr val="2F3C7E"/>
                </a:solidFill>
                <a:latin typeface="Georgia"/>
              </a:rPr>
              <a:t>76,608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38404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43 posts · 1,779 likes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42062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1,782 average views per post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21945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6B7082"/>
                </a:solidFill>
                <a:latin typeface="Helvetica Neue"/>
              </a:rPr>
              <a:t>TOP 3 IN THIS CATEGORY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25603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26480" y="2560320"/>
            <a:ext cx="54864" cy="822960"/>
          </a:xfrm>
          <a:prstGeom prst="rect">
            <a:avLst/>
          </a:prstGeom>
          <a:solidFill>
            <a:srgbClr val="6B7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26517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6B7082"/>
                </a:solidFill>
                <a:latin typeface="Helvetica Neue"/>
              </a:rPr>
              <a:t>#1  ·  TT  ·  27,400 views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29443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Watch party in Stonewood Mall! Over 25,000 people showed up for this epic event. Cost $300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26480" y="34747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26480" y="3474720"/>
            <a:ext cx="54864" cy="822960"/>
          </a:xfrm>
          <a:prstGeom prst="rect">
            <a:avLst/>
          </a:prstGeom>
          <a:solidFill>
            <a:srgbClr val="6B7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0" y="35661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6B7082"/>
                </a:solidFill>
                <a:latin typeface="Helvetica Neue"/>
              </a:rPr>
              <a:t>#2  ·  IG  ·  7,180 views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8587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25,000+ people gathered for a watch party at Stonewood Mall! Despite the $300k cost, it wa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26480" y="43891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26480" y="4389120"/>
            <a:ext cx="54864" cy="822960"/>
          </a:xfrm>
          <a:prstGeom prst="rect">
            <a:avLst/>
          </a:prstGeom>
          <a:solidFill>
            <a:srgbClr val="6B7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9360" y="4480559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6B7082"/>
                </a:solidFill>
                <a:latin typeface="Helvetica Neue"/>
              </a:rPr>
              <a:t>#3  ·  FB  ·  6,355 views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47731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Over 25,000 people gathered at Stonewood Mall for a massive watch party. Despite the $300,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" y="5623560"/>
            <a:ext cx="10698480" cy="73152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7150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6B7082"/>
                </a:solidFill>
                <a:latin typeface="Helvetica Neue"/>
              </a:rPr>
              <a:t>RECOMMENDATION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59436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FCF6F5"/>
                </a:solidFill>
                <a:latin typeface="Helvetica Neue"/>
              </a:rPr>
              <a:t>Solid mid-tier. Worth continued investment. Test scaling to see if it holds.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CATEGORY DEEP-DIVE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Community &amp; Culture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Local color, events, pageantry, personal growth, city life.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9164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141833"/>
                </a:solidFill>
                <a:latin typeface="Helvetica Neue"/>
              </a:rPr>
              <a:t>AUDIENCE (theoretical): Local color · Broad, 30+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2194560"/>
            <a:ext cx="91440" cy="320040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3774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TOTAL VIEWS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697480"/>
            <a:ext cx="45720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5400" b="1">
                <a:solidFill>
                  <a:srgbClr val="2F3C7E"/>
                </a:solidFill>
                <a:latin typeface="Georgia"/>
              </a:rPr>
              <a:t>75,854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38404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71 posts · 1,529 likes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42062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1,068 average views per post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21945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TOP 3 IN THIS CATEGORY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25603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26480" y="2560320"/>
            <a:ext cx="54864" cy="82296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26517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41833"/>
                </a:solidFill>
                <a:latin typeface="Helvetica Neue"/>
              </a:rPr>
              <a:t>#1  ·  FB  ·  7,150 views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29443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What kind of conduct should we expect from those seeking public office? During a Downey Ci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26480" y="34747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26480" y="3474720"/>
            <a:ext cx="54864" cy="82296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0" y="35661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41833"/>
                </a:solidFill>
                <a:latin typeface="Helvetica Neue"/>
              </a:rPr>
              <a:t>#2  ·  FB  ·  4,676 views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8587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An emotional response to a Charlie Kirk &amp; LGBQT comment raises questions about a leader's 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26480" y="43891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26480" y="4389120"/>
            <a:ext cx="54864" cy="82296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9360" y="4480559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41833"/>
                </a:solidFill>
                <a:latin typeface="Helvetica Neue"/>
              </a:rPr>
              <a:t>#3  ·  IG  ·  3,965 views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47731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Following an outburst, she was removed as a Chamber of Commerce ambassador and rejected fo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" y="5623560"/>
            <a:ext cx="10698480" cy="73152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7150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41833"/>
                </a:solidFill>
                <a:latin typeface="Helvetica Neue"/>
              </a:rPr>
              <a:t>RECOMMENDATION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59436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FCF6F5"/>
                </a:solidFill>
                <a:latin typeface="Helvetica Neue"/>
              </a:rPr>
              <a:t>Solid mid-tier. Worth continued investment. Test scaling to see if it holds.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CATEGORY DEEP-DIVE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Downtown Development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Physical growth of Downey — Round One, Fun Box, Stonewood, YMCA, new businesses opening.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9164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C9A227"/>
                </a:solidFill>
                <a:latin typeface="Helvetica Neue"/>
              </a:rPr>
              <a:t>AUDIENCE (theoretical): Local civic pride · Downey residents 30+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2194560"/>
            <a:ext cx="91440" cy="32004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3774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C9A227"/>
                </a:solidFill>
                <a:latin typeface="Helvetica Neue"/>
              </a:rPr>
              <a:t>TOTAL VIEWS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697480"/>
            <a:ext cx="45720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5400" b="1">
                <a:solidFill>
                  <a:srgbClr val="2F3C7E"/>
                </a:solidFill>
                <a:latin typeface="Georgia"/>
              </a:rPr>
              <a:t>51,710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38404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20 posts · 3,040 likes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42062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2,586 average views per post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21945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C9A227"/>
                </a:solidFill>
                <a:latin typeface="Helvetica Neue"/>
              </a:rPr>
              <a:t>TOP 3 IN THIS CATEGORY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25603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26480" y="2560320"/>
            <a:ext cx="54864" cy="82296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26517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C9A227"/>
                </a:solidFill>
                <a:latin typeface="Helvetica Neue"/>
              </a:rPr>
              <a:t>#1  ·  TT  ·  29,200 views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29443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Get ready! Round One is taking over the old Sears at Stonewood Mall. This massive 150,000 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26480" y="34747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26480" y="3474720"/>
            <a:ext cx="54864" cy="82296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0" y="35661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C9A227"/>
                </a:solidFill>
                <a:latin typeface="Helvetica Neue"/>
              </a:rPr>
              <a:t>#2  ·  IG  ·  4,455 views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8587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Round One is coming to Stonewood Mall, transforming the old Sears space! Get ready for a m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26480" y="43891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26480" y="4389120"/>
            <a:ext cx="54864" cy="82296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9360" y="4480559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C9A227"/>
                </a:solidFill>
                <a:latin typeface="Helvetica Neue"/>
              </a:rPr>
              <a:t>#3  ·  IG  ·  2,390 views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47731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20 years later, this letter still resonates. It sparked the Downtown Improvement Associati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" y="5623560"/>
            <a:ext cx="10698480" cy="73152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7150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C9A227"/>
                </a:solidFill>
                <a:latin typeface="Helvetica Neue"/>
              </a:rPr>
              <a:t>RECOMMENDATION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59436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FCF6F5"/>
                </a:solidFill>
                <a:latin typeface="Helvetica Neue"/>
              </a:rPr>
              <a:t>Solid mid-tier. Worth continued investment. Test scaling to see if it holds.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CATEGORY DEEP-DIVE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City Hall &amp; Civic Issues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Roads, stop signs, budgets, Planning Commission, downtown nightlife safety — how the city actually runs.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9164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2F3C7E"/>
                </a:solidFill>
                <a:latin typeface="Helvetica Neue"/>
              </a:rPr>
              <a:t>AUDIENCE (theoretical): Practical local · Downey homeowners 30+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2194560"/>
            <a:ext cx="91440" cy="320040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3774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TOTAL VIEWS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697480"/>
            <a:ext cx="45720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5400" b="1">
                <a:solidFill>
                  <a:srgbClr val="2F3C7E"/>
                </a:solidFill>
                <a:latin typeface="Georgia"/>
              </a:rPr>
              <a:t>41,843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38404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49 posts · 729 likes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42062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854 average views per post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21945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TOP 3 IN THIS CATEGORY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25603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26480" y="2560320"/>
            <a:ext cx="54864" cy="82296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26517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F3C7E"/>
                </a:solidFill>
                <a:latin typeface="Helvetica Neue"/>
              </a:rPr>
              <a:t>#1  ·  FB  ·  2,829 views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29443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Is bottle service at nightclubs contributing to late-night street fights? We're seeing a p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26480" y="34747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26480" y="3474720"/>
            <a:ext cx="54864" cy="82296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0" y="35661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F3C7E"/>
                </a:solidFill>
                <a:latin typeface="Helvetica Neue"/>
              </a:rPr>
              <a:t>#2  ·  IG  ·  1,974 views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8587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Downtown is a concern, with businesses struggling from late-night chaos. Solutions are bei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26480" y="43891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26480" y="4389120"/>
            <a:ext cx="54864" cy="82296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9360" y="4480559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F3C7E"/>
                </a:solidFill>
                <a:latin typeface="Helvetica Neue"/>
              </a:rPr>
              <a:t>#3  ·  TT  ·  1,745 views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47731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Bottle service gone wrong: Fights erupting on the streets after clubs close. It's a danger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" y="5623560"/>
            <a:ext cx="10698480" cy="73152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7150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F3C7E"/>
                </a:solidFill>
                <a:latin typeface="Helvetica Neue"/>
              </a:rPr>
              <a:t>RECOMMENDATION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59436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FCF6F5"/>
                </a:solidFill>
                <a:latin typeface="Helvetica Neue"/>
              </a:rPr>
              <a:t>Modest reach. Fine as filler between heavy hitters, not a headline lane.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CATEGORY DEEP-DIVE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Political Individual Highlights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Candidate/elected personality profiles — Carrie Uva, Hector Sosa. Not scandal-driven.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9164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2E86AB"/>
                </a:solidFill>
                <a:latin typeface="Helvetica Neue"/>
              </a:rPr>
              <a:t>AUDIENCE (theoretical): Personal profile · Broad (voters, campaign-season readers)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2194560"/>
            <a:ext cx="91440" cy="320040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3774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E86AB"/>
                </a:solidFill>
                <a:latin typeface="Helvetica Neue"/>
              </a:rPr>
              <a:t>TOTAL VIEWS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697480"/>
            <a:ext cx="45720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5400" b="1">
                <a:solidFill>
                  <a:srgbClr val="2F3C7E"/>
                </a:solidFill>
                <a:latin typeface="Georgia"/>
              </a:rPr>
              <a:t>35,663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38404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37 posts · 801 likes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42062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964 average views per post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21945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E86AB"/>
                </a:solidFill>
                <a:latin typeface="Helvetica Neue"/>
              </a:rPr>
              <a:t>TOP 3 IN THIS CATEGORY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25603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26480" y="2560320"/>
            <a:ext cx="54864" cy="82296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26517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E86AB"/>
                </a:solidFill>
                <a:latin typeface="Helvetica Neue"/>
              </a:rPr>
              <a:t>#1  ·  FB  ·  4,278 views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29443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With a clear choice for Downey, Hector Sosa stands out. His campaign kickoff event was a 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26480" y="34747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26480" y="3474720"/>
            <a:ext cx="54864" cy="82296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0" y="35661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E86AB"/>
                </a:solidFill>
                <a:latin typeface="Helvetica Neue"/>
              </a:rPr>
              <a:t>#2  ·  FB  ·  3,053 views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8587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Don't be fooled by simple comparisons. Carrie Uva, a lifelong Democrat, has earned endorse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26480" y="43891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26480" y="4389120"/>
            <a:ext cx="54864" cy="82296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9360" y="4480559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E86AB"/>
                </a:solidFill>
                <a:latin typeface="Helvetica Neue"/>
              </a:rPr>
              <a:t>#3  ·  FB  ·  2,253 views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47731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The Newsom administration and Rob Bonta's lawsuit against the federal government has been 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" y="5623560"/>
            <a:ext cx="10698480" cy="73152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7150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E86AB"/>
                </a:solidFill>
                <a:latin typeface="Helvetica Neue"/>
              </a:rPr>
              <a:t>RECOMMENDATION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59436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FCF6F5"/>
                </a:solidFill>
                <a:latin typeface="Helvetica Neue"/>
              </a:rPr>
              <a:t>Modest reach. Fine as filler between heavy hitters, not a headline lane.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CATEGORY DEEP-DIVE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Resident Highlights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Non-political citizen profiles — small business owners, community members. Granata, Gately, the deacon.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9164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1B7A43"/>
                </a:solidFill>
                <a:latin typeface="Helvetica Neue"/>
              </a:rPr>
              <a:t>AUDIENCE (theoretical): Human interest · Broad, community-connected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2194560"/>
            <a:ext cx="91440" cy="3200400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3774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B7A43"/>
                </a:solidFill>
                <a:latin typeface="Helvetica Neue"/>
              </a:rPr>
              <a:t>TOTAL VIEWS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697480"/>
            <a:ext cx="45720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5400" b="1">
                <a:solidFill>
                  <a:srgbClr val="2F3C7E"/>
                </a:solidFill>
                <a:latin typeface="Georgia"/>
              </a:rPr>
              <a:t>11,768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38404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14 posts · 271 likes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42062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841 average views per post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21945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B7A43"/>
                </a:solidFill>
                <a:latin typeface="Helvetica Neue"/>
              </a:rPr>
              <a:t>TOP 3 IN THIS CATEGORY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25603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26480" y="2560320"/>
            <a:ext cx="54864" cy="822960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26517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B7A43"/>
                </a:solidFill>
                <a:latin typeface="Helvetica Neue"/>
              </a:rPr>
              <a:t>#1  ·  IG  ·  3,551 views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29443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Almost ran over a family. I got the license plate, checked on them. Turns out he's a Catho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26480" y="34747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26480" y="3474720"/>
            <a:ext cx="54864" cy="822960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0" y="35661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B7A43"/>
                </a:solidFill>
                <a:latin typeface="Helvetica Neue"/>
              </a:rPr>
              <a:t>#2  ·  FB  ·  2,491 views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8587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A terrifying moment outside City Hall as a car nearly hits a family. A witness captured th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26480" y="43891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26480" y="4389120"/>
            <a:ext cx="54864" cy="822960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9360" y="4480559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B7A43"/>
                </a:solidFill>
                <a:latin typeface="Helvetica Neue"/>
              </a:rPr>
              <a:t>#3  ·  IG  ·  1,235 views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47731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Three boys, 6, 5, and 4. They're a handful, but you can still serve and have babies. So th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" y="5623560"/>
            <a:ext cx="10698480" cy="73152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7150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B7A43"/>
                </a:solidFill>
                <a:latin typeface="Helvetica Neue"/>
              </a:rPr>
              <a:t>RECOMMENDATION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59436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FCF6F5"/>
                </a:solidFill>
                <a:latin typeface="Helvetica Neue"/>
              </a:rPr>
              <a:t>Modest reach. Fine as filler between heavy hitters, not a headline lane.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37744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00" b="1">
                <a:solidFill>
                  <a:srgbClr val="2E86AB"/>
                </a:solidFill>
                <a:latin typeface="Helvetica Neue"/>
              </a:rPr>
              <a:t>SECTION 2 OF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834640"/>
            <a:ext cx="1005840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6400" b="1">
                <a:solidFill>
                  <a:srgbClr val="FFFFFF"/>
                </a:solidFill>
                <a:latin typeface="Georgia"/>
              </a:rPr>
              <a:t>Worth watching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20624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0">
                <a:solidFill>
                  <a:srgbClr val="FCF6F5"/>
                </a:solidFill>
                <a:latin typeface="Helvetica Neue"/>
              </a:rPr>
              <a:t>5 smaller lanes still building audience. Real potential, low volume — don't retire prematurely.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WORTH WATCHING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Small lanes that could develop into something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Low volume today, but real audience potential. Don't kill these before they get their shot.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148839"/>
            <a:ext cx="32004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Elections &amp; Judicial</a:t>
            </a:r>
          </a:p>
        </p:txBody>
      </p:sp>
      <p:sp>
        <p:nvSpPr>
          <p:cNvPr id="7" name="Rectangle 6"/>
          <p:cNvSpPr/>
          <p:nvPr/>
        </p:nvSpPr>
        <p:spPr>
          <a:xfrm>
            <a:off x="4206240" y="2217420"/>
            <a:ext cx="6035040" cy="27432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332719" y="2148839"/>
            <a:ext cx="2286000" cy="2514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110,525 views · 153 posts · 722 avg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32719" y="2354579"/>
            <a:ext cx="4572000" cy="2514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6B7082"/>
                </a:solidFill>
                <a:latin typeface="Helvetica Neue"/>
              </a:rPr>
              <a:t>Slow-burn policy · Middle (40-55) + Older (55+) engaged voters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651759"/>
            <a:ext cx="32004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Legislation &amp; Policy Watch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06240" y="2720339"/>
            <a:ext cx="1163489" cy="27432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61169" y="2651759"/>
            <a:ext cx="2286000" cy="2514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21,308 views · 43 posts · 496 avg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61169" y="2857499"/>
            <a:ext cx="4572000" cy="2514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6B7082"/>
                </a:solidFill>
                <a:latin typeface="Helvetica Neue"/>
              </a:rPr>
              <a:t>Slow-burn policy · Older (55+), civic-engaged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3154679"/>
            <a:ext cx="32004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American Pride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206240" y="3223260"/>
            <a:ext cx="475267" cy="27432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772947" y="3154679"/>
            <a:ext cx="2286000" cy="2514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8,704 views · 16 posts · 544 avg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72947" y="3360420"/>
            <a:ext cx="4572000" cy="2514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6B7082"/>
                </a:solidFill>
                <a:latin typeface="Helvetica Neue"/>
              </a:rPr>
              <a:t>Traditional / patriotic · Older (55+), values-driven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3657600"/>
            <a:ext cx="32004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Leadership &amp; Life Lessons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206240" y="3726180"/>
            <a:ext cx="330350" cy="27432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28030" y="3657600"/>
            <a:ext cx="2286000" cy="2514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6,050 views · 21 posts · 288 avg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28030" y="3863340"/>
            <a:ext cx="4572000" cy="2514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6B7082"/>
                </a:solidFill>
                <a:latin typeface="Helvetica Neue"/>
              </a:rPr>
              <a:t>Self-improvement · Young-Middle (25-45), professionals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4160520"/>
            <a:ext cx="32004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Brand Growth Content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206240" y="4229100"/>
            <a:ext cx="120891" cy="274320"/>
          </a:xfrm>
          <a:prstGeom prst="rect">
            <a:avLst/>
          </a:prstGeom>
          <a:solidFill>
            <a:srgbClr val="E87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418571" y="4160520"/>
            <a:ext cx="2286000" cy="2514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2,214 views · 4 posts · 554 avg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18571" y="4366260"/>
            <a:ext cx="4572000" cy="2514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6B7082"/>
                </a:solidFill>
                <a:latin typeface="Helvetica Neue"/>
              </a:rPr>
              <a:t>Insider / meta · Existing followers only (echo chamber — can't scale)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" y="626364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Don't retire these based on volume alone — small consistent posting builds audience over months, not weeks.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CATEGORY DEEP-DIVE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Elections &amp; Judicial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Coverage of campaigns, courts, and local government.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9164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2F3C7E"/>
                </a:solidFill>
                <a:latin typeface="Helvetica Neue"/>
              </a:rPr>
              <a:t>AUDIENCE (theoretical): Slow-burn policy · Middle (40-55) + Older (55+) engaged voters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2194560"/>
            <a:ext cx="91440" cy="320040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3774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TOTAL VIEWS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697480"/>
            <a:ext cx="45720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5400" b="1">
                <a:solidFill>
                  <a:srgbClr val="2F3C7E"/>
                </a:solidFill>
                <a:latin typeface="Georgia"/>
              </a:rPr>
              <a:t>110,525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38404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153 posts · 2,725 likes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42062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722 average views per post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21945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TOP 3 IN THIS CATEGORY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25603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26480" y="2560320"/>
            <a:ext cx="54864" cy="82296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26517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F3C7E"/>
                </a:solidFill>
                <a:latin typeface="Helvetica Neue"/>
              </a:rPr>
              <a:t>#1  ·  FB  ·  11,860 views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29443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Chaos erupted at a council meeting when Ms. Rivera began screaming, refusing to calm down 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26480" y="34747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26480" y="3474720"/>
            <a:ext cx="54864" cy="82296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0" y="35661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F3C7E"/>
                </a:solidFill>
                <a:latin typeface="Helvetica Neue"/>
              </a:rPr>
              <a:t>#2  ·  IG  ·  10,974 views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8587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Safer streets, reliable services, strong schools—better communities start with local actio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26480" y="43891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26480" y="4389120"/>
            <a:ext cx="54864" cy="82296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9360" y="4480559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F3C7E"/>
                </a:solidFill>
                <a:latin typeface="Helvetica Neue"/>
              </a:rPr>
              <a:t>#3  ·  FB  ·  5,812 views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47731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Tensions flared at the city council meeting as a woman repeatedly defied the mayor's reque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" y="5623560"/>
            <a:ext cx="10698480" cy="73152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7150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F3C7E"/>
                </a:solidFill>
                <a:latin typeface="Helvetica Neue"/>
              </a:rPr>
              <a:t>RECOMMENDATION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59436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FCF6F5"/>
                </a:solidFill>
                <a:latin typeface="Helvetica Neue"/>
              </a:rPr>
              <a:t>Modest reach. Fine as filler between heavy hitters, not a headline lane.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CATEGORY DEEP-DIVE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Legislation &amp; Policy Watch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CA bills, propositions, HOA fights, wealth tax, high-speed rail, homelessness — state-level policy commentary.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9164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2F3C7E"/>
                </a:solidFill>
                <a:latin typeface="Helvetica Neue"/>
              </a:rPr>
              <a:t>AUDIENCE (theoretical): Slow-burn policy · Older (55+), civic-engaged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2194560"/>
            <a:ext cx="91440" cy="320040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3774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TOTAL VIEWS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697480"/>
            <a:ext cx="45720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5400" b="1">
                <a:solidFill>
                  <a:srgbClr val="2F3C7E"/>
                </a:solidFill>
                <a:latin typeface="Georgia"/>
              </a:rPr>
              <a:t>21,308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38404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43 posts · 447 likes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42062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496 average views per post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21945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TOP 3 IN THIS CATEGORY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25603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26480" y="2560320"/>
            <a:ext cx="54864" cy="82296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26517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F3C7E"/>
                </a:solidFill>
                <a:latin typeface="Helvetica Neue"/>
              </a:rPr>
              <a:t>#1  ·  IG  ·  1,437 views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29443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5 to 7 people die on LA streets daily. Years of this, yet no urgency. A complete failure o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26480" y="34747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26480" y="3474720"/>
            <a:ext cx="54864" cy="82296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0" y="35661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F3C7E"/>
                </a:solidFill>
                <a:latin typeface="Helvetica Neue"/>
              </a:rPr>
              <a:t>#2  ·  FB  ·  1,106 views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8587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An astonishing 5 to 7 people die homeless on Los Angeles streets every single day. This ha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26480" y="43891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26480" y="4389120"/>
            <a:ext cx="54864" cy="82296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9360" y="4480559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F3C7E"/>
                </a:solidFill>
                <a:latin typeface="Helvetica Neue"/>
              </a:rPr>
              <a:t>#3  ·  FB  ·  934 views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47731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Prop 3 is presented as a temporary measure, but it's actually an extension of existing tax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" y="5623560"/>
            <a:ext cx="10698480" cy="73152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7150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F3C7E"/>
                </a:solidFill>
                <a:latin typeface="Helvetica Neue"/>
              </a:rPr>
              <a:t>RECOMMENDATION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59436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FCF6F5"/>
                </a:solidFill>
                <a:latin typeface="Helvetica Neue"/>
              </a:rPr>
              <a:t>Modest reach. Fine as filler between heavy hitters, not a headline lane.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CATEGORY DEEP-DIVE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American Pride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Patriotic content + historical/analytical (1968, forefathers, unity language).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9164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990011"/>
                </a:solidFill>
                <a:latin typeface="Helvetica Neue"/>
              </a:rPr>
              <a:t>AUDIENCE (theoretical): Traditional / patriotic · Older (55+), values-driven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2194560"/>
            <a:ext cx="91440" cy="320040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3774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990011"/>
                </a:solidFill>
                <a:latin typeface="Helvetica Neue"/>
              </a:rPr>
              <a:t>TOTAL VIEWS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697480"/>
            <a:ext cx="45720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5400" b="1">
                <a:solidFill>
                  <a:srgbClr val="2F3C7E"/>
                </a:solidFill>
                <a:latin typeface="Georgia"/>
              </a:rPr>
              <a:t>8,704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38404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16 posts · 123 likes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42062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544 average views per post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21945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990011"/>
                </a:solidFill>
                <a:latin typeface="Helvetica Neue"/>
              </a:rPr>
              <a:t>TOP 3 IN THIS CATEGORY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25603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26480" y="2560320"/>
            <a:ext cx="54864" cy="82296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26517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990011"/>
                </a:solidFill>
                <a:latin typeface="Helvetica Neue"/>
              </a:rPr>
              <a:t>#1  ·  TT  ·  1,098 views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29443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Embarrassed to be American? Pride in this country is essential, espec...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26480" y="34747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26480" y="3474720"/>
            <a:ext cx="54864" cy="82296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0" y="35661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990011"/>
                </a:solidFill>
                <a:latin typeface="Helvetica Neue"/>
              </a:rPr>
              <a:t>#2  ·  FB  ·  935 views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8587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A family’s hard work opened doors, from farming in Honduras and Mexico to building a busin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26480" y="43891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26480" y="4389120"/>
            <a:ext cx="54864" cy="82296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9360" y="4480559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990011"/>
                </a:solidFill>
                <a:latin typeface="Helvetica Neue"/>
              </a:rPr>
              <a:t>#3  ·  FB  ·  797 views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47731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The World Cup is a massive moneymaker for FIFA, projected to generate $11 billion in profi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" y="5623560"/>
            <a:ext cx="10698480" cy="73152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7150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990011"/>
                </a:solidFill>
                <a:latin typeface="Helvetica Neue"/>
              </a:rPr>
              <a:t>RECOMMENDATION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59436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FCF6F5"/>
                </a:solidFill>
                <a:latin typeface="Helvetica Neue"/>
              </a:rPr>
              <a:t>Modest reach. Fine as filler between heavy hitters, not a headline lane.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CATEGORY DEEP-DIVE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Leadership &amp; Life Lessons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Hiring, leadership, empathy, entrepreneurship — advice-style clips.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9164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2E86AB"/>
                </a:solidFill>
                <a:latin typeface="Helvetica Neue"/>
              </a:rPr>
              <a:t>AUDIENCE (theoretical): Self-improvement · Young-Middle (25-45), professionals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2194560"/>
            <a:ext cx="91440" cy="320040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3774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E86AB"/>
                </a:solidFill>
                <a:latin typeface="Helvetica Neue"/>
              </a:rPr>
              <a:t>TOTAL VIEWS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697480"/>
            <a:ext cx="45720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5400" b="1">
                <a:solidFill>
                  <a:srgbClr val="2F3C7E"/>
                </a:solidFill>
                <a:latin typeface="Georgia"/>
              </a:rPr>
              <a:t>6,050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38404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21 posts · 102 likes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42062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288 average views per post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21945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E86AB"/>
                </a:solidFill>
                <a:latin typeface="Helvetica Neue"/>
              </a:rPr>
              <a:t>TOP 3 IN THIS CATEGORY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25603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26480" y="2560320"/>
            <a:ext cx="54864" cy="82296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26517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E86AB"/>
                </a:solidFill>
                <a:latin typeface="Helvetica Neue"/>
              </a:rPr>
              <a:t>#1  ·  FB  ·  790 views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29443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Building a successful team means more than just hiring. It's about putting the right peopl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26480" y="34747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26480" y="3474720"/>
            <a:ext cx="54864" cy="82296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0" y="35661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E86AB"/>
                </a:solidFill>
                <a:latin typeface="Helvetica Neue"/>
              </a:rPr>
              <a:t>#2  ·  IG  ·  592 views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8587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Young entrepreneurs, listen up! Athletes dream big, but have a backup plan. Become a busin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26480" y="43891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26480" y="4389120"/>
            <a:ext cx="54864" cy="82296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9360" y="4480559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E86AB"/>
                </a:solidFill>
                <a:latin typeface="Helvetica Neue"/>
              </a:rPr>
              <a:t>#3  ·  IG  ·  581 views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47731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Get the right people on your bus, and the wrong people off. Ensure everyone's in the right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" y="5623560"/>
            <a:ext cx="10698480" cy="73152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7150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E86AB"/>
                </a:solidFill>
                <a:latin typeface="Helvetica Neue"/>
              </a:rPr>
              <a:t>RECOMMENDATION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59436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FCF6F5"/>
                </a:solidFill>
                <a:latin typeface="Helvetica Neue"/>
              </a:rPr>
              <a:t>Underperforming. Either the format needs work — or the audience isn't there for it. Discuss with editor before more spend.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CATEGORY DEEP-DIVE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Brand Growth Content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Self-referential updates — 'our growth is exponential' style posts.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9164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E87E8F"/>
                </a:solidFill>
                <a:latin typeface="Helvetica Neue"/>
              </a:rPr>
              <a:t>AUDIENCE (theoretical): Insider / meta · Existing followers only (echo chamber — can't scale)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2194560"/>
            <a:ext cx="91440" cy="3200400"/>
          </a:xfrm>
          <a:prstGeom prst="rect">
            <a:avLst/>
          </a:prstGeom>
          <a:solidFill>
            <a:srgbClr val="E87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3774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E87E8F"/>
                </a:solidFill>
                <a:latin typeface="Helvetica Neue"/>
              </a:rPr>
              <a:t>TOTAL VIEWS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697480"/>
            <a:ext cx="45720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5400" b="1">
                <a:solidFill>
                  <a:srgbClr val="2F3C7E"/>
                </a:solidFill>
                <a:latin typeface="Georgia"/>
              </a:rPr>
              <a:t>2,214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38404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4 posts · 34 likes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42062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554 average views per post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21945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E87E8F"/>
                </a:solidFill>
                <a:latin typeface="Helvetica Neue"/>
              </a:rPr>
              <a:t>TOP 3 IN THIS CATEGORY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25603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26480" y="2560320"/>
            <a:ext cx="54864" cy="822960"/>
          </a:xfrm>
          <a:prstGeom prst="rect">
            <a:avLst/>
          </a:prstGeom>
          <a:solidFill>
            <a:srgbClr val="E87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26517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E87E8F"/>
                </a:solidFill>
                <a:latin typeface="Helvetica Neue"/>
              </a:rPr>
              <a:t>#1  ·  FB  ·  1,101 views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29443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We're building this show for you! Your questions and suggestions directly influence what w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26480" y="34747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26480" y="3474720"/>
            <a:ext cx="54864" cy="822960"/>
          </a:xfrm>
          <a:prstGeom prst="rect">
            <a:avLst/>
          </a:prstGeom>
          <a:solidFill>
            <a:srgbClr val="E87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0" y="35661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E87E8F"/>
                </a:solidFill>
                <a:latin typeface="Helvetica Neue"/>
              </a:rPr>
              <a:t>#2  ·  FB  ·  699 views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8587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We're seeing exponential growth across our social platforms, with over 100k views combined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26480" y="43891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26480" y="4389120"/>
            <a:ext cx="54864" cy="822960"/>
          </a:xfrm>
          <a:prstGeom prst="rect">
            <a:avLst/>
          </a:prstGeom>
          <a:solidFill>
            <a:srgbClr val="E87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9360" y="4480559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E87E8F"/>
                </a:solidFill>
                <a:latin typeface="Helvetica Neue"/>
              </a:rPr>
              <a:t>#3  ·  TT  ·  412 views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47731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Social media growth is exponential! Over 100k views total, with 54k+ on one platform alone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" y="5623560"/>
            <a:ext cx="10698480" cy="73152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7150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E87E8F"/>
                </a:solidFill>
                <a:latin typeface="Helvetica Neue"/>
              </a:rPr>
              <a:t>RECOMMENDATION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59436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FCF6F5"/>
                </a:solidFill>
                <a:latin typeface="Helvetica Neue"/>
              </a:rPr>
              <a:t>Modest reach. Fine as filler between heavy hitters, not a headline lane.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THE ASK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Where we recommend leaning in next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Three lanes that have proven reach + audience fit. Small bets get compound returns here.</a:t>
            </a:r>
          </a:p>
        </p:txBody>
      </p:sp>
      <p:sp>
        <p:nvSpPr>
          <p:cNvPr id="6" name="Rectangle 5"/>
          <p:cNvSpPr/>
          <p:nvPr/>
        </p:nvSpPr>
        <p:spPr>
          <a:xfrm>
            <a:off x="563727" y="1965960"/>
            <a:ext cx="3566160" cy="35661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3727" y="1965960"/>
            <a:ext cx="91440" cy="356616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38047" y="219456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C9A227"/>
                </a:solidFill>
                <a:latin typeface="Helvetica Neue"/>
              </a:rPr>
              <a:t>LEAN 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8047" y="2468880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00" b="1">
                <a:solidFill>
                  <a:srgbClr val="2F3C7E"/>
                </a:solidFill>
                <a:latin typeface="Georgia"/>
              </a:rPr>
              <a:t>Downtown Development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8047" y="301752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41833"/>
                </a:solidFill>
                <a:latin typeface="Georgia"/>
              </a:rPr>
              <a:t>51,710 views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8047" y="338328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20 posts · 2,586 avg views/post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8047" y="3840479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C9A227"/>
                </a:solidFill>
                <a:latin typeface="Helvetica Neue"/>
              </a:rPr>
              <a:t>AUDIENCE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8047" y="4069079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Local civic pride · Downey residents 30+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8047" y="461772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C9A227"/>
                </a:solidFill>
                <a:latin typeface="Helvetica Neue"/>
              </a:rPr>
              <a:t>WHY NOW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8047" y="4846320"/>
            <a:ext cx="30175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Round One + Fun Box + Stonewood expansion = concrete stories in-hand. Downey residents share these hard.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61807" y="1965960"/>
            <a:ext cx="3566160" cy="35661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61807" y="1965960"/>
            <a:ext cx="91440" cy="356616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36127" y="219456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C9A227"/>
                </a:solidFill>
                <a:latin typeface="Helvetica Neue"/>
              </a:rPr>
              <a:t>LEAN 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36127" y="2468880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00" b="1">
                <a:solidFill>
                  <a:srgbClr val="2F3C7E"/>
                </a:solidFill>
                <a:latin typeface="Georgia"/>
              </a:rPr>
              <a:t>Military Service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36127" y="301752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41833"/>
                </a:solidFill>
                <a:latin typeface="Georgia"/>
              </a:rPr>
              <a:t>286,593 views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36127" y="338328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69 posts · 4,154 avg views/post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36127" y="3840479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C9A227"/>
                </a:solidFill>
                <a:latin typeface="Helvetica Neue"/>
              </a:rPr>
              <a:t>AUDIENCE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36127" y="4069079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Traditional / patriotic · Middle (40-55) + Older (55+), veterans + families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36127" y="461772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C9A227"/>
                </a:solidFill>
                <a:latin typeface="Helvetica Neue"/>
              </a:rPr>
              <a:t>WHY NOW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36127" y="4846320"/>
            <a:ext cx="30175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13 posts already at 2,930 avg — punches above weight. Underserved audience with high emotional pull.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" y="5806440"/>
            <a:ext cx="10698480" cy="77724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89788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C9A227"/>
                </a:solidFill>
                <a:latin typeface="Helvetica Neue"/>
              </a:rPr>
              <a:t>THE COMPOUNDING BET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6172200"/>
            <a:ext cx="105156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FCF6F5"/>
                </a:solidFill>
                <a:latin typeface="Helvetica Neue"/>
              </a:rPr>
              <a:t>These three lanes serve different audiences (18-40 foodie · 30+ residents · 40+ veterans). Investing in all three widens the audience without diluting any one lane.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STRATEGIC CONTEXT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Why we still cover the lower-view lanes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Not every category needs to top the leaderboard. Here's why the quieter buckets earn their spend.</a:t>
            </a:r>
          </a:p>
        </p:txBody>
      </p:sp>
      <p:sp>
        <p:nvSpPr>
          <p:cNvPr id="6" name="Rectangle 5"/>
          <p:cNvSpPr/>
          <p:nvPr/>
        </p:nvSpPr>
        <p:spPr>
          <a:xfrm>
            <a:off x="563727" y="2194560"/>
            <a:ext cx="3566160" cy="32918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3727" y="2194560"/>
            <a:ext cx="91440" cy="3291840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38047" y="242316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B7A43"/>
                </a:solidFill>
                <a:latin typeface="Helvetica Neue"/>
              </a:rPr>
              <a:t>REASON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8047" y="2743200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2F3C7E"/>
                </a:solidFill>
                <a:latin typeface="Georgia"/>
              </a:rPr>
              <a:t>NEW AUDIENCE ACQUISITION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8047" y="3291839"/>
            <a:ext cx="30175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Scandal brings viewers. Positive content KEEPS them.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8047" y="3931920"/>
            <a:ext cx="301752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Without community coverage, viewers churn after 3-4 controversy spikes. They came for drama, they leave because they don't feel connection to Downey itself.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12767" y="2194560"/>
            <a:ext cx="3566160" cy="32918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12767" y="2194560"/>
            <a:ext cx="91440" cy="329184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87087" y="242316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C9A227"/>
                </a:solidFill>
                <a:latin typeface="Helvetica Neue"/>
              </a:rPr>
              <a:t>REASON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87087" y="2743200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2F3C7E"/>
                </a:solidFill>
                <a:latin typeface="Georgia"/>
              </a:rPr>
              <a:t>EDITORIAL CREDIBILITY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87087" y="3291839"/>
            <a:ext cx="30175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A show that only reports negatives becomes a hit piece.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87087" y="3931920"/>
            <a:ext cx="301752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Sponsors don't want to attach to a hit piece. Positive coverage — resident highlights, downtown growth, community wins — proves objectivity. That's what makes sponsorship durable.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61807" y="2194560"/>
            <a:ext cx="3566160" cy="32918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61807" y="2194560"/>
            <a:ext cx="91440" cy="329184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36127" y="242316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E86AB"/>
                </a:solidFill>
                <a:latin typeface="Helvetica Neue"/>
              </a:rPr>
              <a:t>REASON 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36127" y="2743200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2F3C7E"/>
                </a:solidFill>
                <a:latin typeface="Georgia"/>
              </a:rPr>
              <a:t>ALGORITHMIC HEALTH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36127" y="3291839"/>
            <a:ext cx="30175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Platforms punish single-topic accounts.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36127" y="3931920"/>
            <a:ext cx="301752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Instagram, TikTok, and YouTube increasingly penalize accounts that push one theme. A mixed content diet earns more consistent reach across ALL posts, including the scandal ones. Diversification pays.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626364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Low-view lanes aren't dead weight. They're the connective tissue that turns viral reach into a durable audience.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THE HONEST TRADEOFF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Reach vs. depth — what each side actually buys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This isn't a Downey problem. It's how every social platform works. The question is the RATIO, not the choice.</a:t>
            </a:r>
          </a:p>
        </p:txBody>
      </p:sp>
      <p:sp>
        <p:nvSpPr>
          <p:cNvPr id="6" name="Rectangle 5"/>
          <p:cNvSpPr/>
          <p:nvPr/>
        </p:nvSpPr>
        <p:spPr>
          <a:xfrm>
            <a:off x="563727" y="2103120"/>
            <a:ext cx="5303520" cy="3657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3727" y="2103120"/>
            <a:ext cx="91440" cy="365760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38047" y="2286000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990011"/>
                </a:solidFill>
                <a:latin typeface="Helvetica Neue"/>
              </a:rPr>
              <a:t>WHAT EARNS EYEBALLS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8047" y="2651760"/>
            <a:ext cx="47548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000" b="1">
                <a:solidFill>
                  <a:srgbClr val="2F3C7E"/>
                </a:solidFill>
                <a:latin typeface="Georgia"/>
              </a:rPr>
              <a:t>Truth &amp; Scandal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8047" y="3154679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2,071 avg views/post   ·   51 posts   ·   105,618 total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8047" y="3611879"/>
            <a:ext cx="47548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990011"/>
                </a:solidFill>
                <a:latin typeface="Helvetica Neue"/>
              </a:rPr>
              <a:t>TOP POST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8047" y="3931920"/>
            <a:ext cx="47548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9,839 views — Grew up in Huntington Park and still own property there. The city's o.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8047" y="4663440"/>
            <a:ext cx="475488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Every scandal post averages 3-5× the reach of positive posts. This is the platform algorithm, not Downey. Outrage drives comments, comments drive reach, reach drives new followers.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24447" y="2103120"/>
            <a:ext cx="5303520" cy="3657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324447" y="2103120"/>
            <a:ext cx="91440" cy="365760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98767" y="2286000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E86AB"/>
                </a:solidFill>
                <a:latin typeface="Helvetica Neue"/>
              </a:rPr>
              <a:t>WHAT EARNS LOYALTY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98767" y="2651760"/>
            <a:ext cx="47548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000" b="1">
                <a:solidFill>
                  <a:srgbClr val="2F3C7E"/>
                </a:solidFill>
                <a:latin typeface="Georgia"/>
              </a:rPr>
              <a:t>Everything else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98767" y="3154679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1,291 avg views/post   ·   231 posts   ·   298,210 total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98767" y="3611879"/>
            <a:ext cx="47548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2E86AB"/>
                </a:solidFill>
                <a:latin typeface="Helvetica Neue"/>
              </a:rPr>
              <a:t>TOP POST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98767" y="3931920"/>
            <a:ext cx="47548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29,200 views — Get ready! Round One is taking over the old Sears at Stonewood Mall. 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98767" y="4663440"/>
            <a:ext cx="475488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Positive posts get fewer views per post — but they turn viewers into subscribers. Loyalty compounds. It's slower, but it's the audience the sponsor's brand actually attaches to.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31520" y="5989320"/>
            <a:ext cx="10698480" cy="54864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4400" y="612648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FCF6F5"/>
                </a:solidFill>
                <a:latin typeface="Helvetica Neue"/>
              </a:rPr>
              <a:t>Both matter. The real question isn't which lane wins — it's the RATIO between them.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THREE DIRECTIONS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How aggressive do we lean, and toward what?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Each direction is a defensible choice. Each has a cost. The right one depends on what the sponsor wants Talking Downey to BE.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0867" y="1874519"/>
            <a:ext cx="3611880" cy="3703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0867" y="1874519"/>
            <a:ext cx="91440" cy="370332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5187" y="2057400"/>
            <a:ext cx="3063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990011"/>
                </a:solidFill>
                <a:latin typeface="Helvetica Neue"/>
              </a:rPr>
              <a:t>DIRECTION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5187" y="2331720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2F3C7E"/>
                </a:solidFill>
                <a:latin typeface="Georgia"/>
              </a:rPr>
              <a:t>MAXIMUM REACH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5187" y="2715768"/>
            <a:ext cx="30632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6B7082"/>
                </a:solidFill>
                <a:latin typeface="Helvetica Neue"/>
              </a:rPr>
              <a:t>60% scandal / 40% positive filler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5187" y="3291839"/>
            <a:ext cx="3063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990011"/>
                </a:solidFill>
                <a:latin typeface="Helvetica Neue"/>
              </a:rPr>
              <a:t>WINS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5187" y="3547872"/>
            <a:ext cx="30632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Bigger view numbers.
More new audience per week.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5187" y="4297679"/>
            <a:ext cx="3063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6B7082"/>
                </a:solidFill>
                <a:latin typeface="Helvetica Neue"/>
              </a:rPr>
              <a:t>COSTS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5187" y="4553712"/>
            <a:ext cx="306324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Higher churn. Editorial credibility risk. Sponsor-brand risk if scandal target sues or spirals.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5187" y="4983479"/>
            <a:ext cx="3063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990011"/>
                </a:solidFill>
                <a:latin typeface="Helvetica Neue"/>
              </a:rPr>
              <a:t>PICK IF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5187" y="5239512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141833"/>
                </a:solidFill>
                <a:latin typeface="Helvetica Neue"/>
              </a:rPr>
              <a:t>You want raw growth numbers to show the sponsor month-over-month.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289907" y="1874519"/>
            <a:ext cx="3611880" cy="3703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289907" y="1874519"/>
            <a:ext cx="91440" cy="370332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64227" y="2057400"/>
            <a:ext cx="3063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2E86AB"/>
                </a:solidFill>
                <a:latin typeface="Helvetica Neue"/>
              </a:rPr>
              <a:t>DIRECTION 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64227" y="2331720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2F3C7E"/>
                </a:solidFill>
                <a:latin typeface="Georgia"/>
              </a:rPr>
              <a:t>BALANCED PORTFOLIO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64227" y="2715768"/>
            <a:ext cx="30632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6B7082"/>
                </a:solidFill>
                <a:latin typeface="Helvetica Neue"/>
              </a:rPr>
              <a:t>40% investigative / 40% positive / 20% community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64227" y="3291839"/>
            <a:ext cx="3063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2E86AB"/>
                </a:solidFill>
                <a:latin typeface="Helvetica Neue"/>
              </a:rPr>
              <a:t>WINS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64227" y="3547872"/>
            <a:ext cx="30632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Sustainable growth.
Credibility intact.
Both audiences served.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64227" y="4297679"/>
            <a:ext cx="3063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6B7082"/>
                </a:solidFill>
                <a:latin typeface="Helvetica Neue"/>
              </a:rPr>
              <a:t>COSTS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64227" y="4553712"/>
            <a:ext cx="306324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Slower month-over-month reach curve. Requires editorial discipline to hold the ratio.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64227" y="4983479"/>
            <a:ext cx="3063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2E86AB"/>
                </a:solidFill>
                <a:latin typeface="Helvetica Neue"/>
              </a:rPr>
              <a:t>PICK IF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64227" y="5239512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141833"/>
                </a:solidFill>
                <a:latin typeface="Helvetica Neue"/>
              </a:rPr>
              <a:t>You want a durable show that a sponsor can attach to long-term.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038947" y="1874519"/>
            <a:ext cx="3611880" cy="3703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038947" y="1874519"/>
            <a:ext cx="91440" cy="3703320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313267" y="2057400"/>
            <a:ext cx="3063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1B7A43"/>
                </a:solidFill>
                <a:latin typeface="Helvetica Neue"/>
              </a:rPr>
              <a:t>DIRECTION 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13267" y="2331720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2F3C7E"/>
                </a:solidFill>
                <a:latin typeface="Georgia"/>
              </a:rPr>
              <a:t>POSITIVE-LEAN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13267" y="2715768"/>
            <a:ext cx="30632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6B7082"/>
                </a:solidFill>
                <a:latin typeface="Helvetica Neue"/>
              </a:rPr>
              <a:t>20% scandal / 60% positive / 20% community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13267" y="3291839"/>
            <a:ext cx="3063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1B7A43"/>
                </a:solidFill>
                <a:latin typeface="Helvetica Neue"/>
              </a:rPr>
              <a:t>WINS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13267" y="3547872"/>
            <a:ext cx="30632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Community-cheerleader positioning.
Safe sponsor territory.
High trust.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13267" y="4297679"/>
            <a:ext cx="3063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6B7082"/>
                </a:solidFill>
                <a:latin typeface="Helvetica Neue"/>
              </a:rPr>
              <a:t>COSTS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13267" y="4553712"/>
            <a:ext cx="306324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Lowest total reach. Loses the scandal-hungry audience over time. Harder to attract new eyeballs.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313267" y="4983479"/>
            <a:ext cx="3063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1B7A43"/>
                </a:solidFill>
                <a:latin typeface="Helvetica Neue"/>
              </a:rPr>
              <a:t>PICK IF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13267" y="5239512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141833"/>
                </a:solidFill>
                <a:latin typeface="Helvetica Neue"/>
              </a:rPr>
              <a:t>You want to position Talking Downey as Downey's booster, not its watchdog.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31520" y="5852160"/>
            <a:ext cx="10698480" cy="77724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14400" y="59436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E86AB"/>
                </a:solidFill>
                <a:latin typeface="Helvetica Neue"/>
              </a:rPr>
              <a:t>IF BRAND IMAGE MATTERS AS MUCH AS REACH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14400" y="6217920"/>
            <a:ext cx="105156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FCF6F5"/>
                </a:solidFill>
                <a:latin typeface="Helvetica Neue"/>
              </a:rPr>
              <a:t>The Balanced Portfolio best fits Talking Downey today — preserves scandal reach while showing the depth sponsors attach to comfortably.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