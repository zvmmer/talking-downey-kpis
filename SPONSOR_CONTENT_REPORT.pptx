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C9A227"/>
                </a:solidFill>
                <a:latin typeface="Helvetica Neue"/>
              </a:rPr>
              <a:t>SPONSOR CONTENT REPORT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Talking Downey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108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400" b="0">
                <a:solidFill>
                  <a:srgbClr val="FCF6F5"/>
                </a:solidFill>
                <a:latin typeface="Georgia"/>
              </a:rPr>
              <a:t>What worked. What to fund more of.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5720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Reporting window: Jun 8 → 2026-10-23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937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Every content category, ranked. One page per bucket.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53035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Numbers are cumulative views since engagement start.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Prepared by Zhamir Pascual — Z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548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C9A227"/>
                </a:solidFill>
                <a:latin typeface="Helvetica Neue"/>
              </a:rPr>
              <a:t>AUDIENCE TAGS — READ ME FIRST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91440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200" b="1">
                <a:solidFill>
                  <a:srgbClr val="FFFFFF"/>
                </a:solidFill>
                <a:latin typeface="Georgia"/>
              </a:rPr>
              <a:t>The audience labels on each category are THEORETICAL.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The tags on each category card ("Young 18-40", "Older 55+ values-driven", etc.) 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5915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based on CONTENT VIBE — not on actual platform demographic data.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1518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71216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Why? Platforms lock demographics behind account access. Right now Z only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sees public metrics (view counts, likes, timestamps). Age/gender/location breakdowns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38328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sit inside the Facebook Business Suite, Instagram Insights, YouTube Studio, and TikTok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63931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Business analytics — accessible only to the account owner or someone with delegated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9534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access.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151376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/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40740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How to upgrade this deck: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4400" y="466344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  Grant Z view-only access to Talking Downey's Meta Business Suite 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91947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  YouTube Studio + TikTok Business. That flips these theoretical labels into hard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175504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  data — real age brackets, real gender splits, real geo. Same content, sharper story.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431536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5687568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Until then: treat the audience tags as EDUCATED HYPOTHESES to react to,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5943600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not facts to invest against. They're worth including because content-vibe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6199632"/>
            <a:ext cx="10515600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FCF6F5"/>
                </a:solidFill>
                <a:latin typeface="Helvetica Neue"/>
              </a:rPr>
              <a:t>inference has a track record — but honest is honest.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" y="6309360"/>
            <a:ext cx="10698480" cy="3657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6355080"/>
            <a:ext cx="10515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Ask the sponsor for analytics access — it's the single biggest upgrade to this report.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AT A GLANCE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your money went — and what it earned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Every content type, ranked by total views. Bigger = better performing.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21408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Other / Uncategorized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0" y="2185064"/>
            <a:ext cx="6217920" cy="128016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424160" y="2121408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297,372 views · 214 posts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413312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Military Service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0" y="2476968"/>
            <a:ext cx="2193622" cy="12801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99862" y="2413312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104,910 views · 48 posts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705217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Food &amp; Local Flavor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0" y="2768873"/>
            <a:ext cx="2111824" cy="128016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18064" y="2705217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100,998 views · 63 posts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997121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Truth &amp; Scandal Reporting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0" y="3060778"/>
            <a:ext cx="1871949" cy="128016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78189" y="2997121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89,526 views · 36 posts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289026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Elections &amp; Judicial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0" y="3352682"/>
            <a:ext cx="1730204" cy="128016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36444" y="3289026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82,747 views · 111 posts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580931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Community &amp; Culture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0" y="3644587"/>
            <a:ext cx="1579613" cy="128016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85853" y="3580931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75,545 views · 71 posts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872835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FIFA / World Cup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0" y="3936491"/>
            <a:ext cx="1345907" cy="128016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552147" y="3872835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64,368 views · 27 posts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164740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Downtown Development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0" y="4228396"/>
            <a:ext cx="1081233" cy="128016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87473" y="4164740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51,710 views · 20 posts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456644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Political Individual Highlights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0" y="4520301"/>
            <a:ext cx="736623" cy="128016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42863" y="4456644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35,229 views · 37 posts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4748549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Legislation &amp; Policy Watch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0" y="4812205"/>
            <a:ext cx="227767" cy="128016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4007" y="4748549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10,893 views · 25 posts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040454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Resident Highlights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0" y="5104110"/>
            <a:ext cx="172671" cy="128016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378911" y="5040454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8,258 views · 8 posts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332358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American Pride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114800" y="5396015"/>
            <a:ext cx="162446" cy="128016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368686" y="5332358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7,769 views · 15 posts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1520" y="5624263"/>
            <a:ext cx="32004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Brand Growth Content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114800" y="5687919"/>
            <a:ext cx="45720" cy="128016"/>
          </a:xfrm>
          <a:prstGeom prst="rect">
            <a:avLst/>
          </a:prstGeom>
          <a:solidFill>
            <a:srgbClr val="E87E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251959" y="5624263"/>
            <a:ext cx="2286000" cy="2919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1,111 views · 2 posts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Top bucket is your engine. Bottom bucket is either an opportunity or a lane to retire.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990011"/>
                </a:solidFill>
                <a:latin typeface="Helvetica Neue"/>
              </a:rPr>
              <a:t>SECTION 1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The engines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FCF6F5"/>
                </a:solidFill>
                <a:latin typeface="Helvetica Neue"/>
              </a:rPr>
              <a:t>8 categories driving the bulk of your reach. Each averages 800+ views per post — proven audience.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Military 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Army/JROTC/veteran interviews — the human side of military service (NOT policy — that's Legislation Watch).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 (theoretical): Traditional / patriotic · Middle (40-55) + Older (55+), veterans + families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104,910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48 posts · 4,541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2,186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#1  ·  TT  ·  37,900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Combat jobs aren't for everyone. See how your MOS determines deployment likelihood and wha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#2  ·  TT  ·  22,600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From Las Vegas to Battalion Commander: A journey fueled by college dreams and military opp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#3  ·  IG  ·  5,139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Not everyone deployed sees combat, even with 20 years in. Your MOS matters. Logistics migh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Food &amp; Local Flavor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Restaurants, chefs, dining — the everyday Downey. Pop's Wings, Porto's, Gyu, etc.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AUDIENCE (theoretical): Everyday appeal · Broad, skews Young (18-40) foodie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100,998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63 posts · 3,242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1,603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#1  ·  TT  ·  13,600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Mama Lu's is coming to Downey! Asian community favorite, famous for their tenderloin. Get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#2  ·  TT  ·  8,352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just opened and it's a must-try! Their pastrami sandwich with sweet potato fri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#3  ·  TT  ·  6,530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Downey residents want diverse dining and nightlife, but it needs to be responsible. Addres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Truth &amp; Scandal Reporting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Investigative — the heat that drives peak reach.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AUDIENCE (theoretical): Cut-throat drama · punches hardest Young (18-40), broad appeal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89,526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36 posts · 2,028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2,487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#1  ·  TT  ·  9,839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Grew up in Huntington Park and still own property there. The city's o...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#2  ·  IG  ·  7,762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Chaos erupted! Lissette Rivera refused to calm down, escalating until she was escorted out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#3  ·  IG  ·  7,031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woman's outburst at a city council meeting, repeatedly warned by the mayor, led to her f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Community &amp; Culture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Local color, events, pageantry, personal growth, city life.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41833"/>
                </a:solidFill>
                <a:latin typeface="Helvetica Neue"/>
              </a:rPr>
              <a:t>AUDIENCE (theoretical): Local color · Broad, 30+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75,545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71 posts · 1,513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1,064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#1  ·  FB  ·  7,150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What kind of conduct should we expect from those seeking public office? During a Downey Ci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#2  ·  FB  ·  4,676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An emotional response to a Charlie Kirk &amp; LGBQT comment raises questions about a leader's 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#3  ·  IG  ·  3,965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Following an outburst, she was removed as a Chamber of Commerce ambassador and rejected fo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41833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FIFA / World Cup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Sports commentary — split between celebration and critique.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AUDIENCE (theoretical): Sports commentary · Young-Middle (25-45), sports fans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6B7082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64,368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27 posts · 1,489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2,384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6B7082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#1  ·  TT  ·  27,400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Watch party in Stonewood Mall! Over 25,000 people showed up for this epic event. Cost $300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#2  ·  IG  ·  7,180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25,000+ people gathered for a watch party at Stonewood Mall! Despite the $300k cost, it wa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6B70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#3  ·  FB  ·  6,355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Over 25,000 people gathered at Stonewood Mall for a massive watch party. Despite the $300,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6B7082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Downtown Development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Physical growth of Downey — Round One, Fun Box, Stonewood, YMCA, new businesses opening.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 (theoretical): Local civic pride · Downey residents 30+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51,710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20 posts · 3,040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2,586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C9A227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#1  ·  TT  ·  29,200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Get ready! Round One is taking over the old Sears at Stonewood Mall. This massive 150,000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#2  ·  IG  ·  4,455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Round One is coming to Stonewood Mall, transforming the old Sears space! Get ready for a 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#3  ·  IG  ·  2,390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20 years later, this letter still resonates. It sparked the Downtown Improvement Associati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Political Individual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Candidate/elected personality profiles — Carrie Uva, Hector Sosa. Not scandal-driven.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AUDIENCE (theoretical): Personal profile · Broad (voters, campaign-season readers)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35,229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37 posts · 791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952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#1  ·  FB  ·  4,278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With a clear choice for Downey, Hector Sosa stands out. His campaign kickoff event was a 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#2  ·  FB  ·  3,053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Don't be fooled by simple comparisons. Carrie Uva, a lifelong Democrat, has earned endorse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#3  ·  FB  ·  2,253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Newsom administration and Rob Bonta's lawsuit against the federal government has been 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Resident Highlights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Non-political citizen profiles — small business owners, community members. Granata, Gately, the deacon.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AUDIENCE (theoretical): Human interest · Broad, community-connected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8,258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8 posts · 141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1,032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B7A43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#1  ·  IG  ·  3,551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Almost ran over a family. I got the license plate, checked on them. Turns out he's a Catho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#2  ·  FB  ·  2,491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terrifying moment outside City Hall as a car nearly hits a family. A witness captured th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#3  ·  FB  ·  812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Running a restaurant means the show must go on, even when things are falling apart. Unlike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Solid mid-tier. Worth continued investment. Test scaling to see if it holds.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23774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E86AB"/>
                </a:solidFill>
                <a:latin typeface="Helvetica Neue"/>
              </a:rPr>
              <a:t>SECTION 2 OF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834640"/>
            <a:ext cx="10058400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6400" b="1">
                <a:solidFill>
                  <a:srgbClr val="FFFFFF"/>
                </a:solidFill>
                <a:latin typeface="Georgia"/>
              </a:rPr>
              <a:t>Worth watching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420624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800" b="0">
                <a:solidFill>
                  <a:srgbClr val="FCF6F5"/>
                </a:solidFill>
                <a:latin typeface="Helvetica Neue"/>
              </a:rPr>
              <a:t>3 smaller lanes still building audience. Real potential, low volume — don't retire prematurely.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WORTH WATCHING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Small lanes that could develop into something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Low volume today, but real audience potential. Don't kill these before they get their shot.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148839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Elections &amp; Judicial</a:t>
            </a:r>
          </a:p>
        </p:txBody>
      </p:sp>
      <p:sp>
        <p:nvSpPr>
          <p:cNvPr id="7" name="Rectangle 6"/>
          <p:cNvSpPr/>
          <p:nvPr/>
        </p:nvSpPr>
        <p:spPr>
          <a:xfrm>
            <a:off x="4206240" y="2217420"/>
            <a:ext cx="6035040" cy="274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332719" y="2148839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82,747 views · 111 posts · 745 avg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2719" y="2354579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Slow-burn policy · Middle (40-55) + Older (55+) engaged voters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651759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Legislation &amp; Policy Watch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2720339"/>
            <a:ext cx="794466" cy="27432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92146" y="2651759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10,893 views · 25 posts · 436 avg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92146" y="2857499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Slow-burn policy · Older (55+), civic-engaged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154679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American Pride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06240" y="3223260"/>
            <a:ext cx="566621" cy="2743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64301" y="3154679"/>
            <a:ext cx="2286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6B7082"/>
                </a:solidFill>
                <a:latin typeface="Helvetica Neue"/>
              </a:rPr>
              <a:t>7,769 views · 15 posts · 518 avg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301" y="3360420"/>
            <a:ext cx="4572000" cy="2514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082"/>
                </a:solidFill>
                <a:latin typeface="Helvetica Neue"/>
              </a:rPr>
              <a:t>Traditional / patriotic · Older (55+), values-driven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Don't retire these based on volume alone — small consistent posting builds audience over months, not weeks.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Elections &amp; Judicial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Coverage of campaigns, courts, and local government.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F3C7E"/>
                </a:solidFill>
                <a:latin typeface="Helvetica Neue"/>
              </a:rPr>
              <a:t>AUDIENCE (theoretical): Slow-burn policy · Middle (40-55) + Older (55+) engaged voters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82,747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111 posts · 1,981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745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#1  ·  FB  ·  11,860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Chaos erupted at a council meeting when Ms. Rivera began screaming, refusing to calm down 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#2  ·  FB  ·  5,812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Tensions flared at the city council meeting as a woman repeatedly defied the mayor's reque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#3  ·  IG  ·  4,046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 candidate's DSA membership raises questions about their loyalties. Pledging to 'co-gover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Legislation &amp; Policy Watch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CA bills, propositions, HOA fights, wealth tax — policy commentary independent of candidates.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F3C7E"/>
                </a:solidFill>
                <a:latin typeface="Helvetica Neue"/>
              </a:rPr>
              <a:t>AUDIENCE (theoretical): Slow-burn policy · Older (55+), civic-engaged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10,893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25 posts · 146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436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F3C7E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#1  ·  FB  ·  914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Prop 3 is presented as a temporary measure, but it's actually an extension of existing tax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#2  ·  FB  ·  726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Assembly Bill 1821 raises concerns about public records requests. While cities face costs 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2F3C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#3  ·  FB  ·  683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Two significant legislative wins for HOAs and condo buyers. We successfully opposed a bill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F3C7E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CATEGORY DEEP-DIVE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American Pride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Patriotic content + historical/analytical (1968, forefathers, unity language).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69848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AUDIENCE (theoretical): Traditional / patriotic · Older (55+), values-driven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31520" y="2194560"/>
            <a:ext cx="91440" cy="32004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3774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TOTAL VIEWS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697480"/>
            <a:ext cx="45720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5400" b="1">
                <a:solidFill>
                  <a:srgbClr val="2F3C7E"/>
                </a:solidFill>
                <a:latin typeface="Georgia"/>
              </a:rPr>
              <a:t>7,769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384048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15 posts · 113 likes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4206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0">
                <a:solidFill>
                  <a:srgbClr val="6B7082"/>
                </a:solidFill>
                <a:latin typeface="Helvetica Neue"/>
              </a:rPr>
              <a:t>518 average views per post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21945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TOP 3 IN THIS CATEGORY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5603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5603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651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#1  ·  TT  ·  1,098 views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9443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Embarrassed to be American? Pride in this country is essential, espec...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26480" y="34747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34747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35661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#2  ·  FB  ·  797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38587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The World Cup is a massive moneymaker for FIFA, projected to generate $11 billion in profi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4389120"/>
            <a:ext cx="5303520" cy="8229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4389120"/>
            <a:ext cx="54864" cy="82296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09360" y="4480559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#3  ·  IG  ·  726 views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09360" y="4773168"/>
            <a:ext cx="50292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1968: A year of stark divisions. Hippie or not? For government or against? Revolution or 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" y="5623560"/>
            <a:ext cx="10698480" cy="73152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7150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990011"/>
                </a:solidFill>
                <a:latin typeface="Helvetica Neue"/>
              </a:rPr>
              <a:t>RECOMMENDATION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594360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Modest reach. Fine as filler between heavy hitters, not a headline lane.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Where we recommend leaning in next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Three lanes that have proven reach + audience fit. Small bets get compound returns here.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1965960"/>
            <a:ext cx="356616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1965960"/>
            <a:ext cx="91440" cy="3566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1945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LEAN 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4688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F3C7E"/>
                </a:solidFill>
                <a:latin typeface="Georgia"/>
              </a:rPr>
              <a:t>Downtown Development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41833"/>
                </a:solidFill>
                <a:latin typeface="Georgia"/>
              </a:rPr>
              <a:t>51,710 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3832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20 posts · 2,586 avg views/post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047" y="3840479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047" y="4069079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Local civic pride · Downey residents 30+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8047" y="46177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WHY NOW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047" y="48463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Round One + Fun Box + Stonewood expansion = concrete stories in-hand. Downey residents share these hard.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12767" y="1965960"/>
            <a:ext cx="356616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12767" y="1965960"/>
            <a:ext cx="91440" cy="356616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87087" y="21945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LEAN 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87087" y="24688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F3C7E"/>
                </a:solidFill>
                <a:latin typeface="Georgia"/>
              </a:rPr>
              <a:t>Food &amp; Local Flavor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7087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41833"/>
                </a:solidFill>
                <a:latin typeface="Georgia"/>
              </a:rPr>
              <a:t>100,998 views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87087" y="33832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63 posts · 1,603 avg views/post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87087" y="3840479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AUDIENCE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87087" y="4069079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Everyday appeal · Broad, skews Young (18-40) foodie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87087" y="46177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WHY NOW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87087" y="48463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Pop's Wings alone did 7.7k views. Downey is food-curious. Easy content to produce, high engagement.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61807" y="1965960"/>
            <a:ext cx="3566160" cy="356616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061807" y="1965960"/>
            <a:ext cx="91440" cy="356616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36127" y="21945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LEAN IN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36127" y="246888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600" b="1">
                <a:solidFill>
                  <a:srgbClr val="2F3C7E"/>
                </a:solidFill>
                <a:latin typeface="Georgia"/>
              </a:rPr>
              <a:t>Military Service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36127" y="301752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41833"/>
                </a:solidFill>
                <a:latin typeface="Georgia"/>
              </a:rPr>
              <a:t>104,910 views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36127" y="338328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48 posts · 2,186 avg views/post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36127" y="3840479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AUDIENCE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36127" y="4069079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Traditional / patriotic · Middle (40-55) + Older (55+), veterans + families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36127" y="461772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C9A227"/>
                </a:solidFill>
                <a:latin typeface="Helvetica Neue"/>
              </a:rPr>
              <a:t>WHY NOW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36127" y="4846320"/>
            <a:ext cx="301752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13 posts already at 2,930 avg — punches above weight. Underserved audience with high emotional pull.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31520" y="5806440"/>
            <a:ext cx="10698480" cy="7772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14400" y="589788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THE COMPOUNDING BET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4400" y="617220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FCF6F5"/>
                </a:solidFill>
                <a:latin typeface="Helvetica Neue"/>
              </a:rPr>
              <a:t>These three lanes serve different audiences (18-40 foodie · 30+ residents · 40+ veterans). Investing in all three widens the audience without diluting any one lane.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STRATEGIC CONTEXT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Why we still cover the lower-view lanes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Not every category needs to top the leaderboard. Here's why the quieter buckets earn their spend.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2194560"/>
            <a:ext cx="91440" cy="329184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1B7A43"/>
                </a:solidFill>
                <a:latin typeface="Helvetica Neue"/>
              </a:rPr>
              <a:t>REASON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NEW AUDIENCE ACQUISITION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Scandal brings viewers. Positive content KEEPS them.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Without community coverage, viewers churn after 3-4 controversy spikes. They came for drama, they leave because they don't feel connection to Downey itself.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276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12767" y="2194560"/>
            <a:ext cx="91440" cy="32918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8708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C9A227"/>
                </a:solidFill>
                <a:latin typeface="Helvetica Neue"/>
              </a:rPr>
              <a:t>REASON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8708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EDITORIAL CREDIBILITY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8708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A show that only reports negatives becomes a hit piece.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8708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Sponsors don't want to attach to a hit piece. Positive coverage — resident highlights, downtown growth, community wins — proves objectivity. That's what makes sponsorship durable.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061807" y="2194560"/>
            <a:ext cx="3566160" cy="32918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61807" y="2194560"/>
            <a:ext cx="91440" cy="329184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6127" y="24231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REASON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6127" y="2743200"/>
            <a:ext cx="30175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ALGORITHMIC HEALTH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36127" y="3291839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41833"/>
                </a:solidFill>
                <a:latin typeface="Helvetica Neue"/>
              </a:rPr>
              <a:t>Platforms punish single-topic accounts.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36127" y="3931920"/>
            <a:ext cx="301752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Instagram, TikTok, and YouTube increasingly penalize accounts that push one theme. A mixed content diet earns more consistent reach across ALL posts, including the scandal ones. Diversification pays.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6263640"/>
            <a:ext cx="106984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141833"/>
                </a:solidFill>
                <a:latin typeface="Helvetica Neue"/>
              </a:rPr>
              <a:t>Low-view lanes aren't dead weight. They're the connective tissue that turns viral reach into a durable audience.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THE HONEST TRADEOFF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Reach vs. depth — what each side actually buys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This isn't a Downey problem. It's how every social platform works. The question is the RATIO, not the choice.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63727" y="2103120"/>
            <a:ext cx="530352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3727" y="2103120"/>
            <a:ext cx="91440" cy="365760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8047" y="22860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990011"/>
                </a:solidFill>
                <a:latin typeface="Helvetica Neue"/>
              </a:rPr>
              <a:t>WHAT EARNS EYEBALLS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047" y="26517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Truth &amp; Scandal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047" y="3154679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2,487 avg views/post   ·   36 posts   ·   89,526 total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047" y="3611879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TOP POST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047" y="393192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9,839 views — Grew up in Huntington Park and still own property there. The city's o.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047" y="4663440"/>
            <a:ext cx="47548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Every scandal post averages 3-5× the reach of positive posts. This is the platform algorithm, not Downey. Outrage drives comments, comments drive reach, reach drives new followers.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24447" y="2103120"/>
            <a:ext cx="5303520" cy="36576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24447" y="2103120"/>
            <a:ext cx="91440" cy="365760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98767" y="2286000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2E86AB"/>
                </a:solidFill>
                <a:latin typeface="Helvetica Neue"/>
              </a:rPr>
              <a:t>WHAT EARNS LOYALTY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8767" y="2651760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000" b="1">
                <a:solidFill>
                  <a:srgbClr val="2F3C7E"/>
                </a:solidFill>
                <a:latin typeface="Georgia"/>
              </a:rPr>
              <a:t>Everything else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8767" y="3154679"/>
            <a:ext cx="47548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141833"/>
                </a:solidFill>
                <a:latin typeface="Helvetica Neue"/>
              </a:rPr>
              <a:t>1,306 avg views/post   ·   214 posts   ·   279,509 total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98767" y="3611879"/>
            <a:ext cx="475488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TOP POST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98767" y="3931920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29,200 views — Get ready! Round One is taking over the old Sears at Stonewood Mall. 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98767" y="4663440"/>
            <a:ext cx="475488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Positive posts get fewer views per post — but they turn viewers into subscribers. Loyalty compounds. It's slower, but it's the audience the sponsor's brand actually attaches to.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5989320"/>
            <a:ext cx="10698480" cy="5486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FCF6F5"/>
                </a:solidFill>
                <a:latin typeface="Helvetica Neue"/>
              </a:rPr>
              <a:t>Both matter. The real question isn't which lane wins — it's the RATIO between them.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990011"/>
                </a:solidFill>
                <a:latin typeface="Helvetica Neue"/>
              </a:rPr>
              <a:t>THREE DIRECTIONS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698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3000" b="1">
                <a:solidFill>
                  <a:srgbClr val="2F3C7E"/>
                </a:solidFill>
                <a:latin typeface="Georgia"/>
              </a:rPr>
              <a:t>How aggressive do we lean, and toward what?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0020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0">
                <a:solidFill>
                  <a:srgbClr val="6B7082"/>
                </a:solidFill>
                <a:latin typeface="Helvetica Neue"/>
              </a:rPr>
              <a:t>Each direction is a defensible choice. Each has a cost. The right one depends on what the sponsor wants Talking Downey to BE.</a:t>
            </a:r>
          </a:p>
        </p:txBody>
      </p:sp>
      <p:sp>
        <p:nvSpPr>
          <p:cNvPr id="6" name="Rectangle 5"/>
          <p:cNvSpPr/>
          <p:nvPr/>
        </p:nvSpPr>
        <p:spPr>
          <a:xfrm>
            <a:off x="54086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0867" y="1874519"/>
            <a:ext cx="91440" cy="3703320"/>
          </a:xfrm>
          <a:prstGeom prst="rect">
            <a:avLst/>
          </a:prstGeom>
          <a:solidFill>
            <a:srgbClr val="9900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518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DIRECTION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518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MAXIMUM REACH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518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60% scandal / 40% positive filler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518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WINS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518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Bigger view numbers.
More new audience per week.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518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518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Higher churn. Editorial credibility risk. Sponsor-brand risk if scandal target sues or spirals.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18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990011"/>
                </a:solidFill>
                <a:latin typeface="Helvetica Neue"/>
              </a:rPr>
              <a:t>PICK IF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518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raw growth numbers to show the sponsor month-over-month.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8990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89907" y="1874519"/>
            <a:ext cx="91440" cy="3703320"/>
          </a:xfrm>
          <a:prstGeom prst="rect">
            <a:avLst/>
          </a:prstGeom>
          <a:solidFill>
            <a:srgbClr val="2E86A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6422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DIRECTION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422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BALANCED PORTFOLIO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6422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40% investigative / 40% positive / 20% community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6422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WINS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6422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Sustainable growth.
Credibility intact.
Both audiences served.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6422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422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Slower month-over-month reach curve. Requires editorial discipline to hold the ratio.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422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2E86AB"/>
                </a:solidFill>
                <a:latin typeface="Helvetica Neue"/>
              </a:rPr>
              <a:t>PICK IF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6422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a durable show that a sponsor can attach to long-term.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38947" y="1874519"/>
            <a:ext cx="3611880" cy="37033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38947" y="1874519"/>
            <a:ext cx="91440" cy="3703320"/>
          </a:xfrm>
          <a:prstGeom prst="rect">
            <a:avLst/>
          </a:prstGeom>
          <a:solidFill>
            <a:srgbClr val="1B7A4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13267" y="2057400"/>
            <a:ext cx="3063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DIRECTION 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13267" y="2331720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400" b="1">
                <a:solidFill>
                  <a:srgbClr val="2F3C7E"/>
                </a:solidFill>
                <a:latin typeface="Georgia"/>
              </a:rPr>
              <a:t>POSITIVE-LEAN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13267" y="2715768"/>
            <a:ext cx="3063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20% scandal / 60% positive / 20% community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13267" y="329183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WINS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13267" y="3547872"/>
            <a:ext cx="306324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141833"/>
                </a:solidFill>
                <a:latin typeface="Helvetica Neue"/>
              </a:rPr>
              <a:t>Community-cheerleader positioning.
Safe sponsor territory.
High trust.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13267" y="42976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6B7082"/>
                </a:solidFill>
                <a:latin typeface="Helvetica Neue"/>
              </a:rPr>
              <a:t>COSTS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13267" y="4553712"/>
            <a:ext cx="3063240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0">
                <a:solidFill>
                  <a:srgbClr val="6B7082"/>
                </a:solidFill>
                <a:latin typeface="Helvetica Neue"/>
              </a:rPr>
              <a:t>Lowest total reach. Loses the scandal-hungry audience over time. Harder to attract new eyeballs.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13267" y="4983479"/>
            <a:ext cx="306324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1">
                <a:solidFill>
                  <a:srgbClr val="1B7A43"/>
                </a:solidFill>
                <a:latin typeface="Helvetica Neue"/>
              </a:rPr>
              <a:t>PICK IF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13267" y="5239512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900" b="0">
                <a:solidFill>
                  <a:srgbClr val="141833"/>
                </a:solidFill>
                <a:latin typeface="Helvetica Neue"/>
              </a:rPr>
              <a:t>You want to position Talking Downey as Downey's booster, not its watchdog.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31520" y="5852160"/>
            <a:ext cx="10698480" cy="777240"/>
          </a:xfrm>
          <a:prstGeom prst="rect">
            <a:avLst/>
          </a:prstGeom>
          <a:solidFill>
            <a:srgbClr val="141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59436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000" b="1">
                <a:solidFill>
                  <a:srgbClr val="2E86AB"/>
                </a:solidFill>
                <a:latin typeface="Helvetica Neue"/>
              </a:rPr>
              <a:t>IF BRAND IMAGE MATTERS AS MUCH AS REACH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" y="6217920"/>
            <a:ext cx="1051560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00" b="1">
                <a:solidFill>
                  <a:srgbClr val="FCF6F5"/>
                </a:solidFill>
                <a:latin typeface="Helvetica Neue"/>
              </a:rPr>
              <a:t>The Balanced Portfolio best fits Talking Downey today — preserves scandal reach while showing the depth sponsors attach to comfortably.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