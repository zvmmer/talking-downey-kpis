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  <p:sldId id="274" r:id="rId25"/>
    <p:sldId id="275" r:id="rId26"/>
    <p:sldId id="276" r:id="rId27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Relationship Id="rId25" Type="http://schemas.openxmlformats.org/officeDocument/2006/relationships/slide" Target="slides/slide19.xml"/><Relationship Id="rId26" Type="http://schemas.openxmlformats.org/officeDocument/2006/relationships/slide" Target="slides/slide20.xml"/><Relationship Id="rId27" Type="http://schemas.openxmlformats.org/officeDocument/2006/relationships/slide" Target="slides/slide21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418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411480" cy="6858000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914400" y="1097280"/>
            <a:ext cx="1005840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400" b="1">
                <a:solidFill>
                  <a:srgbClr val="C9A227"/>
                </a:solidFill>
                <a:latin typeface="Helvetica Neue"/>
              </a:rPr>
              <a:t>SPONSOR CONTENT REPORT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" y="1737360"/>
            <a:ext cx="10058400" cy="11887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6400" b="1">
                <a:solidFill>
                  <a:srgbClr val="FFFFFF"/>
                </a:solidFill>
                <a:latin typeface="Georgia"/>
              </a:rPr>
              <a:t>Talking Downey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14400" y="3108960"/>
            <a:ext cx="10058400" cy="5486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2400" b="0">
                <a:solidFill>
                  <a:srgbClr val="FCF6F5"/>
                </a:solidFill>
                <a:latin typeface="Georgia"/>
              </a:rPr>
              <a:t>What worked. What to fund more of.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914400" y="4572000"/>
            <a:ext cx="731520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300" b="0">
                <a:solidFill>
                  <a:srgbClr val="6B7082"/>
                </a:solidFill>
                <a:latin typeface="Helvetica Neue"/>
              </a:rPr>
              <a:t>Reporting window: Jun 8 → 2026-10-09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14400" y="4937760"/>
            <a:ext cx="731520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300" b="0">
                <a:solidFill>
                  <a:srgbClr val="6B7082"/>
                </a:solidFill>
                <a:latin typeface="Helvetica Neue"/>
              </a:rPr>
              <a:t>Every content category, ranked. One page per bucket.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14400" y="5303520"/>
            <a:ext cx="731520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300" b="0">
                <a:solidFill>
                  <a:srgbClr val="6B7082"/>
                </a:solidFill>
                <a:latin typeface="Helvetica Neue"/>
              </a:rPr>
              <a:t>Numbers are cumulative views since engagement start.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14400" y="6035040"/>
            <a:ext cx="1005840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200" b="0">
                <a:solidFill>
                  <a:srgbClr val="6B7082"/>
                </a:solidFill>
                <a:latin typeface="Helvetica Neue"/>
              </a:rPr>
              <a:t>Prepared by Zhamir Pascual — Z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418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411480" cy="6858000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914400" y="548640"/>
            <a:ext cx="1005840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300" b="1">
                <a:solidFill>
                  <a:srgbClr val="C9A227"/>
                </a:solidFill>
                <a:latin typeface="Helvetica Neue"/>
              </a:rPr>
              <a:t>AUDIENCE TAGS — READ ME FIRST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" y="914400"/>
            <a:ext cx="10515600" cy="9144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3200" b="1">
                <a:solidFill>
                  <a:srgbClr val="FFFFFF"/>
                </a:solidFill>
                <a:latin typeface="Georgia"/>
              </a:rPr>
              <a:t>The audience labels on each category are THEORETICAL.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14400" y="2103120"/>
            <a:ext cx="10515600" cy="29260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200" b="0">
                <a:solidFill>
                  <a:srgbClr val="FCF6F5"/>
                </a:solidFill>
                <a:latin typeface="Helvetica Neue"/>
              </a:rPr>
              <a:t>The tags on each category card ("Young 18-40", "Older 55+ values-driven", etc.) are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914400" y="2359152"/>
            <a:ext cx="10515600" cy="29260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200" b="0">
                <a:solidFill>
                  <a:srgbClr val="FCF6F5"/>
                </a:solidFill>
                <a:latin typeface="Helvetica Neue"/>
              </a:rPr>
              <a:t>based on CONTENT VIBE — not on actual platform demographic data.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14400" y="2615184"/>
            <a:ext cx="10515600" cy="29260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200" b="0">
                <a:solidFill>
                  <a:srgbClr val="FCF6F5"/>
                </a:solidFill>
                <a:latin typeface="Helvetica Neue"/>
              </a:rPr>
              <a:t/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14400" y="2871216"/>
            <a:ext cx="10515600" cy="29260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200" b="0">
                <a:solidFill>
                  <a:srgbClr val="FCF6F5"/>
                </a:solidFill>
                <a:latin typeface="Helvetica Neue"/>
              </a:rPr>
              <a:t>Why? Platforms lock demographics behind account access. Right now Z only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14400" y="3127248"/>
            <a:ext cx="10515600" cy="29260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200" b="0">
                <a:solidFill>
                  <a:srgbClr val="FCF6F5"/>
                </a:solidFill>
                <a:latin typeface="Helvetica Neue"/>
              </a:rPr>
              <a:t>sees public metrics (view counts, likes, timestamps). Age/gender/location breakdowns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14400" y="3383280"/>
            <a:ext cx="10515600" cy="29260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200" b="0">
                <a:solidFill>
                  <a:srgbClr val="FCF6F5"/>
                </a:solidFill>
                <a:latin typeface="Helvetica Neue"/>
              </a:rPr>
              <a:t>sit inside the Facebook Business Suite, Instagram Insights, YouTube Studio, and TikTok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14400" y="3639312"/>
            <a:ext cx="10515600" cy="29260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200" b="0">
                <a:solidFill>
                  <a:srgbClr val="FCF6F5"/>
                </a:solidFill>
                <a:latin typeface="Helvetica Neue"/>
              </a:rPr>
              <a:t>Business analytics — accessible only to the account owner or someone with delegated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914400" y="3895344"/>
            <a:ext cx="10515600" cy="29260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200" b="0">
                <a:solidFill>
                  <a:srgbClr val="FCF6F5"/>
                </a:solidFill>
                <a:latin typeface="Helvetica Neue"/>
              </a:rPr>
              <a:t>access.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914400" y="4151376"/>
            <a:ext cx="10515600" cy="29260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200" b="0">
                <a:solidFill>
                  <a:srgbClr val="FCF6F5"/>
                </a:solidFill>
                <a:latin typeface="Helvetica Neue"/>
              </a:rPr>
              <a:t/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914400" y="4407408"/>
            <a:ext cx="10515600" cy="29260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200" b="0">
                <a:solidFill>
                  <a:srgbClr val="FCF6F5"/>
                </a:solidFill>
                <a:latin typeface="Helvetica Neue"/>
              </a:rPr>
              <a:t>How to upgrade this deck: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914400" y="4663440"/>
            <a:ext cx="10515600" cy="29260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200" b="0">
                <a:solidFill>
                  <a:srgbClr val="FCF6F5"/>
                </a:solidFill>
                <a:latin typeface="Helvetica Neue"/>
              </a:rPr>
              <a:t>  Grant Z view-only access to Talking Downey's Meta Business Suite +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914400" y="4919472"/>
            <a:ext cx="10515600" cy="29260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200" b="0">
                <a:solidFill>
                  <a:srgbClr val="FCF6F5"/>
                </a:solidFill>
                <a:latin typeface="Helvetica Neue"/>
              </a:rPr>
              <a:t>  YouTube Studio + TikTok Business. That flips these theoretical labels into hard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914400" y="5175504"/>
            <a:ext cx="10515600" cy="29260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200" b="0">
                <a:solidFill>
                  <a:srgbClr val="FCF6F5"/>
                </a:solidFill>
                <a:latin typeface="Helvetica Neue"/>
              </a:rPr>
              <a:t>  data — real age brackets, real gender splits, real geo. Same content, sharper story.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914400" y="5431536"/>
            <a:ext cx="10515600" cy="29260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200" b="0">
                <a:solidFill>
                  <a:srgbClr val="FCF6F5"/>
                </a:solidFill>
                <a:latin typeface="Helvetica Neue"/>
              </a:rPr>
              <a:t/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914400" y="5687568"/>
            <a:ext cx="10515600" cy="29260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200" b="0">
                <a:solidFill>
                  <a:srgbClr val="FCF6F5"/>
                </a:solidFill>
                <a:latin typeface="Helvetica Neue"/>
              </a:rPr>
              <a:t>Until then: treat the audience tags as EDUCATED HYPOTHESES to react to,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914400" y="5943600"/>
            <a:ext cx="10515600" cy="29260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200" b="0">
                <a:solidFill>
                  <a:srgbClr val="FCF6F5"/>
                </a:solidFill>
                <a:latin typeface="Helvetica Neue"/>
              </a:rPr>
              <a:t>not facts to invest against. They're worth including because content-vibe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914400" y="6199632"/>
            <a:ext cx="10515600" cy="29260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200" b="0">
                <a:solidFill>
                  <a:srgbClr val="FCF6F5"/>
                </a:solidFill>
                <a:latin typeface="Helvetica Neue"/>
              </a:rPr>
              <a:t>inference has a track record — but honest is honest.</a:t>
            </a:r>
          </a:p>
        </p:txBody>
      </p:sp>
      <p:sp>
        <p:nvSpPr>
          <p:cNvPr id="23" name="Rectangle 22"/>
          <p:cNvSpPr/>
          <p:nvPr/>
        </p:nvSpPr>
        <p:spPr>
          <a:xfrm>
            <a:off x="731520" y="6309360"/>
            <a:ext cx="10698480" cy="365760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914400" y="6355080"/>
            <a:ext cx="105156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200" b="1">
                <a:solidFill>
                  <a:srgbClr val="141833"/>
                </a:solidFill>
                <a:latin typeface="Helvetica Neue"/>
              </a:rPr>
              <a:t>Ask the sponsor for analytics access — it's the single biggest upgrade to this report.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CF6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457200"/>
            <a:ext cx="1069848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200" b="1">
                <a:solidFill>
                  <a:srgbClr val="990011"/>
                </a:solidFill>
                <a:latin typeface="Helvetica Neue"/>
              </a:rPr>
              <a:t>AT A GLANCE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822960"/>
            <a:ext cx="10698480" cy="8229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3000" b="1">
                <a:solidFill>
                  <a:srgbClr val="2F3C7E"/>
                </a:solidFill>
                <a:latin typeface="Georgia"/>
              </a:rPr>
              <a:t>Where your money went — and what it earned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1600200"/>
            <a:ext cx="1069848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200" b="0">
                <a:solidFill>
                  <a:srgbClr val="6B7082"/>
                </a:solidFill>
                <a:latin typeface="Helvetica Neue"/>
              </a:rPr>
              <a:t>Every content type, ranked by total views. Bigger = better performing.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2121408"/>
            <a:ext cx="3200400" cy="29190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100" b="1">
                <a:solidFill>
                  <a:srgbClr val="141833"/>
                </a:solidFill>
                <a:latin typeface="Helvetica Neue"/>
              </a:rPr>
              <a:t>Other / Uncategorized</a:t>
            </a:r>
          </a:p>
        </p:txBody>
      </p:sp>
      <p:sp>
        <p:nvSpPr>
          <p:cNvPr id="7" name="Rectangle 6"/>
          <p:cNvSpPr/>
          <p:nvPr/>
        </p:nvSpPr>
        <p:spPr>
          <a:xfrm>
            <a:off x="4114800" y="2185064"/>
            <a:ext cx="6217920" cy="128016"/>
          </a:xfrm>
          <a:prstGeom prst="rect">
            <a:avLst/>
          </a:prstGeom>
          <a:solidFill>
            <a:srgbClr val="6B708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0424160" y="2121408"/>
            <a:ext cx="2286000" cy="29190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900" b="0">
                <a:solidFill>
                  <a:srgbClr val="6B7082"/>
                </a:solidFill>
                <a:latin typeface="Helvetica Neue"/>
              </a:rPr>
              <a:t>280,258 views · 189 posts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31520" y="2413312"/>
            <a:ext cx="3200400" cy="29190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100" b="1">
                <a:solidFill>
                  <a:srgbClr val="141833"/>
                </a:solidFill>
                <a:latin typeface="Helvetica Neue"/>
              </a:rPr>
              <a:t>Food &amp; Local Flavor</a:t>
            </a:r>
          </a:p>
        </p:txBody>
      </p:sp>
      <p:sp>
        <p:nvSpPr>
          <p:cNvPr id="10" name="Rectangle 9"/>
          <p:cNvSpPr/>
          <p:nvPr/>
        </p:nvSpPr>
        <p:spPr>
          <a:xfrm>
            <a:off x="4114800" y="2476968"/>
            <a:ext cx="2200825" cy="128016"/>
          </a:xfrm>
          <a:prstGeom prst="rect">
            <a:avLst/>
          </a:prstGeom>
          <a:solidFill>
            <a:srgbClr val="1B7A4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407065" y="2413312"/>
            <a:ext cx="2286000" cy="29190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900" b="0">
                <a:solidFill>
                  <a:srgbClr val="6B7082"/>
                </a:solidFill>
                <a:latin typeface="Helvetica Neue"/>
              </a:rPr>
              <a:t>99,197 views · 63 posts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31520" y="2705217"/>
            <a:ext cx="3200400" cy="29190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100" b="1">
                <a:solidFill>
                  <a:srgbClr val="141833"/>
                </a:solidFill>
                <a:latin typeface="Helvetica Neue"/>
              </a:rPr>
              <a:t>Military Service</a:t>
            </a:r>
          </a:p>
        </p:txBody>
      </p:sp>
      <p:sp>
        <p:nvSpPr>
          <p:cNvPr id="13" name="Rectangle 12"/>
          <p:cNvSpPr/>
          <p:nvPr/>
        </p:nvSpPr>
        <p:spPr>
          <a:xfrm>
            <a:off x="4114800" y="2768873"/>
            <a:ext cx="2055305" cy="128016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261545" y="2705217"/>
            <a:ext cx="2286000" cy="29190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900" b="0">
                <a:solidFill>
                  <a:srgbClr val="6B7082"/>
                </a:solidFill>
                <a:latin typeface="Helvetica Neue"/>
              </a:rPr>
              <a:t>92,638 views · 34 posts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31520" y="2997121"/>
            <a:ext cx="3200400" cy="29190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100" b="1">
                <a:solidFill>
                  <a:srgbClr val="141833"/>
                </a:solidFill>
                <a:latin typeface="Helvetica Neue"/>
              </a:rPr>
              <a:t>Truth &amp; Scandal Reporting</a:t>
            </a:r>
          </a:p>
        </p:txBody>
      </p:sp>
      <p:sp>
        <p:nvSpPr>
          <p:cNvPr id="16" name="Rectangle 15"/>
          <p:cNvSpPr/>
          <p:nvPr/>
        </p:nvSpPr>
        <p:spPr>
          <a:xfrm>
            <a:off x="4114800" y="3060778"/>
            <a:ext cx="1959326" cy="128016"/>
          </a:xfrm>
          <a:prstGeom prst="rect">
            <a:avLst/>
          </a:prstGeom>
          <a:solidFill>
            <a:srgbClr val="99001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165566" y="2997121"/>
            <a:ext cx="2286000" cy="29190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900" b="0">
                <a:solidFill>
                  <a:srgbClr val="6B7082"/>
                </a:solidFill>
                <a:latin typeface="Helvetica Neue"/>
              </a:rPr>
              <a:t>88,312 views · 35 posts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731520" y="3289026"/>
            <a:ext cx="3200400" cy="29190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100" b="1">
                <a:solidFill>
                  <a:srgbClr val="141833"/>
                </a:solidFill>
                <a:latin typeface="Helvetica Neue"/>
              </a:rPr>
              <a:t>Elections &amp; Judicial</a:t>
            </a:r>
          </a:p>
        </p:txBody>
      </p:sp>
      <p:sp>
        <p:nvSpPr>
          <p:cNvPr id="19" name="Rectangle 18"/>
          <p:cNvSpPr/>
          <p:nvPr/>
        </p:nvSpPr>
        <p:spPr>
          <a:xfrm>
            <a:off x="4114800" y="3352682"/>
            <a:ext cx="1635338" cy="128016"/>
          </a:xfrm>
          <a:prstGeom prst="rect">
            <a:avLst/>
          </a:prstGeom>
          <a:solidFill>
            <a:srgbClr val="2F3C7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5841578" y="3289026"/>
            <a:ext cx="2286000" cy="29190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900" b="0">
                <a:solidFill>
                  <a:srgbClr val="6B7082"/>
                </a:solidFill>
                <a:latin typeface="Helvetica Neue"/>
              </a:rPr>
              <a:t>73,709 views · 98 posts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731520" y="3580931"/>
            <a:ext cx="3200400" cy="29190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100" b="1">
                <a:solidFill>
                  <a:srgbClr val="141833"/>
                </a:solidFill>
                <a:latin typeface="Helvetica Neue"/>
              </a:rPr>
              <a:t>FIFA / World Cup</a:t>
            </a:r>
          </a:p>
        </p:txBody>
      </p:sp>
      <p:sp>
        <p:nvSpPr>
          <p:cNvPr id="22" name="Rectangle 21"/>
          <p:cNvSpPr/>
          <p:nvPr/>
        </p:nvSpPr>
        <p:spPr>
          <a:xfrm>
            <a:off x="4114800" y="3644587"/>
            <a:ext cx="1414960" cy="128016"/>
          </a:xfrm>
          <a:prstGeom prst="rect">
            <a:avLst/>
          </a:prstGeom>
          <a:solidFill>
            <a:srgbClr val="6B708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5621200" y="3580931"/>
            <a:ext cx="2286000" cy="29190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900" b="0">
                <a:solidFill>
                  <a:srgbClr val="6B7082"/>
                </a:solidFill>
                <a:latin typeface="Helvetica Neue"/>
              </a:rPr>
              <a:t>63,776 views · 25 posts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731520" y="3872835"/>
            <a:ext cx="3200400" cy="29190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100" b="1">
                <a:solidFill>
                  <a:srgbClr val="141833"/>
                </a:solidFill>
                <a:latin typeface="Helvetica Neue"/>
              </a:rPr>
              <a:t>Community &amp; Culture</a:t>
            </a:r>
          </a:p>
        </p:txBody>
      </p:sp>
      <p:sp>
        <p:nvSpPr>
          <p:cNvPr id="25" name="Rectangle 24"/>
          <p:cNvSpPr/>
          <p:nvPr/>
        </p:nvSpPr>
        <p:spPr>
          <a:xfrm>
            <a:off x="4114800" y="3936491"/>
            <a:ext cx="1276672" cy="128016"/>
          </a:xfrm>
          <a:prstGeom prst="rect">
            <a:avLst/>
          </a:prstGeom>
          <a:solidFill>
            <a:srgbClr val="1418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5482912" y="3872835"/>
            <a:ext cx="2286000" cy="29190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900" b="0">
                <a:solidFill>
                  <a:srgbClr val="6B7082"/>
                </a:solidFill>
                <a:latin typeface="Helvetica Neue"/>
              </a:rPr>
              <a:t>57,543 views · 62 posts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731520" y="4164740"/>
            <a:ext cx="3200400" cy="29190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100" b="1">
                <a:solidFill>
                  <a:srgbClr val="141833"/>
                </a:solidFill>
                <a:latin typeface="Helvetica Neue"/>
              </a:rPr>
              <a:t>Downtown Development</a:t>
            </a:r>
          </a:p>
        </p:txBody>
      </p:sp>
      <p:sp>
        <p:nvSpPr>
          <p:cNvPr id="28" name="Rectangle 27"/>
          <p:cNvSpPr/>
          <p:nvPr/>
        </p:nvSpPr>
        <p:spPr>
          <a:xfrm>
            <a:off x="4114800" y="4228396"/>
            <a:ext cx="1132039" cy="128016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5338279" y="4164740"/>
            <a:ext cx="2286000" cy="29190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900" b="0">
                <a:solidFill>
                  <a:srgbClr val="6B7082"/>
                </a:solidFill>
                <a:latin typeface="Helvetica Neue"/>
              </a:rPr>
              <a:t>51,024 views · 20 posts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731520" y="4456644"/>
            <a:ext cx="3200400" cy="29190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100" b="1">
                <a:solidFill>
                  <a:srgbClr val="141833"/>
                </a:solidFill>
                <a:latin typeface="Helvetica Neue"/>
              </a:rPr>
              <a:t>Political Individual Highlights</a:t>
            </a:r>
          </a:p>
        </p:txBody>
      </p:sp>
      <p:sp>
        <p:nvSpPr>
          <p:cNvPr id="31" name="Rectangle 30"/>
          <p:cNvSpPr/>
          <p:nvPr/>
        </p:nvSpPr>
        <p:spPr>
          <a:xfrm>
            <a:off x="4114800" y="4520301"/>
            <a:ext cx="642673" cy="128016"/>
          </a:xfrm>
          <a:prstGeom prst="rect">
            <a:avLst/>
          </a:prstGeom>
          <a:solidFill>
            <a:srgbClr val="2E86A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4848913" y="4456644"/>
            <a:ext cx="2286000" cy="29190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900" b="0">
                <a:solidFill>
                  <a:srgbClr val="6B7082"/>
                </a:solidFill>
                <a:latin typeface="Helvetica Neue"/>
              </a:rPr>
              <a:t>28,967 views · 32 posts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731520" y="4748549"/>
            <a:ext cx="3200400" cy="29190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100" b="1">
                <a:solidFill>
                  <a:srgbClr val="141833"/>
                </a:solidFill>
                <a:latin typeface="Helvetica Neue"/>
              </a:rPr>
              <a:t>Resident Highlights</a:t>
            </a:r>
          </a:p>
        </p:txBody>
      </p:sp>
      <p:sp>
        <p:nvSpPr>
          <p:cNvPr id="34" name="Rectangle 33"/>
          <p:cNvSpPr/>
          <p:nvPr/>
        </p:nvSpPr>
        <p:spPr>
          <a:xfrm>
            <a:off x="4114800" y="4812205"/>
            <a:ext cx="183148" cy="128016"/>
          </a:xfrm>
          <a:prstGeom prst="rect">
            <a:avLst/>
          </a:prstGeom>
          <a:solidFill>
            <a:srgbClr val="1B7A4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4389388" y="4748549"/>
            <a:ext cx="2286000" cy="29190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900" b="0">
                <a:solidFill>
                  <a:srgbClr val="6B7082"/>
                </a:solidFill>
                <a:latin typeface="Helvetica Neue"/>
              </a:rPr>
              <a:t>8,255 views · 8 posts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731520" y="5040454"/>
            <a:ext cx="3200400" cy="29190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100" b="1">
                <a:solidFill>
                  <a:srgbClr val="141833"/>
                </a:solidFill>
                <a:latin typeface="Helvetica Neue"/>
              </a:rPr>
              <a:t>American Pride</a:t>
            </a:r>
          </a:p>
        </p:txBody>
      </p:sp>
      <p:sp>
        <p:nvSpPr>
          <p:cNvPr id="37" name="Rectangle 36"/>
          <p:cNvSpPr/>
          <p:nvPr/>
        </p:nvSpPr>
        <p:spPr>
          <a:xfrm>
            <a:off x="4114800" y="5104110"/>
            <a:ext cx="172366" cy="128016"/>
          </a:xfrm>
          <a:prstGeom prst="rect">
            <a:avLst/>
          </a:prstGeom>
          <a:solidFill>
            <a:srgbClr val="99001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4378606" y="5040454"/>
            <a:ext cx="2286000" cy="29190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900" b="0">
                <a:solidFill>
                  <a:srgbClr val="6B7082"/>
                </a:solidFill>
                <a:latin typeface="Helvetica Neue"/>
              </a:rPr>
              <a:t>7,769 views · 15 posts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731520" y="5332358"/>
            <a:ext cx="3200400" cy="29190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100" b="1">
                <a:solidFill>
                  <a:srgbClr val="141833"/>
                </a:solidFill>
                <a:latin typeface="Helvetica Neue"/>
              </a:rPr>
              <a:t>Legislation &amp; Policy Watch</a:t>
            </a:r>
          </a:p>
        </p:txBody>
      </p:sp>
      <p:sp>
        <p:nvSpPr>
          <p:cNvPr id="40" name="Rectangle 39"/>
          <p:cNvSpPr/>
          <p:nvPr/>
        </p:nvSpPr>
        <p:spPr>
          <a:xfrm>
            <a:off x="4114800" y="5396015"/>
            <a:ext cx="137378" cy="128016"/>
          </a:xfrm>
          <a:prstGeom prst="rect">
            <a:avLst/>
          </a:prstGeom>
          <a:solidFill>
            <a:srgbClr val="2F3C7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4343618" y="5332358"/>
            <a:ext cx="2286000" cy="29190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900" b="0">
                <a:solidFill>
                  <a:srgbClr val="6B7082"/>
                </a:solidFill>
                <a:latin typeface="Helvetica Neue"/>
              </a:rPr>
              <a:t>6,192 views · 13 posts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731520" y="5624263"/>
            <a:ext cx="3200400" cy="29190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100" b="1">
                <a:solidFill>
                  <a:srgbClr val="141833"/>
                </a:solidFill>
                <a:latin typeface="Helvetica Neue"/>
              </a:rPr>
              <a:t>Brand Growth Content</a:t>
            </a:r>
          </a:p>
        </p:txBody>
      </p:sp>
      <p:sp>
        <p:nvSpPr>
          <p:cNvPr id="43" name="Rectangle 42"/>
          <p:cNvSpPr/>
          <p:nvPr/>
        </p:nvSpPr>
        <p:spPr>
          <a:xfrm>
            <a:off x="4114800" y="5687919"/>
            <a:ext cx="45720" cy="128016"/>
          </a:xfrm>
          <a:prstGeom prst="rect">
            <a:avLst/>
          </a:prstGeom>
          <a:solidFill>
            <a:srgbClr val="E87E8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TextBox 43"/>
          <p:cNvSpPr txBox="1"/>
          <p:nvPr/>
        </p:nvSpPr>
        <p:spPr>
          <a:xfrm>
            <a:off x="4251959" y="5624263"/>
            <a:ext cx="2286000" cy="29190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900" b="0">
                <a:solidFill>
                  <a:srgbClr val="6B7082"/>
                </a:solidFill>
                <a:latin typeface="Helvetica Neue"/>
              </a:rPr>
              <a:t>1,111 views · 2 posts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731520" y="6263640"/>
            <a:ext cx="1069848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200" b="1">
                <a:solidFill>
                  <a:srgbClr val="141833"/>
                </a:solidFill>
                <a:latin typeface="Helvetica Neue"/>
              </a:rPr>
              <a:t>Top bucket is your engine. Bottom bucket is either an opportunity or a lane to retire.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418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411480" cy="6858000"/>
          </a:xfrm>
          <a:prstGeom prst="rect">
            <a:avLst/>
          </a:prstGeom>
          <a:solidFill>
            <a:srgbClr val="99001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914400" y="2377440"/>
            <a:ext cx="1005840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600" b="1">
                <a:solidFill>
                  <a:srgbClr val="990011"/>
                </a:solidFill>
                <a:latin typeface="Helvetica Neue"/>
              </a:rPr>
              <a:t>SECTION 1 OF 2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" y="2834640"/>
            <a:ext cx="10058400" cy="1371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6400" b="1">
                <a:solidFill>
                  <a:srgbClr val="FFFFFF"/>
                </a:solidFill>
                <a:latin typeface="Georgia"/>
              </a:rPr>
              <a:t>The engines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14400" y="4206240"/>
            <a:ext cx="10058400" cy="5486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800" b="0">
                <a:solidFill>
                  <a:srgbClr val="FCF6F5"/>
                </a:solidFill>
                <a:latin typeface="Helvetica Neue"/>
              </a:rPr>
              <a:t>8 categories driving the bulk of your reach. Each averages 800+ views per post — proven audience.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CF6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457200"/>
            <a:ext cx="1069848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200" b="1">
                <a:solidFill>
                  <a:srgbClr val="990011"/>
                </a:solidFill>
                <a:latin typeface="Helvetica Neue"/>
              </a:rPr>
              <a:t>CATEGORY DEEP-DIVE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822960"/>
            <a:ext cx="10698480" cy="8229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3000" b="1">
                <a:solidFill>
                  <a:srgbClr val="2F3C7E"/>
                </a:solidFill>
                <a:latin typeface="Georgia"/>
              </a:rPr>
              <a:t>Food &amp; Local Flavor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1600200"/>
            <a:ext cx="1069848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200" b="0">
                <a:solidFill>
                  <a:srgbClr val="6B7082"/>
                </a:solidFill>
                <a:latin typeface="Helvetica Neue"/>
              </a:rPr>
              <a:t>Restaurants, chefs, dining — the everyday Downey. Pop's Wings, Porto's, Gyu, etc.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1691640"/>
            <a:ext cx="106984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900" b="1">
                <a:solidFill>
                  <a:srgbClr val="1B7A43"/>
                </a:solidFill>
                <a:latin typeface="Helvetica Neue"/>
              </a:rPr>
              <a:t>AUDIENCE (theoretical): Everyday appeal · Broad, skews Young (18-40) foodie</a:t>
            </a:r>
          </a:p>
        </p:txBody>
      </p:sp>
      <p:sp>
        <p:nvSpPr>
          <p:cNvPr id="7" name="Rectangle 6"/>
          <p:cNvSpPr/>
          <p:nvPr/>
        </p:nvSpPr>
        <p:spPr>
          <a:xfrm>
            <a:off x="731520" y="2194560"/>
            <a:ext cx="5029200" cy="32004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731520" y="2194560"/>
            <a:ext cx="91440" cy="3200400"/>
          </a:xfrm>
          <a:prstGeom prst="rect">
            <a:avLst/>
          </a:prstGeom>
          <a:solidFill>
            <a:srgbClr val="1B7A4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960120" y="2377440"/>
            <a:ext cx="457200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100" b="1">
                <a:solidFill>
                  <a:srgbClr val="1B7A43"/>
                </a:solidFill>
                <a:latin typeface="Helvetica Neue"/>
              </a:rPr>
              <a:t>TOTAL VIEWS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60120" y="2697480"/>
            <a:ext cx="4572000" cy="10972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5400" b="1">
                <a:solidFill>
                  <a:srgbClr val="2F3C7E"/>
                </a:solidFill>
                <a:latin typeface="Georgia"/>
              </a:rPr>
              <a:t>99,197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60120" y="3840480"/>
            <a:ext cx="457200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300" b="1">
                <a:solidFill>
                  <a:srgbClr val="141833"/>
                </a:solidFill>
                <a:latin typeface="Helvetica Neue"/>
              </a:rPr>
              <a:t>63 posts · 3,182 likes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60120" y="4206240"/>
            <a:ext cx="457200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300" b="0">
                <a:solidFill>
                  <a:srgbClr val="6B7082"/>
                </a:solidFill>
                <a:latin typeface="Helvetica Neue"/>
              </a:rPr>
              <a:t>1,575 average views per post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126480" y="2194560"/>
            <a:ext cx="54864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100" b="1">
                <a:solidFill>
                  <a:srgbClr val="1B7A43"/>
                </a:solidFill>
                <a:latin typeface="Helvetica Neue"/>
              </a:rPr>
              <a:t>TOP 3 IN THIS CATEGORY</a:t>
            </a:r>
          </a:p>
        </p:txBody>
      </p:sp>
      <p:sp>
        <p:nvSpPr>
          <p:cNvPr id="14" name="Rectangle 13"/>
          <p:cNvSpPr/>
          <p:nvPr/>
        </p:nvSpPr>
        <p:spPr>
          <a:xfrm>
            <a:off x="6126480" y="2560320"/>
            <a:ext cx="5303520" cy="82296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6126480" y="2560320"/>
            <a:ext cx="54864" cy="822960"/>
          </a:xfrm>
          <a:prstGeom prst="rect">
            <a:avLst/>
          </a:prstGeom>
          <a:solidFill>
            <a:srgbClr val="1B7A4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309360" y="2651760"/>
            <a:ext cx="502920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000" b="1">
                <a:solidFill>
                  <a:srgbClr val="1B7A43"/>
                </a:solidFill>
                <a:latin typeface="Helvetica Neue"/>
              </a:rPr>
              <a:t>#1  ·  TT  ·  13,600 views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309360" y="2944368"/>
            <a:ext cx="5029200" cy="4114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000" b="0">
                <a:solidFill>
                  <a:srgbClr val="141833"/>
                </a:solidFill>
                <a:latin typeface="Helvetica Neue"/>
              </a:rPr>
              <a:t>Mama Lu's is coming to Downey! Asian community favorite, famous for their tenderloin. Get </a:t>
            </a:r>
          </a:p>
        </p:txBody>
      </p:sp>
      <p:sp>
        <p:nvSpPr>
          <p:cNvPr id="18" name="Rectangle 17"/>
          <p:cNvSpPr/>
          <p:nvPr/>
        </p:nvSpPr>
        <p:spPr>
          <a:xfrm>
            <a:off x="6126480" y="3474720"/>
            <a:ext cx="5303520" cy="82296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6126480" y="3474720"/>
            <a:ext cx="54864" cy="822960"/>
          </a:xfrm>
          <a:prstGeom prst="rect">
            <a:avLst/>
          </a:prstGeom>
          <a:solidFill>
            <a:srgbClr val="1B7A4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6309360" y="3566160"/>
            <a:ext cx="502920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000" b="1">
                <a:solidFill>
                  <a:srgbClr val="1B7A43"/>
                </a:solidFill>
                <a:latin typeface="Helvetica Neue"/>
              </a:rPr>
              <a:t>#2  ·  TT  ·  8,352 views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309360" y="3858768"/>
            <a:ext cx="5029200" cy="4114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000" b="0">
                <a:solidFill>
                  <a:srgbClr val="141833"/>
                </a:solidFill>
                <a:latin typeface="Helvetica Neue"/>
              </a:rPr>
              <a:t>Pop's Wings just opened and it's a must-try! Their pastrami sandwich with sweet potato fri</a:t>
            </a:r>
          </a:p>
        </p:txBody>
      </p:sp>
      <p:sp>
        <p:nvSpPr>
          <p:cNvPr id="22" name="Rectangle 21"/>
          <p:cNvSpPr/>
          <p:nvPr/>
        </p:nvSpPr>
        <p:spPr>
          <a:xfrm>
            <a:off x="6126480" y="4389120"/>
            <a:ext cx="5303520" cy="82296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6126480" y="4389120"/>
            <a:ext cx="54864" cy="822960"/>
          </a:xfrm>
          <a:prstGeom prst="rect">
            <a:avLst/>
          </a:prstGeom>
          <a:solidFill>
            <a:srgbClr val="1B7A4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6309360" y="4480559"/>
            <a:ext cx="502920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000" b="1">
                <a:solidFill>
                  <a:srgbClr val="1B7A43"/>
                </a:solidFill>
                <a:latin typeface="Helvetica Neue"/>
              </a:rPr>
              <a:t>#3  ·  FB  ·  4,999 views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309360" y="4773168"/>
            <a:ext cx="5029200" cy="4114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000" b="0">
                <a:solidFill>
                  <a:srgbClr val="141833"/>
                </a:solidFill>
                <a:latin typeface="Helvetica Neue"/>
              </a:rPr>
              <a:t>Discover My Home, a beloved Chinese restaurant in Downey. Their Mongolian beef, dumplings,</a:t>
            </a:r>
          </a:p>
        </p:txBody>
      </p:sp>
      <p:sp>
        <p:nvSpPr>
          <p:cNvPr id="26" name="Rectangle 25"/>
          <p:cNvSpPr/>
          <p:nvPr/>
        </p:nvSpPr>
        <p:spPr>
          <a:xfrm>
            <a:off x="731520" y="5623560"/>
            <a:ext cx="10698480" cy="731520"/>
          </a:xfrm>
          <a:prstGeom prst="rect">
            <a:avLst/>
          </a:prstGeom>
          <a:solidFill>
            <a:srgbClr val="1418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914400" y="5715000"/>
            <a:ext cx="27432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000" b="1">
                <a:solidFill>
                  <a:srgbClr val="1B7A43"/>
                </a:solidFill>
                <a:latin typeface="Helvetica Neue"/>
              </a:rPr>
              <a:t>RECOMMENDATION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914400" y="5943600"/>
            <a:ext cx="1051560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300" b="1">
                <a:solidFill>
                  <a:srgbClr val="FCF6F5"/>
                </a:solidFill>
                <a:latin typeface="Helvetica Neue"/>
              </a:rPr>
              <a:t>Solid mid-tier. Worth continued investment. Test scaling to see if it holds.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CF6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457200"/>
            <a:ext cx="1069848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200" b="1">
                <a:solidFill>
                  <a:srgbClr val="990011"/>
                </a:solidFill>
                <a:latin typeface="Helvetica Neue"/>
              </a:rPr>
              <a:t>CATEGORY DEEP-DIVE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822960"/>
            <a:ext cx="10698480" cy="8229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3000" b="1">
                <a:solidFill>
                  <a:srgbClr val="2F3C7E"/>
                </a:solidFill>
                <a:latin typeface="Georgia"/>
              </a:rPr>
              <a:t>Military Service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1600200"/>
            <a:ext cx="1069848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200" b="0">
                <a:solidFill>
                  <a:srgbClr val="6B7082"/>
                </a:solidFill>
                <a:latin typeface="Helvetica Neue"/>
              </a:rPr>
              <a:t>Army/JROTC/veteran interviews — the human side of military service (NOT policy — that's Legislation Watch).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1691640"/>
            <a:ext cx="106984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900" b="1">
                <a:solidFill>
                  <a:srgbClr val="C9A227"/>
                </a:solidFill>
                <a:latin typeface="Helvetica Neue"/>
              </a:rPr>
              <a:t>AUDIENCE (theoretical): Traditional / patriotic · Middle (40-55) + Older (55+), veterans + families</a:t>
            </a:r>
          </a:p>
        </p:txBody>
      </p:sp>
      <p:sp>
        <p:nvSpPr>
          <p:cNvPr id="7" name="Rectangle 6"/>
          <p:cNvSpPr/>
          <p:nvPr/>
        </p:nvSpPr>
        <p:spPr>
          <a:xfrm>
            <a:off x="731520" y="2194560"/>
            <a:ext cx="5029200" cy="32004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731520" y="2194560"/>
            <a:ext cx="91440" cy="3200400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960120" y="2377440"/>
            <a:ext cx="457200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100" b="1">
                <a:solidFill>
                  <a:srgbClr val="C9A227"/>
                </a:solidFill>
                <a:latin typeface="Helvetica Neue"/>
              </a:rPr>
              <a:t>TOTAL VIEWS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60120" y="2697480"/>
            <a:ext cx="4572000" cy="10972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5400" b="1">
                <a:solidFill>
                  <a:srgbClr val="2F3C7E"/>
                </a:solidFill>
                <a:latin typeface="Georgia"/>
              </a:rPr>
              <a:t>92,638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60120" y="3840480"/>
            <a:ext cx="457200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300" b="1">
                <a:solidFill>
                  <a:srgbClr val="141833"/>
                </a:solidFill>
                <a:latin typeface="Helvetica Neue"/>
              </a:rPr>
              <a:t>34 posts · 4,210 likes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60120" y="4206240"/>
            <a:ext cx="457200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300" b="0">
                <a:solidFill>
                  <a:srgbClr val="6B7082"/>
                </a:solidFill>
                <a:latin typeface="Helvetica Neue"/>
              </a:rPr>
              <a:t>2,725 average views per post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126480" y="2194560"/>
            <a:ext cx="54864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100" b="1">
                <a:solidFill>
                  <a:srgbClr val="C9A227"/>
                </a:solidFill>
                <a:latin typeface="Helvetica Neue"/>
              </a:rPr>
              <a:t>TOP 3 IN THIS CATEGORY</a:t>
            </a:r>
          </a:p>
        </p:txBody>
      </p:sp>
      <p:sp>
        <p:nvSpPr>
          <p:cNvPr id="14" name="Rectangle 13"/>
          <p:cNvSpPr/>
          <p:nvPr/>
        </p:nvSpPr>
        <p:spPr>
          <a:xfrm>
            <a:off x="6126480" y="2560320"/>
            <a:ext cx="5303520" cy="82296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6126480" y="2560320"/>
            <a:ext cx="54864" cy="822960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309360" y="2651760"/>
            <a:ext cx="502920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000" b="1">
                <a:solidFill>
                  <a:srgbClr val="C9A227"/>
                </a:solidFill>
                <a:latin typeface="Helvetica Neue"/>
              </a:rPr>
              <a:t>#1  ·  TT  ·  37,900 views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309360" y="2944368"/>
            <a:ext cx="5029200" cy="4114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000" b="0">
                <a:solidFill>
                  <a:srgbClr val="141833"/>
                </a:solidFill>
                <a:latin typeface="Helvetica Neue"/>
              </a:rPr>
              <a:t>Combat jobs aren't for everyone. See how your MOS determines deployment likelihood and wha</a:t>
            </a:r>
          </a:p>
        </p:txBody>
      </p:sp>
      <p:sp>
        <p:nvSpPr>
          <p:cNvPr id="18" name="Rectangle 17"/>
          <p:cNvSpPr/>
          <p:nvPr/>
        </p:nvSpPr>
        <p:spPr>
          <a:xfrm>
            <a:off x="6126480" y="3474720"/>
            <a:ext cx="5303520" cy="82296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6126480" y="3474720"/>
            <a:ext cx="54864" cy="822960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6309360" y="3566160"/>
            <a:ext cx="502920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000" b="1">
                <a:solidFill>
                  <a:srgbClr val="C9A227"/>
                </a:solidFill>
                <a:latin typeface="Helvetica Neue"/>
              </a:rPr>
              <a:t>#2  ·  TT  ·  21,500 views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309360" y="3858768"/>
            <a:ext cx="5029200" cy="4114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000" b="0">
                <a:solidFill>
                  <a:srgbClr val="141833"/>
                </a:solidFill>
                <a:latin typeface="Helvetica Neue"/>
              </a:rPr>
              <a:t>From Las Vegas to Battalion Commander: A journey fueled by college dreams and military opp</a:t>
            </a:r>
          </a:p>
        </p:txBody>
      </p:sp>
      <p:sp>
        <p:nvSpPr>
          <p:cNvPr id="22" name="Rectangle 21"/>
          <p:cNvSpPr/>
          <p:nvPr/>
        </p:nvSpPr>
        <p:spPr>
          <a:xfrm>
            <a:off x="6126480" y="4389120"/>
            <a:ext cx="5303520" cy="82296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6126480" y="4389120"/>
            <a:ext cx="54864" cy="822960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6309360" y="4480559"/>
            <a:ext cx="502920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000" b="1">
                <a:solidFill>
                  <a:srgbClr val="C9A227"/>
                </a:solidFill>
                <a:latin typeface="Helvetica Neue"/>
              </a:rPr>
              <a:t>#3  ·  IG  ·  5,139 views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309360" y="4773168"/>
            <a:ext cx="5029200" cy="4114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000" b="0">
                <a:solidFill>
                  <a:srgbClr val="141833"/>
                </a:solidFill>
                <a:latin typeface="Helvetica Neue"/>
              </a:rPr>
              <a:t>Not everyone deployed sees combat, even with 20 years in. Your MOS matters. Logistics migh</a:t>
            </a:r>
          </a:p>
        </p:txBody>
      </p:sp>
      <p:sp>
        <p:nvSpPr>
          <p:cNvPr id="26" name="Rectangle 25"/>
          <p:cNvSpPr/>
          <p:nvPr/>
        </p:nvSpPr>
        <p:spPr>
          <a:xfrm>
            <a:off x="731520" y="5623560"/>
            <a:ext cx="10698480" cy="731520"/>
          </a:xfrm>
          <a:prstGeom prst="rect">
            <a:avLst/>
          </a:prstGeom>
          <a:solidFill>
            <a:srgbClr val="1418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914400" y="5715000"/>
            <a:ext cx="27432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000" b="1">
                <a:solidFill>
                  <a:srgbClr val="C9A227"/>
                </a:solidFill>
                <a:latin typeface="Helvetica Neue"/>
              </a:rPr>
              <a:t>RECOMMENDATION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914400" y="5943600"/>
            <a:ext cx="1051560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300" b="1">
                <a:solidFill>
                  <a:srgbClr val="FCF6F5"/>
                </a:solidFill>
                <a:latin typeface="Helvetica Neue"/>
              </a:rPr>
              <a:t>Solid mid-tier. Worth continued investment. Test scaling to see if it holds.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CF6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457200"/>
            <a:ext cx="1069848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200" b="1">
                <a:solidFill>
                  <a:srgbClr val="990011"/>
                </a:solidFill>
                <a:latin typeface="Helvetica Neue"/>
              </a:rPr>
              <a:t>CATEGORY DEEP-DIVE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822960"/>
            <a:ext cx="10698480" cy="8229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3000" b="1">
                <a:solidFill>
                  <a:srgbClr val="2F3C7E"/>
                </a:solidFill>
                <a:latin typeface="Georgia"/>
              </a:rPr>
              <a:t>Truth &amp; Scandal Reporting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1600200"/>
            <a:ext cx="1069848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200" b="0">
                <a:solidFill>
                  <a:srgbClr val="6B7082"/>
                </a:solidFill>
                <a:latin typeface="Helvetica Neue"/>
              </a:rPr>
              <a:t>Investigative — the heat that drives peak reach.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1691640"/>
            <a:ext cx="106984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900" b="1">
                <a:solidFill>
                  <a:srgbClr val="990011"/>
                </a:solidFill>
                <a:latin typeface="Helvetica Neue"/>
              </a:rPr>
              <a:t>AUDIENCE (theoretical): Cut-throat drama · punches hardest Young (18-40), broad appeal</a:t>
            </a:r>
          </a:p>
        </p:txBody>
      </p:sp>
      <p:sp>
        <p:nvSpPr>
          <p:cNvPr id="7" name="Rectangle 6"/>
          <p:cNvSpPr/>
          <p:nvPr/>
        </p:nvSpPr>
        <p:spPr>
          <a:xfrm>
            <a:off x="731520" y="2194560"/>
            <a:ext cx="5029200" cy="32004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731520" y="2194560"/>
            <a:ext cx="91440" cy="3200400"/>
          </a:xfrm>
          <a:prstGeom prst="rect">
            <a:avLst/>
          </a:prstGeom>
          <a:solidFill>
            <a:srgbClr val="99001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960120" y="2377440"/>
            <a:ext cx="457200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100" b="1">
                <a:solidFill>
                  <a:srgbClr val="990011"/>
                </a:solidFill>
                <a:latin typeface="Helvetica Neue"/>
              </a:rPr>
              <a:t>TOTAL VIEWS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60120" y="2697480"/>
            <a:ext cx="4572000" cy="10972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5400" b="1">
                <a:solidFill>
                  <a:srgbClr val="2F3C7E"/>
                </a:solidFill>
                <a:latin typeface="Georgia"/>
              </a:rPr>
              <a:t>88,312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60120" y="3840480"/>
            <a:ext cx="457200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300" b="1">
                <a:solidFill>
                  <a:srgbClr val="141833"/>
                </a:solidFill>
                <a:latin typeface="Helvetica Neue"/>
              </a:rPr>
              <a:t>35 posts · 2,002 likes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60120" y="4206240"/>
            <a:ext cx="457200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300" b="0">
                <a:solidFill>
                  <a:srgbClr val="6B7082"/>
                </a:solidFill>
                <a:latin typeface="Helvetica Neue"/>
              </a:rPr>
              <a:t>2,523 average views per post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126480" y="2194560"/>
            <a:ext cx="54864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100" b="1">
                <a:solidFill>
                  <a:srgbClr val="990011"/>
                </a:solidFill>
                <a:latin typeface="Helvetica Neue"/>
              </a:rPr>
              <a:t>TOP 3 IN THIS CATEGORY</a:t>
            </a:r>
          </a:p>
        </p:txBody>
      </p:sp>
      <p:sp>
        <p:nvSpPr>
          <p:cNvPr id="14" name="Rectangle 13"/>
          <p:cNvSpPr/>
          <p:nvPr/>
        </p:nvSpPr>
        <p:spPr>
          <a:xfrm>
            <a:off x="6126480" y="2560320"/>
            <a:ext cx="5303520" cy="82296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6126480" y="2560320"/>
            <a:ext cx="54864" cy="822960"/>
          </a:xfrm>
          <a:prstGeom prst="rect">
            <a:avLst/>
          </a:prstGeom>
          <a:solidFill>
            <a:srgbClr val="99001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309360" y="2651760"/>
            <a:ext cx="502920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000" b="1">
                <a:solidFill>
                  <a:srgbClr val="990011"/>
                </a:solidFill>
                <a:latin typeface="Helvetica Neue"/>
              </a:rPr>
              <a:t>#1  ·  TT  ·  9,839 views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309360" y="2944368"/>
            <a:ext cx="5029200" cy="4114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000" b="0">
                <a:solidFill>
                  <a:srgbClr val="141833"/>
                </a:solidFill>
                <a:latin typeface="Helvetica Neue"/>
              </a:rPr>
              <a:t>Grew up in Huntington Park and still own property there. The city's o...</a:t>
            </a:r>
          </a:p>
        </p:txBody>
      </p:sp>
      <p:sp>
        <p:nvSpPr>
          <p:cNvPr id="18" name="Rectangle 17"/>
          <p:cNvSpPr/>
          <p:nvPr/>
        </p:nvSpPr>
        <p:spPr>
          <a:xfrm>
            <a:off x="6126480" y="3474720"/>
            <a:ext cx="5303520" cy="82296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6126480" y="3474720"/>
            <a:ext cx="54864" cy="822960"/>
          </a:xfrm>
          <a:prstGeom prst="rect">
            <a:avLst/>
          </a:prstGeom>
          <a:solidFill>
            <a:srgbClr val="99001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6309360" y="3566160"/>
            <a:ext cx="502920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000" b="1">
                <a:solidFill>
                  <a:srgbClr val="990011"/>
                </a:solidFill>
                <a:latin typeface="Helvetica Neue"/>
              </a:rPr>
              <a:t>#2  ·  IG  ·  7,762 views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309360" y="3858768"/>
            <a:ext cx="5029200" cy="4114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000" b="0">
                <a:solidFill>
                  <a:srgbClr val="141833"/>
                </a:solidFill>
                <a:latin typeface="Helvetica Neue"/>
              </a:rPr>
              <a:t>Chaos erupted! Lissette Rivera refused to calm down, escalating until she was escorted out</a:t>
            </a:r>
          </a:p>
        </p:txBody>
      </p:sp>
      <p:sp>
        <p:nvSpPr>
          <p:cNvPr id="22" name="Rectangle 21"/>
          <p:cNvSpPr/>
          <p:nvPr/>
        </p:nvSpPr>
        <p:spPr>
          <a:xfrm>
            <a:off x="6126480" y="4389120"/>
            <a:ext cx="5303520" cy="82296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6126480" y="4389120"/>
            <a:ext cx="54864" cy="822960"/>
          </a:xfrm>
          <a:prstGeom prst="rect">
            <a:avLst/>
          </a:prstGeom>
          <a:solidFill>
            <a:srgbClr val="99001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6309360" y="4480559"/>
            <a:ext cx="502920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000" b="1">
                <a:solidFill>
                  <a:srgbClr val="990011"/>
                </a:solidFill>
                <a:latin typeface="Helvetica Neue"/>
              </a:rPr>
              <a:t>#3  ·  IG  ·  7,031 views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309360" y="4773168"/>
            <a:ext cx="5029200" cy="4114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000" b="0">
                <a:solidFill>
                  <a:srgbClr val="141833"/>
                </a:solidFill>
                <a:latin typeface="Helvetica Neue"/>
              </a:rPr>
              <a:t>A woman's outburst at a city council meeting, repeatedly warned by the mayor, led to her f</a:t>
            </a:r>
          </a:p>
        </p:txBody>
      </p:sp>
      <p:sp>
        <p:nvSpPr>
          <p:cNvPr id="26" name="Rectangle 25"/>
          <p:cNvSpPr/>
          <p:nvPr/>
        </p:nvSpPr>
        <p:spPr>
          <a:xfrm>
            <a:off x="731520" y="5623560"/>
            <a:ext cx="10698480" cy="731520"/>
          </a:xfrm>
          <a:prstGeom prst="rect">
            <a:avLst/>
          </a:prstGeom>
          <a:solidFill>
            <a:srgbClr val="1418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914400" y="5715000"/>
            <a:ext cx="27432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000" b="1">
                <a:solidFill>
                  <a:srgbClr val="990011"/>
                </a:solidFill>
                <a:latin typeface="Helvetica Neue"/>
              </a:rPr>
              <a:t>RECOMMENDATION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914400" y="5943600"/>
            <a:ext cx="1051560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300" b="1">
                <a:solidFill>
                  <a:srgbClr val="FCF6F5"/>
                </a:solidFill>
                <a:latin typeface="Helvetica Neue"/>
              </a:rPr>
              <a:t>Solid mid-tier. Worth continued investment. Test scaling to see if it holds.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CF6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457200"/>
            <a:ext cx="1069848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200" b="1">
                <a:solidFill>
                  <a:srgbClr val="990011"/>
                </a:solidFill>
                <a:latin typeface="Helvetica Neue"/>
              </a:rPr>
              <a:t>CATEGORY DEEP-DIVE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822960"/>
            <a:ext cx="10698480" cy="8229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3000" b="1">
                <a:solidFill>
                  <a:srgbClr val="2F3C7E"/>
                </a:solidFill>
                <a:latin typeface="Georgia"/>
              </a:rPr>
              <a:t>FIFA / World Cup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1600200"/>
            <a:ext cx="1069848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200" b="0">
                <a:solidFill>
                  <a:srgbClr val="6B7082"/>
                </a:solidFill>
                <a:latin typeface="Helvetica Neue"/>
              </a:rPr>
              <a:t>Sports commentary — split between celebration and critique.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1691640"/>
            <a:ext cx="106984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900" b="1">
                <a:solidFill>
                  <a:srgbClr val="6B7082"/>
                </a:solidFill>
                <a:latin typeface="Helvetica Neue"/>
              </a:rPr>
              <a:t>AUDIENCE (theoretical): Sports commentary · Young-Middle (25-45), sports fans</a:t>
            </a:r>
          </a:p>
        </p:txBody>
      </p:sp>
      <p:sp>
        <p:nvSpPr>
          <p:cNvPr id="7" name="Rectangle 6"/>
          <p:cNvSpPr/>
          <p:nvPr/>
        </p:nvSpPr>
        <p:spPr>
          <a:xfrm>
            <a:off x="731520" y="2194560"/>
            <a:ext cx="5029200" cy="32004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731520" y="2194560"/>
            <a:ext cx="91440" cy="3200400"/>
          </a:xfrm>
          <a:prstGeom prst="rect">
            <a:avLst/>
          </a:prstGeom>
          <a:solidFill>
            <a:srgbClr val="6B708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960120" y="2377440"/>
            <a:ext cx="457200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100" b="1">
                <a:solidFill>
                  <a:srgbClr val="6B7082"/>
                </a:solidFill>
                <a:latin typeface="Helvetica Neue"/>
              </a:rPr>
              <a:t>TOTAL VIEWS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60120" y="2697480"/>
            <a:ext cx="4572000" cy="10972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5400" b="1">
                <a:solidFill>
                  <a:srgbClr val="2F3C7E"/>
                </a:solidFill>
                <a:latin typeface="Georgia"/>
              </a:rPr>
              <a:t>63,776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60120" y="3840480"/>
            <a:ext cx="457200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300" b="1">
                <a:solidFill>
                  <a:srgbClr val="141833"/>
                </a:solidFill>
                <a:latin typeface="Helvetica Neue"/>
              </a:rPr>
              <a:t>25 posts · 1,480 likes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60120" y="4206240"/>
            <a:ext cx="457200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300" b="0">
                <a:solidFill>
                  <a:srgbClr val="6B7082"/>
                </a:solidFill>
                <a:latin typeface="Helvetica Neue"/>
              </a:rPr>
              <a:t>2,551 average views per post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126480" y="2194560"/>
            <a:ext cx="54864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100" b="1">
                <a:solidFill>
                  <a:srgbClr val="6B7082"/>
                </a:solidFill>
                <a:latin typeface="Helvetica Neue"/>
              </a:rPr>
              <a:t>TOP 3 IN THIS CATEGORY</a:t>
            </a:r>
          </a:p>
        </p:txBody>
      </p:sp>
      <p:sp>
        <p:nvSpPr>
          <p:cNvPr id="14" name="Rectangle 13"/>
          <p:cNvSpPr/>
          <p:nvPr/>
        </p:nvSpPr>
        <p:spPr>
          <a:xfrm>
            <a:off x="6126480" y="2560320"/>
            <a:ext cx="5303520" cy="82296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6126480" y="2560320"/>
            <a:ext cx="54864" cy="822960"/>
          </a:xfrm>
          <a:prstGeom prst="rect">
            <a:avLst/>
          </a:prstGeom>
          <a:solidFill>
            <a:srgbClr val="6B708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309360" y="2651760"/>
            <a:ext cx="502920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000" b="1">
                <a:solidFill>
                  <a:srgbClr val="6B7082"/>
                </a:solidFill>
                <a:latin typeface="Helvetica Neue"/>
              </a:rPr>
              <a:t>#1  ·  TT  ·  27,400 views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309360" y="2944368"/>
            <a:ext cx="5029200" cy="4114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000" b="0">
                <a:solidFill>
                  <a:srgbClr val="141833"/>
                </a:solidFill>
                <a:latin typeface="Helvetica Neue"/>
              </a:rPr>
              <a:t>Watch party in Stonewood Mall! Over 25,000 people showed up for this epic event. Cost $300</a:t>
            </a:r>
          </a:p>
        </p:txBody>
      </p:sp>
      <p:sp>
        <p:nvSpPr>
          <p:cNvPr id="18" name="Rectangle 17"/>
          <p:cNvSpPr/>
          <p:nvPr/>
        </p:nvSpPr>
        <p:spPr>
          <a:xfrm>
            <a:off x="6126480" y="3474720"/>
            <a:ext cx="5303520" cy="82296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6126480" y="3474720"/>
            <a:ext cx="54864" cy="822960"/>
          </a:xfrm>
          <a:prstGeom prst="rect">
            <a:avLst/>
          </a:prstGeom>
          <a:solidFill>
            <a:srgbClr val="6B708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6309360" y="3566160"/>
            <a:ext cx="502920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000" b="1">
                <a:solidFill>
                  <a:srgbClr val="6B7082"/>
                </a:solidFill>
                <a:latin typeface="Helvetica Neue"/>
              </a:rPr>
              <a:t>#2  ·  IG  ·  7,180 views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309360" y="3858768"/>
            <a:ext cx="5029200" cy="4114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000" b="0">
                <a:solidFill>
                  <a:srgbClr val="141833"/>
                </a:solidFill>
                <a:latin typeface="Helvetica Neue"/>
              </a:rPr>
              <a:t>25,000+ people gathered for a watch party at Stonewood Mall! Despite the $300k cost, it wa</a:t>
            </a:r>
          </a:p>
        </p:txBody>
      </p:sp>
      <p:sp>
        <p:nvSpPr>
          <p:cNvPr id="22" name="Rectangle 21"/>
          <p:cNvSpPr/>
          <p:nvPr/>
        </p:nvSpPr>
        <p:spPr>
          <a:xfrm>
            <a:off x="6126480" y="4389120"/>
            <a:ext cx="5303520" cy="82296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6126480" y="4389120"/>
            <a:ext cx="54864" cy="822960"/>
          </a:xfrm>
          <a:prstGeom prst="rect">
            <a:avLst/>
          </a:prstGeom>
          <a:solidFill>
            <a:srgbClr val="6B708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6309360" y="4480559"/>
            <a:ext cx="502920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000" b="1">
                <a:solidFill>
                  <a:srgbClr val="6B7082"/>
                </a:solidFill>
                <a:latin typeface="Helvetica Neue"/>
              </a:rPr>
              <a:t>#3  ·  FB  ·  6,355 views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309360" y="4773168"/>
            <a:ext cx="5029200" cy="4114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000" b="0">
                <a:solidFill>
                  <a:srgbClr val="141833"/>
                </a:solidFill>
                <a:latin typeface="Helvetica Neue"/>
              </a:rPr>
              <a:t>Over 25,000 people gathered at Stonewood Mall for a massive watch party. Despite the $300,</a:t>
            </a:r>
          </a:p>
        </p:txBody>
      </p:sp>
      <p:sp>
        <p:nvSpPr>
          <p:cNvPr id="26" name="Rectangle 25"/>
          <p:cNvSpPr/>
          <p:nvPr/>
        </p:nvSpPr>
        <p:spPr>
          <a:xfrm>
            <a:off x="731520" y="5623560"/>
            <a:ext cx="10698480" cy="731520"/>
          </a:xfrm>
          <a:prstGeom prst="rect">
            <a:avLst/>
          </a:prstGeom>
          <a:solidFill>
            <a:srgbClr val="1418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914400" y="5715000"/>
            <a:ext cx="27432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000" b="1">
                <a:solidFill>
                  <a:srgbClr val="6B7082"/>
                </a:solidFill>
                <a:latin typeface="Helvetica Neue"/>
              </a:rPr>
              <a:t>RECOMMENDATION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914400" y="5943600"/>
            <a:ext cx="1051560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300" b="1">
                <a:solidFill>
                  <a:srgbClr val="FCF6F5"/>
                </a:solidFill>
                <a:latin typeface="Helvetica Neue"/>
              </a:rPr>
              <a:t>Solid mid-tier. Worth continued investment. Test scaling to see if it holds.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CF6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457200"/>
            <a:ext cx="1069848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200" b="1">
                <a:solidFill>
                  <a:srgbClr val="990011"/>
                </a:solidFill>
                <a:latin typeface="Helvetica Neue"/>
              </a:rPr>
              <a:t>CATEGORY DEEP-DIVE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822960"/>
            <a:ext cx="10698480" cy="8229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3000" b="1">
                <a:solidFill>
                  <a:srgbClr val="2F3C7E"/>
                </a:solidFill>
                <a:latin typeface="Georgia"/>
              </a:rPr>
              <a:t>Community &amp; Culture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1600200"/>
            <a:ext cx="1069848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200" b="0">
                <a:solidFill>
                  <a:srgbClr val="6B7082"/>
                </a:solidFill>
                <a:latin typeface="Helvetica Neue"/>
              </a:rPr>
              <a:t>Local color, events, pageantry, personal growth, city life.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1691640"/>
            <a:ext cx="106984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900" b="1">
                <a:solidFill>
                  <a:srgbClr val="141833"/>
                </a:solidFill>
                <a:latin typeface="Helvetica Neue"/>
              </a:rPr>
              <a:t>AUDIENCE (theoretical): Local color · Broad, 30+</a:t>
            </a:r>
          </a:p>
        </p:txBody>
      </p:sp>
      <p:sp>
        <p:nvSpPr>
          <p:cNvPr id="7" name="Rectangle 6"/>
          <p:cNvSpPr/>
          <p:nvPr/>
        </p:nvSpPr>
        <p:spPr>
          <a:xfrm>
            <a:off x="731520" y="2194560"/>
            <a:ext cx="5029200" cy="32004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731520" y="2194560"/>
            <a:ext cx="91440" cy="3200400"/>
          </a:xfrm>
          <a:prstGeom prst="rect">
            <a:avLst/>
          </a:prstGeom>
          <a:solidFill>
            <a:srgbClr val="1418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960120" y="2377440"/>
            <a:ext cx="457200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100" b="1">
                <a:solidFill>
                  <a:srgbClr val="141833"/>
                </a:solidFill>
                <a:latin typeface="Helvetica Neue"/>
              </a:rPr>
              <a:t>TOTAL VIEWS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60120" y="2697480"/>
            <a:ext cx="4572000" cy="10972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5400" b="1">
                <a:solidFill>
                  <a:srgbClr val="2F3C7E"/>
                </a:solidFill>
                <a:latin typeface="Georgia"/>
              </a:rPr>
              <a:t>57,543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60120" y="3840480"/>
            <a:ext cx="457200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300" b="1">
                <a:solidFill>
                  <a:srgbClr val="141833"/>
                </a:solidFill>
                <a:latin typeface="Helvetica Neue"/>
              </a:rPr>
              <a:t>62 posts · 1,164 likes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60120" y="4206240"/>
            <a:ext cx="457200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300" b="0">
                <a:solidFill>
                  <a:srgbClr val="6B7082"/>
                </a:solidFill>
                <a:latin typeface="Helvetica Neue"/>
              </a:rPr>
              <a:t>928 average views per post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126480" y="2194560"/>
            <a:ext cx="54864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100" b="1">
                <a:solidFill>
                  <a:srgbClr val="141833"/>
                </a:solidFill>
                <a:latin typeface="Helvetica Neue"/>
              </a:rPr>
              <a:t>TOP 3 IN THIS CATEGORY</a:t>
            </a:r>
          </a:p>
        </p:txBody>
      </p:sp>
      <p:sp>
        <p:nvSpPr>
          <p:cNvPr id="14" name="Rectangle 13"/>
          <p:cNvSpPr/>
          <p:nvPr/>
        </p:nvSpPr>
        <p:spPr>
          <a:xfrm>
            <a:off x="6126480" y="2560320"/>
            <a:ext cx="5303520" cy="82296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6126480" y="2560320"/>
            <a:ext cx="54864" cy="822960"/>
          </a:xfrm>
          <a:prstGeom prst="rect">
            <a:avLst/>
          </a:prstGeom>
          <a:solidFill>
            <a:srgbClr val="1418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309360" y="2651760"/>
            <a:ext cx="502920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000" b="1">
                <a:solidFill>
                  <a:srgbClr val="141833"/>
                </a:solidFill>
                <a:latin typeface="Helvetica Neue"/>
              </a:rPr>
              <a:t>#1  ·  FB  ·  4,676 views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309360" y="2944368"/>
            <a:ext cx="5029200" cy="4114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000" b="0">
                <a:solidFill>
                  <a:srgbClr val="141833"/>
                </a:solidFill>
                <a:latin typeface="Helvetica Neue"/>
              </a:rPr>
              <a:t>An emotional response to a Charlie Kirk &amp; LGBQT comment raises questions about a leader's </a:t>
            </a:r>
          </a:p>
        </p:txBody>
      </p:sp>
      <p:sp>
        <p:nvSpPr>
          <p:cNvPr id="18" name="Rectangle 17"/>
          <p:cNvSpPr/>
          <p:nvPr/>
        </p:nvSpPr>
        <p:spPr>
          <a:xfrm>
            <a:off x="6126480" y="3474720"/>
            <a:ext cx="5303520" cy="82296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6126480" y="3474720"/>
            <a:ext cx="54864" cy="822960"/>
          </a:xfrm>
          <a:prstGeom prst="rect">
            <a:avLst/>
          </a:prstGeom>
          <a:solidFill>
            <a:srgbClr val="1418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6309360" y="3566160"/>
            <a:ext cx="502920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000" b="1">
                <a:solidFill>
                  <a:srgbClr val="141833"/>
                </a:solidFill>
                <a:latin typeface="Helvetica Neue"/>
              </a:rPr>
              <a:t>#2  ·  IG  ·  3,965 views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309360" y="3858768"/>
            <a:ext cx="5029200" cy="4114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000" b="0">
                <a:solidFill>
                  <a:srgbClr val="141833"/>
                </a:solidFill>
                <a:latin typeface="Helvetica Neue"/>
              </a:rPr>
              <a:t>Following an outburst, she was removed as a Chamber of Commerce ambassador and rejected fo</a:t>
            </a:r>
          </a:p>
        </p:txBody>
      </p:sp>
      <p:sp>
        <p:nvSpPr>
          <p:cNvPr id="22" name="Rectangle 21"/>
          <p:cNvSpPr/>
          <p:nvPr/>
        </p:nvSpPr>
        <p:spPr>
          <a:xfrm>
            <a:off x="6126480" y="4389120"/>
            <a:ext cx="5303520" cy="82296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6126480" y="4389120"/>
            <a:ext cx="54864" cy="822960"/>
          </a:xfrm>
          <a:prstGeom prst="rect">
            <a:avLst/>
          </a:prstGeom>
          <a:solidFill>
            <a:srgbClr val="1418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6309360" y="4480559"/>
            <a:ext cx="502920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000" b="1">
                <a:solidFill>
                  <a:srgbClr val="141833"/>
                </a:solidFill>
                <a:latin typeface="Helvetica Neue"/>
              </a:rPr>
              <a:t>#3  ·  TT  ·  3,520 views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309360" y="4773168"/>
            <a:ext cx="5029200" cy="4114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000" b="0">
                <a:solidFill>
                  <a:srgbClr val="141833"/>
                </a:solidFill>
                <a:latin typeface="Helvetica Neue"/>
              </a:rPr>
              <a:t>Downey is a built-out city, but Sacramento requires us to build 6,100 new homes. Local off</a:t>
            </a:r>
          </a:p>
        </p:txBody>
      </p:sp>
      <p:sp>
        <p:nvSpPr>
          <p:cNvPr id="26" name="Rectangle 25"/>
          <p:cNvSpPr/>
          <p:nvPr/>
        </p:nvSpPr>
        <p:spPr>
          <a:xfrm>
            <a:off x="731520" y="5623560"/>
            <a:ext cx="10698480" cy="731520"/>
          </a:xfrm>
          <a:prstGeom prst="rect">
            <a:avLst/>
          </a:prstGeom>
          <a:solidFill>
            <a:srgbClr val="1418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914400" y="5715000"/>
            <a:ext cx="27432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000" b="1">
                <a:solidFill>
                  <a:srgbClr val="141833"/>
                </a:solidFill>
                <a:latin typeface="Helvetica Neue"/>
              </a:rPr>
              <a:t>RECOMMENDATION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914400" y="5943600"/>
            <a:ext cx="1051560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300" b="1">
                <a:solidFill>
                  <a:srgbClr val="FCF6F5"/>
                </a:solidFill>
                <a:latin typeface="Helvetica Neue"/>
              </a:rPr>
              <a:t>Modest reach. Fine as filler between heavy hitters, not a headline lane.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CF6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457200"/>
            <a:ext cx="1069848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200" b="1">
                <a:solidFill>
                  <a:srgbClr val="990011"/>
                </a:solidFill>
                <a:latin typeface="Helvetica Neue"/>
              </a:rPr>
              <a:t>CATEGORY DEEP-DIVE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822960"/>
            <a:ext cx="10698480" cy="8229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3000" b="1">
                <a:solidFill>
                  <a:srgbClr val="2F3C7E"/>
                </a:solidFill>
                <a:latin typeface="Georgia"/>
              </a:rPr>
              <a:t>Downtown Development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1600200"/>
            <a:ext cx="1069848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200" b="0">
                <a:solidFill>
                  <a:srgbClr val="6B7082"/>
                </a:solidFill>
                <a:latin typeface="Helvetica Neue"/>
              </a:rPr>
              <a:t>Physical growth of Downey — Round One, Fun Box, Stonewood, YMCA, new businesses opening.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1691640"/>
            <a:ext cx="106984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900" b="1">
                <a:solidFill>
                  <a:srgbClr val="C9A227"/>
                </a:solidFill>
                <a:latin typeface="Helvetica Neue"/>
              </a:rPr>
              <a:t>AUDIENCE (theoretical): Local civic pride · Downey residents 30+</a:t>
            </a:r>
          </a:p>
        </p:txBody>
      </p:sp>
      <p:sp>
        <p:nvSpPr>
          <p:cNvPr id="7" name="Rectangle 6"/>
          <p:cNvSpPr/>
          <p:nvPr/>
        </p:nvSpPr>
        <p:spPr>
          <a:xfrm>
            <a:off x="731520" y="2194560"/>
            <a:ext cx="5029200" cy="32004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731520" y="2194560"/>
            <a:ext cx="91440" cy="3200400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960120" y="2377440"/>
            <a:ext cx="457200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100" b="1">
                <a:solidFill>
                  <a:srgbClr val="C9A227"/>
                </a:solidFill>
                <a:latin typeface="Helvetica Neue"/>
              </a:rPr>
              <a:t>TOTAL VIEWS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60120" y="2697480"/>
            <a:ext cx="4572000" cy="10972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5400" b="1">
                <a:solidFill>
                  <a:srgbClr val="2F3C7E"/>
                </a:solidFill>
                <a:latin typeface="Georgia"/>
              </a:rPr>
              <a:t>51,024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60120" y="3840480"/>
            <a:ext cx="457200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300" b="1">
                <a:solidFill>
                  <a:srgbClr val="141833"/>
                </a:solidFill>
                <a:latin typeface="Helvetica Neue"/>
              </a:rPr>
              <a:t>20 posts · 3,025 likes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60120" y="4206240"/>
            <a:ext cx="457200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300" b="0">
                <a:solidFill>
                  <a:srgbClr val="6B7082"/>
                </a:solidFill>
                <a:latin typeface="Helvetica Neue"/>
              </a:rPr>
              <a:t>2,551 average views per post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126480" y="2194560"/>
            <a:ext cx="54864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100" b="1">
                <a:solidFill>
                  <a:srgbClr val="C9A227"/>
                </a:solidFill>
                <a:latin typeface="Helvetica Neue"/>
              </a:rPr>
              <a:t>TOP 3 IN THIS CATEGORY</a:t>
            </a:r>
          </a:p>
        </p:txBody>
      </p:sp>
      <p:sp>
        <p:nvSpPr>
          <p:cNvPr id="14" name="Rectangle 13"/>
          <p:cNvSpPr/>
          <p:nvPr/>
        </p:nvSpPr>
        <p:spPr>
          <a:xfrm>
            <a:off x="6126480" y="2560320"/>
            <a:ext cx="5303520" cy="82296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6126480" y="2560320"/>
            <a:ext cx="54864" cy="822960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309360" y="2651760"/>
            <a:ext cx="502920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000" b="1">
                <a:solidFill>
                  <a:srgbClr val="C9A227"/>
                </a:solidFill>
                <a:latin typeface="Helvetica Neue"/>
              </a:rPr>
              <a:t>#1  ·  TT  ·  29,200 views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309360" y="2944368"/>
            <a:ext cx="5029200" cy="4114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000" b="0">
                <a:solidFill>
                  <a:srgbClr val="141833"/>
                </a:solidFill>
                <a:latin typeface="Helvetica Neue"/>
              </a:rPr>
              <a:t>Get ready! Round One is taking over the old Sears at Stonewood Mall. This massive 150,000 </a:t>
            </a:r>
          </a:p>
        </p:txBody>
      </p:sp>
      <p:sp>
        <p:nvSpPr>
          <p:cNvPr id="18" name="Rectangle 17"/>
          <p:cNvSpPr/>
          <p:nvPr/>
        </p:nvSpPr>
        <p:spPr>
          <a:xfrm>
            <a:off x="6126480" y="3474720"/>
            <a:ext cx="5303520" cy="82296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6126480" y="3474720"/>
            <a:ext cx="54864" cy="822960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6309360" y="3566160"/>
            <a:ext cx="502920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000" b="1">
                <a:solidFill>
                  <a:srgbClr val="C9A227"/>
                </a:solidFill>
                <a:latin typeface="Helvetica Neue"/>
              </a:rPr>
              <a:t>#2  ·  IG  ·  4,455 views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309360" y="3858768"/>
            <a:ext cx="5029200" cy="4114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000" b="0">
                <a:solidFill>
                  <a:srgbClr val="141833"/>
                </a:solidFill>
                <a:latin typeface="Helvetica Neue"/>
              </a:rPr>
              <a:t>Round One is coming to Stonewood Mall, transforming the old Sears space! Get ready for a m</a:t>
            </a:r>
          </a:p>
        </p:txBody>
      </p:sp>
      <p:sp>
        <p:nvSpPr>
          <p:cNvPr id="22" name="Rectangle 21"/>
          <p:cNvSpPr/>
          <p:nvPr/>
        </p:nvSpPr>
        <p:spPr>
          <a:xfrm>
            <a:off x="6126480" y="4389120"/>
            <a:ext cx="5303520" cy="82296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6126480" y="4389120"/>
            <a:ext cx="54864" cy="822960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6309360" y="4480559"/>
            <a:ext cx="502920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000" b="1">
                <a:solidFill>
                  <a:srgbClr val="C9A227"/>
                </a:solidFill>
                <a:latin typeface="Helvetica Neue"/>
              </a:rPr>
              <a:t>#3  ·  IG  ·  2,390 views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309360" y="4773168"/>
            <a:ext cx="5029200" cy="4114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000" b="0">
                <a:solidFill>
                  <a:srgbClr val="141833"/>
                </a:solidFill>
                <a:latin typeface="Helvetica Neue"/>
              </a:rPr>
              <a:t>20 years later, this letter still resonates. It sparked the Downtown Improvement Associati</a:t>
            </a:r>
          </a:p>
        </p:txBody>
      </p:sp>
      <p:sp>
        <p:nvSpPr>
          <p:cNvPr id="26" name="Rectangle 25"/>
          <p:cNvSpPr/>
          <p:nvPr/>
        </p:nvSpPr>
        <p:spPr>
          <a:xfrm>
            <a:off x="731520" y="5623560"/>
            <a:ext cx="10698480" cy="731520"/>
          </a:xfrm>
          <a:prstGeom prst="rect">
            <a:avLst/>
          </a:prstGeom>
          <a:solidFill>
            <a:srgbClr val="1418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914400" y="5715000"/>
            <a:ext cx="27432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000" b="1">
                <a:solidFill>
                  <a:srgbClr val="C9A227"/>
                </a:solidFill>
                <a:latin typeface="Helvetica Neue"/>
              </a:rPr>
              <a:t>RECOMMENDATION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914400" y="5943600"/>
            <a:ext cx="1051560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300" b="1">
                <a:solidFill>
                  <a:srgbClr val="FCF6F5"/>
                </a:solidFill>
                <a:latin typeface="Helvetica Neue"/>
              </a:rPr>
              <a:t>Solid mid-tier. Worth continued investment. Test scaling to see if it holds.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CF6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457200"/>
            <a:ext cx="1069848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200" b="1">
                <a:solidFill>
                  <a:srgbClr val="990011"/>
                </a:solidFill>
                <a:latin typeface="Helvetica Neue"/>
              </a:rPr>
              <a:t>CATEGORY DEEP-DIVE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822960"/>
            <a:ext cx="10698480" cy="8229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3000" b="1">
                <a:solidFill>
                  <a:srgbClr val="2F3C7E"/>
                </a:solidFill>
                <a:latin typeface="Georgia"/>
              </a:rPr>
              <a:t>Political Individual Highlights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1600200"/>
            <a:ext cx="1069848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200" b="0">
                <a:solidFill>
                  <a:srgbClr val="6B7082"/>
                </a:solidFill>
                <a:latin typeface="Helvetica Neue"/>
              </a:rPr>
              <a:t>Candidate/elected personality profiles — Carrie Uva, Hector Sosa. Not scandal-driven.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1691640"/>
            <a:ext cx="106984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900" b="1">
                <a:solidFill>
                  <a:srgbClr val="2E86AB"/>
                </a:solidFill>
                <a:latin typeface="Helvetica Neue"/>
              </a:rPr>
              <a:t>AUDIENCE (theoretical): Personal profile · Broad (voters, campaign-season readers)</a:t>
            </a:r>
          </a:p>
        </p:txBody>
      </p:sp>
      <p:sp>
        <p:nvSpPr>
          <p:cNvPr id="7" name="Rectangle 6"/>
          <p:cNvSpPr/>
          <p:nvPr/>
        </p:nvSpPr>
        <p:spPr>
          <a:xfrm>
            <a:off x="731520" y="2194560"/>
            <a:ext cx="5029200" cy="32004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731520" y="2194560"/>
            <a:ext cx="91440" cy="3200400"/>
          </a:xfrm>
          <a:prstGeom prst="rect">
            <a:avLst/>
          </a:prstGeom>
          <a:solidFill>
            <a:srgbClr val="2E86A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960120" y="2377440"/>
            <a:ext cx="457200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100" b="1">
                <a:solidFill>
                  <a:srgbClr val="2E86AB"/>
                </a:solidFill>
                <a:latin typeface="Helvetica Neue"/>
              </a:rPr>
              <a:t>TOTAL VIEWS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60120" y="2697480"/>
            <a:ext cx="4572000" cy="10972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5400" b="1">
                <a:solidFill>
                  <a:srgbClr val="2F3C7E"/>
                </a:solidFill>
                <a:latin typeface="Georgia"/>
              </a:rPr>
              <a:t>28,967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60120" y="3840480"/>
            <a:ext cx="457200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300" b="1">
                <a:solidFill>
                  <a:srgbClr val="141833"/>
                </a:solidFill>
                <a:latin typeface="Helvetica Neue"/>
              </a:rPr>
              <a:t>32 posts · 641 likes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60120" y="4206240"/>
            <a:ext cx="457200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300" b="0">
                <a:solidFill>
                  <a:srgbClr val="6B7082"/>
                </a:solidFill>
                <a:latin typeface="Helvetica Neue"/>
              </a:rPr>
              <a:t>905 average views per post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126480" y="2194560"/>
            <a:ext cx="54864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100" b="1">
                <a:solidFill>
                  <a:srgbClr val="2E86AB"/>
                </a:solidFill>
                <a:latin typeface="Helvetica Neue"/>
              </a:rPr>
              <a:t>TOP 3 IN THIS CATEGORY</a:t>
            </a:r>
          </a:p>
        </p:txBody>
      </p:sp>
      <p:sp>
        <p:nvSpPr>
          <p:cNvPr id="14" name="Rectangle 13"/>
          <p:cNvSpPr/>
          <p:nvPr/>
        </p:nvSpPr>
        <p:spPr>
          <a:xfrm>
            <a:off x="6126480" y="2560320"/>
            <a:ext cx="5303520" cy="82296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6126480" y="2560320"/>
            <a:ext cx="54864" cy="822960"/>
          </a:xfrm>
          <a:prstGeom prst="rect">
            <a:avLst/>
          </a:prstGeom>
          <a:solidFill>
            <a:srgbClr val="2E86A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309360" y="2651760"/>
            <a:ext cx="502920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000" b="1">
                <a:solidFill>
                  <a:srgbClr val="2E86AB"/>
                </a:solidFill>
                <a:latin typeface="Helvetica Neue"/>
              </a:rPr>
              <a:t>#1  ·  FB  ·  4,278 views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309360" y="2944368"/>
            <a:ext cx="5029200" cy="4114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000" b="0">
                <a:solidFill>
                  <a:srgbClr val="141833"/>
                </a:solidFill>
                <a:latin typeface="Helvetica Neue"/>
              </a:rPr>
              <a:t>With a clear choice for Downey, Hector Sosa stands out. His campaign kickoff event was a t</a:t>
            </a:r>
          </a:p>
        </p:txBody>
      </p:sp>
      <p:sp>
        <p:nvSpPr>
          <p:cNvPr id="18" name="Rectangle 17"/>
          <p:cNvSpPr/>
          <p:nvPr/>
        </p:nvSpPr>
        <p:spPr>
          <a:xfrm>
            <a:off x="6126480" y="3474720"/>
            <a:ext cx="5303520" cy="82296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6126480" y="3474720"/>
            <a:ext cx="54864" cy="822960"/>
          </a:xfrm>
          <a:prstGeom prst="rect">
            <a:avLst/>
          </a:prstGeom>
          <a:solidFill>
            <a:srgbClr val="2E86A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6309360" y="3566160"/>
            <a:ext cx="502920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000" b="1">
                <a:solidFill>
                  <a:srgbClr val="2E86AB"/>
                </a:solidFill>
                <a:latin typeface="Helvetica Neue"/>
              </a:rPr>
              <a:t>#2  ·  FB  ·  3,053 views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309360" y="3858768"/>
            <a:ext cx="5029200" cy="4114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000" b="0">
                <a:solidFill>
                  <a:srgbClr val="141833"/>
                </a:solidFill>
                <a:latin typeface="Helvetica Neue"/>
              </a:rPr>
              <a:t>Don't be fooled by simple comparisons. Carrie Uva, a lifelong Democrat, has earned endorse</a:t>
            </a:r>
          </a:p>
        </p:txBody>
      </p:sp>
      <p:sp>
        <p:nvSpPr>
          <p:cNvPr id="22" name="Rectangle 21"/>
          <p:cNvSpPr/>
          <p:nvPr/>
        </p:nvSpPr>
        <p:spPr>
          <a:xfrm>
            <a:off x="6126480" y="4389120"/>
            <a:ext cx="5303520" cy="82296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6126480" y="4389120"/>
            <a:ext cx="54864" cy="822960"/>
          </a:xfrm>
          <a:prstGeom prst="rect">
            <a:avLst/>
          </a:prstGeom>
          <a:solidFill>
            <a:srgbClr val="2E86A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6309360" y="4480559"/>
            <a:ext cx="502920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000" b="1">
                <a:solidFill>
                  <a:srgbClr val="2E86AB"/>
                </a:solidFill>
                <a:latin typeface="Helvetica Neue"/>
              </a:rPr>
              <a:t>#3  ·  FB  ·  2,253 views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309360" y="4773168"/>
            <a:ext cx="5029200" cy="4114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000" b="0">
                <a:solidFill>
                  <a:srgbClr val="141833"/>
                </a:solidFill>
                <a:latin typeface="Helvetica Neue"/>
              </a:rPr>
              <a:t>The Newsom administration and Rob Bonta's lawsuit against the federal government has been </a:t>
            </a:r>
          </a:p>
        </p:txBody>
      </p:sp>
      <p:sp>
        <p:nvSpPr>
          <p:cNvPr id="26" name="Rectangle 25"/>
          <p:cNvSpPr/>
          <p:nvPr/>
        </p:nvSpPr>
        <p:spPr>
          <a:xfrm>
            <a:off x="731520" y="5623560"/>
            <a:ext cx="10698480" cy="731520"/>
          </a:xfrm>
          <a:prstGeom prst="rect">
            <a:avLst/>
          </a:prstGeom>
          <a:solidFill>
            <a:srgbClr val="1418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914400" y="5715000"/>
            <a:ext cx="27432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000" b="1">
                <a:solidFill>
                  <a:srgbClr val="2E86AB"/>
                </a:solidFill>
                <a:latin typeface="Helvetica Neue"/>
              </a:rPr>
              <a:t>RECOMMENDATION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914400" y="5943600"/>
            <a:ext cx="1051560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300" b="1">
                <a:solidFill>
                  <a:srgbClr val="FCF6F5"/>
                </a:solidFill>
                <a:latin typeface="Helvetica Neue"/>
              </a:rPr>
              <a:t>Modest reach. Fine as filler between heavy hitters, not a headline lane.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CF6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457200"/>
            <a:ext cx="1069848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200" b="1">
                <a:solidFill>
                  <a:srgbClr val="990011"/>
                </a:solidFill>
                <a:latin typeface="Helvetica Neue"/>
              </a:rPr>
              <a:t>CATEGORY DEEP-DIVE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822960"/>
            <a:ext cx="10698480" cy="8229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3000" b="1">
                <a:solidFill>
                  <a:srgbClr val="2F3C7E"/>
                </a:solidFill>
                <a:latin typeface="Georgia"/>
              </a:rPr>
              <a:t>Resident Highlights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1600200"/>
            <a:ext cx="1069848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200" b="0">
                <a:solidFill>
                  <a:srgbClr val="6B7082"/>
                </a:solidFill>
                <a:latin typeface="Helvetica Neue"/>
              </a:rPr>
              <a:t>Non-political citizen profiles — small business owners, community members. Granata, Gately, the deacon.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1691640"/>
            <a:ext cx="106984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900" b="1">
                <a:solidFill>
                  <a:srgbClr val="1B7A43"/>
                </a:solidFill>
                <a:latin typeface="Helvetica Neue"/>
              </a:rPr>
              <a:t>AUDIENCE (theoretical): Human interest · Broad, community-connected</a:t>
            </a:r>
          </a:p>
        </p:txBody>
      </p:sp>
      <p:sp>
        <p:nvSpPr>
          <p:cNvPr id="7" name="Rectangle 6"/>
          <p:cNvSpPr/>
          <p:nvPr/>
        </p:nvSpPr>
        <p:spPr>
          <a:xfrm>
            <a:off x="731520" y="2194560"/>
            <a:ext cx="5029200" cy="32004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731520" y="2194560"/>
            <a:ext cx="91440" cy="3200400"/>
          </a:xfrm>
          <a:prstGeom prst="rect">
            <a:avLst/>
          </a:prstGeom>
          <a:solidFill>
            <a:srgbClr val="1B7A4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960120" y="2377440"/>
            <a:ext cx="457200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100" b="1">
                <a:solidFill>
                  <a:srgbClr val="1B7A43"/>
                </a:solidFill>
                <a:latin typeface="Helvetica Neue"/>
              </a:rPr>
              <a:t>TOTAL VIEWS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60120" y="2697480"/>
            <a:ext cx="4572000" cy="10972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5400" b="1">
                <a:solidFill>
                  <a:srgbClr val="2F3C7E"/>
                </a:solidFill>
                <a:latin typeface="Georgia"/>
              </a:rPr>
              <a:t>8,255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60120" y="3840480"/>
            <a:ext cx="457200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300" b="1">
                <a:solidFill>
                  <a:srgbClr val="141833"/>
                </a:solidFill>
                <a:latin typeface="Helvetica Neue"/>
              </a:rPr>
              <a:t>8 posts · 141 likes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60120" y="4206240"/>
            <a:ext cx="457200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300" b="0">
                <a:solidFill>
                  <a:srgbClr val="6B7082"/>
                </a:solidFill>
                <a:latin typeface="Helvetica Neue"/>
              </a:rPr>
              <a:t>1,032 average views per post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126480" y="2194560"/>
            <a:ext cx="54864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100" b="1">
                <a:solidFill>
                  <a:srgbClr val="1B7A43"/>
                </a:solidFill>
                <a:latin typeface="Helvetica Neue"/>
              </a:rPr>
              <a:t>TOP 3 IN THIS CATEGORY</a:t>
            </a:r>
          </a:p>
        </p:txBody>
      </p:sp>
      <p:sp>
        <p:nvSpPr>
          <p:cNvPr id="14" name="Rectangle 13"/>
          <p:cNvSpPr/>
          <p:nvPr/>
        </p:nvSpPr>
        <p:spPr>
          <a:xfrm>
            <a:off x="6126480" y="2560320"/>
            <a:ext cx="5303520" cy="82296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6126480" y="2560320"/>
            <a:ext cx="54864" cy="822960"/>
          </a:xfrm>
          <a:prstGeom prst="rect">
            <a:avLst/>
          </a:prstGeom>
          <a:solidFill>
            <a:srgbClr val="1B7A4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309360" y="2651760"/>
            <a:ext cx="502920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000" b="1">
                <a:solidFill>
                  <a:srgbClr val="1B7A43"/>
                </a:solidFill>
                <a:latin typeface="Helvetica Neue"/>
              </a:rPr>
              <a:t>#1  ·  IG  ·  3,551 views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309360" y="2944368"/>
            <a:ext cx="5029200" cy="4114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000" b="0">
                <a:solidFill>
                  <a:srgbClr val="141833"/>
                </a:solidFill>
                <a:latin typeface="Helvetica Neue"/>
              </a:rPr>
              <a:t>Almost ran over a family. I got the license plate, checked on them. Turns out he's a Catho</a:t>
            </a:r>
          </a:p>
        </p:txBody>
      </p:sp>
      <p:sp>
        <p:nvSpPr>
          <p:cNvPr id="18" name="Rectangle 17"/>
          <p:cNvSpPr/>
          <p:nvPr/>
        </p:nvSpPr>
        <p:spPr>
          <a:xfrm>
            <a:off x="6126480" y="3474720"/>
            <a:ext cx="5303520" cy="82296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6126480" y="3474720"/>
            <a:ext cx="54864" cy="822960"/>
          </a:xfrm>
          <a:prstGeom prst="rect">
            <a:avLst/>
          </a:prstGeom>
          <a:solidFill>
            <a:srgbClr val="1B7A4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6309360" y="3566160"/>
            <a:ext cx="502920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000" b="1">
                <a:solidFill>
                  <a:srgbClr val="1B7A43"/>
                </a:solidFill>
                <a:latin typeface="Helvetica Neue"/>
              </a:rPr>
              <a:t>#2  ·  FB  ·  2,491 views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309360" y="3858768"/>
            <a:ext cx="5029200" cy="4114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000" b="0">
                <a:solidFill>
                  <a:srgbClr val="141833"/>
                </a:solidFill>
                <a:latin typeface="Helvetica Neue"/>
              </a:rPr>
              <a:t>A terrifying moment outside City Hall as a car nearly hits a family. A witness captured th</a:t>
            </a:r>
          </a:p>
        </p:txBody>
      </p:sp>
      <p:sp>
        <p:nvSpPr>
          <p:cNvPr id="22" name="Rectangle 21"/>
          <p:cNvSpPr/>
          <p:nvPr/>
        </p:nvSpPr>
        <p:spPr>
          <a:xfrm>
            <a:off x="6126480" y="4389120"/>
            <a:ext cx="5303520" cy="82296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6126480" y="4389120"/>
            <a:ext cx="54864" cy="822960"/>
          </a:xfrm>
          <a:prstGeom prst="rect">
            <a:avLst/>
          </a:prstGeom>
          <a:solidFill>
            <a:srgbClr val="1B7A4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6309360" y="4480559"/>
            <a:ext cx="502920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000" b="1">
                <a:solidFill>
                  <a:srgbClr val="1B7A43"/>
                </a:solidFill>
                <a:latin typeface="Helvetica Neue"/>
              </a:rPr>
              <a:t>#3  ·  FB  ·  812 views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309360" y="4773168"/>
            <a:ext cx="5029200" cy="4114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000" b="0">
                <a:solidFill>
                  <a:srgbClr val="141833"/>
                </a:solidFill>
                <a:latin typeface="Helvetica Neue"/>
              </a:rPr>
              <a:t>Running a restaurant means the show must go on, even when things are falling apart. Unlike</a:t>
            </a:r>
          </a:p>
        </p:txBody>
      </p:sp>
      <p:sp>
        <p:nvSpPr>
          <p:cNvPr id="26" name="Rectangle 25"/>
          <p:cNvSpPr/>
          <p:nvPr/>
        </p:nvSpPr>
        <p:spPr>
          <a:xfrm>
            <a:off x="731520" y="5623560"/>
            <a:ext cx="10698480" cy="731520"/>
          </a:xfrm>
          <a:prstGeom prst="rect">
            <a:avLst/>
          </a:prstGeom>
          <a:solidFill>
            <a:srgbClr val="1418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914400" y="5715000"/>
            <a:ext cx="27432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000" b="1">
                <a:solidFill>
                  <a:srgbClr val="1B7A43"/>
                </a:solidFill>
                <a:latin typeface="Helvetica Neue"/>
              </a:rPr>
              <a:t>RECOMMENDATION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914400" y="5943600"/>
            <a:ext cx="1051560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300" b="1">
                <a:solidFill>
                  <a:srgbClr val="FCF6F5"/>
                </a:solidFill>
                <a:latin typeface="Helvetica Neue"/>
              </a:rPr>
              <a:t>Solid mid-tier. Worth continued investment. Test scaling to see if it holds.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418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411480" cy="6858000"/>
          </a:xfrm>
          <a:prstGeom prst="rect">
            <a:avLst/>
          </a:prstGeom>
          <a:solidFill>
            <a:srgbClr val="2E86A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914400" y="2377440"/>
            <a:ext cx="1005840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600" b="1">
                <a:solidFill>
                  <a:srgbClr val="2E86AB"/>
                </a:solidFill>
                <a:latin typeface="Helvetica Neue"/>
              </a:rPr>
              <a:t>SECTION 2 OF 2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" y="2834640"/>
            <a:ext cx="10058400" cy="1371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6400" b="1">
                <a:solidFill>
                  <a:srgbClr val="FFFFFF"/>
                </a:solidFill>
                <a:latin typeface="Georgia"/>
              </a:rPr>
              <a:t>Worth watching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14400" y="4206240"/>
            <a:ext cx="10058400" cy="5486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800" b="0">
                <a:solidFill>
                  <a:srgbClr val="FCF6F5"/>
                </a:solidFill>
                <a:latin typeface="Helvetica Neue"/>
              </a:rPr>
              <a:t>3 smaller lanes still building audience. Real potential, low volume — don't retire prematurely.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CF6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457200"/>
            <a:ext cx="1069848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200" b="1">
                <a:solidFill>
                  <a:srgbClr val="990011"/>
                </a:solidFill>
                <a:latin typeface="Helvetica Neue"/>
              </a:rPr>
              <a:t>WORTH WATCHING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822960"/>
            <a:ext cx="10698480" cy="8229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3000" b="1">
                <a:solidFill>
                  <a:srgbClr val="2F3C7E"/>
                </a:solidFill>
                <a:latin typeface="Georgia"/>
              </a:rPr>
              <a:t>Small lanes that could develop into something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1600200"/>
            <a:ext cx="1069848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200" b="0">
                <a:solidFill>
                  <a:srgbClr val="6B7082"/>
                </a:solidFill>
                <a:latin typeface="Helvetica Neue"/>
              </a:rPr>
              <a:t>Low volume today, but real audience potential. Don't kill these before they get their shot.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2148839"/>
            <a:ext cx="3200400" cy="5029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200" b="1">
                <a:solidFill>
                  <a:srgbClr val="141833"/>
                </a:solidFill>
                <a:latin typeface="Helvetica Neue"/>
              </a:rPr>
              <a:t>Elections &amp; Judicial</a:t>
            </a:r>
          </a:p>
        </p:txBody>
      </p:sp>
      <p:sp>
        <p:nvSpPr>
          <p:cNvPr id="7" name="Rectangle 6"/>
          <p:cNvSpPr/>
          <p:nvPr/>
        </p:nvSpPr>
        <p:spPr>
          <a:xfrm>
            <a:off x="4206240" y="2217420"/>
            <a:ext cx="6035040" cy="274320"/>
          </a:xfrm>
          <a:prstGeom prst="rect">
            <a:avLst/>
          </a:prstGeom>
          <a:solidFill>
            <a:srgbClr val="2F3C7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0332719" y="2148839"/>
            <a:ext cx="2286000" cy="2514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900" b="0">
                <a:solidFill>
                  <a:srgbClr val="6B7082"/>
                </a:solidFill>
                <a:latin typeface="Helvetica Neue"/>
              </a:rPr>
              <a:t>73,709 views · 98 posts · 752 avg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332719" y="2354579"/>
            <a:ext cx="4572000" cy="2514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800" b="0">
                <a:solidFill>
                  <a:srgbClr val="6B7082"/>
                </a:solidFill>
                <a:latin typeface="Helvetica Neue"/>
              </a:rPr>
              <a:t>Slow-burn policy · Middle (40-55) + Older (55+) engaged voters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31520" y="2651759"/>
            <a:ext cx="3200400" cy="5029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200" b="1">
                <a:solidFill>
                  <a:srgbClr val="141833"/>
                </a:solidFill>
                <a:latin typeface="Helvetica Neue"/>
              </a:rPr>
              <a:t>American Pride</a:t>
            </a:r>
          </a:p>
        </p:txBody>
      </p:sp>
      <p:sp>
        <p:nvSpPr>
          <p:cNvPr id="11" name="Rectangle 10"/>
          <p:cNvSpPr/>
          <p:nvPr/>
        </p:nvSpPr>
        <p:spPr>
          <a:xfrm>
            <a:off x="4206240" y="2720339"/>
            <a:ext cx="636099" cy="274320"/>
          </a:xfrm>
          <a:prstGeom prst="rect">
            <a:avLst/>
          </a:prstGeom>
          <a:solidFill>
            <a:srgbClr val="99001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4933779" y="2651759"/>
            <a:ext cx="2286000" cy="2514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900" b="0">
                <a:solidFill>
                  <a:srgbClr val="6B7082"/>
                </a:solidFill>
                <a:latin typeface="Helvetica Neue"/>
              </a:rPr>
              <a:t>7,769 views · 15 posts · 518 avg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933779" y="2857499"/>
            <a:ext cx="4572000" cy="2514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800" b="0">
                <a:solidFill>
                  <a:srgbClr val="6B7082"/>
                </a:solidFill>
                <a:latin typeface="Helvetica Neue"/>
              </a:rPr>
              <a:t>Traditional / patriotic · Older (55+), values-driven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31520" y="3154679"/>
            <a:ext cx="3200400" cy="5029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200" b="1">
                <a:solidFill>
                  <a:srgbClr val="141833"/>
                </a:solidFill>
                <a:latin typeface="Helvetica Neue"/>
              </a:rPr>
              <a:t>Legislation &amp; Policy Watch</a:t>
            </a:r>
          </a:p>
        </p:txBody>
      </p:sp>
      <p:sp>
        <p:nvSpPr>
          <p:cNvPr id="15" name="Rectangle 14"/>
          <p:cNvSpPr/>
          <p:nvPr/>
        </p:nvSpPr>
        <p:spPr>
          <a:xfrm>
            <a:off x="4206240" y="3223260"/>
            <a:ext cx="506979" cy="274320"/>
          </a:xfrm>
          <a:prstGeom prst="rect">
            <a:avLst/>
          </a:prstGeom>
          <a:solidFill>
            <a:srgbClr val="2F3C7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4804659" y="3154679"/>
            <a:ext cx="2286000" cy="2514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900" b="0">
                <a:solidFill>
                  <a:srgbClr val="6B7082"/>
                </a:solidFill>
                <a:latin typeface="Helvetica Neue"/>
              </a:rPr>
              <a:t>6,192 views · 13 posts · 476 avg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804659" y="3360420"/>
            <a:ext cx="4572000" cy="2514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800" b="0">
                <a:solidFill>
                  <a:srgbClr val="6B7082"/>
                </a:solidFill>
                <a:latin typeface="Helvetica Neue"/>
              </a:rPr>
              <a:t>Slow-burn policy · Older (55+), civic-engaged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731520" y="6263640"/>
            <a:ext cx="1069848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200" b="1">
                <a:solidFill>
                  <a:srgbClr val="141833"/>
                </a:solidFill>
                <a:latin typeface="Helvetica Neue"/>
              </a:rPr>
              <a:t>Don't retire these based on volume alone — small consistent posting builds audience over months, not weeks.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CF6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457200"/>
            <a:ext cx="1069848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200" b="1">
                <a:solidFill>
                  <a:srgbClr val="990011"/>
                </a:solidFill>
                <a:latin typeface="Helvetica Neue"/>
              </a:rPr>
              <a:t>CATEGORY DEEP-DIVE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822960"/>
            <a:ext cx="10698480" cy="8229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3000" b="1">
                <a:solidFill>
                  <a:srgbClr val="2F3C7E"/>
                </a:solidFill>
                <a:latin typeface="Georgia"/>
              </a:rPr>
              <a:t>Elections &amp; Judicial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1600200"/>
            <a:ext cx="1069848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200" b="0">
                <a:solidFill>
                  <a:srgbClr val="6B7082"/>
                </a:solidFill>
                <a:latin typeface="Helvetica Neue"/>
              </a:rPr>
              <a:t>Coverage of campaigns, courts, and local government.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1691640"/>
            <a:ext cx="106984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900" b="1">
                <a:solidFill>
                  <a:srgbClr val="2F3C7E"/>
                </a:solidFill>
                <a:latin typeface="Helvetica Neue"/>
              </a:rPr>
              <a:t>AUDIENCE (theoretical): Slow-burn policy · Middle (40-55) + Older (55+) engaged voters</a:t>
            </a:r>
          </a:p>
        </p:txBody>
      </p:sp>
      <p:sp>
        <p:nvSpPr>
          <p:cNvPr id="7" name="Rectangle 6"/>
          <p:cNvSpPr/>
          <p:nvPr/>
        </p:nvSpPr>
        <p:spPr>
          <a:xfrm>
            <a:off x="731520" y="2194560"/>
            <a:ext cx="5029200" cy="32004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731520" y="2194560"/>
            <a:ext cx="91440" cy="3200400"/>
          </a:xfrm>
          <a:prstGeom prst="rect">
            <a:avLst/>
          </a:prstGeom>
          <a:solidFill>
            <a:srgbClr val="2F3C7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960120" y="2377440"/>
            <a:ext cx="457200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100" b="1">
                <a:solidFill>
                  <a:srgbClr val="2F3C7E"/>
                </a:solidFill>
                <a:latin typeface="Helvetica Neue"/>
              </a:rPr>
              <a:t>TOTAL VIEWS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60120" y="2697480"/>
            <a:ext cx="4572000" cy="10972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5400" b="1">
                <a:solidFill>
                  <a:srgbClr val="2F3C7E"/>
                </a:solidFill>
                <a:latin typeface="Georgia"/>
              </a:rPr>
              <a:t>73,709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60120" y="3840480"/>
            <a:ext cx="457200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300" b="1">
                <a:solidFill>
                  <a:srgbClr val="141833"/>
                </a:solidFill>
                <a:latin typeface="Helvetica Neue"/>
              </a:rPr>
              <a:t>98 posts · 1,754 likes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60120" y="4206240"/>
            <a:ext cx="457200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300" b="0">
                <a:solidFill>
                  <a:srgbClr val="6B7082"/>
                </a:solidFill>
                <a:latin typeface="Helvetica Neue"/>
              </a:rPr>
              <a:t>752 average views per post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126480" y="2194560"/>
            <a:ext cx="54864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100" b="1">
                <a:solidFill>
                  <a:srgbClr val="2F3C7E"/>
                </a:solidFill>
                <a:latin typeface="Helvetica Neue"/>
              </a:rPr>
              <a:t>TOP 3 IN THIS CATEGORY</a:t>
            </a:r>
          </a:p>
        </p:txBody>
      </p:sp>
      <p:sp>
        <p:nvSpPr>
          <p:cNvPr id="14" name="Rectangle 13"/>
          <p:cNvSpPr/>
          <p:nvPr/>
        </p:nvSpPr>
        <p:spPr>
          <a:xfrm>
            <a:off x="6126480" y="2560320"/>
            <a:ext cx="5303520" cy="82296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6126480" y="2560320"/>
            <a:ext cx="54864" cy="822960"/>
          </a:xfrm>
          <a:prstGeom prst="rect">
            <a:avLst/>
          </a:prstGeom>
          <a:solidFill>
            <a:srgbClr val="2F3C7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309360" y="2651760"/>
            <a:ext cx="502920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000" b="1">
                <a:solidFill>
                  <a:srgbClr val="2F3C7E"/>
                </a:solidFill>
                <a:latin typeface="Helvetica Neue"/>
              </a:rPr>
              <a:t>#1  ·  FB  ·  11,860 views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309360" y="2944368"/>
            <a:ext cx="5029200" cy="4114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000" b="0">
                <a:solidFill>
                  <a:srgbClr val="141833"/>
                </a:solidFill>
                <a:latin typeface="Helvetica Neue"/>
              </a:rPr>
              <a:t>Chaos erupted at a council meeting when Ms. Rivera began screaming, refusing to calm down </a:t>
            </a:r>
          </a:p>
        </p:txBody>
      </p:sp>
      <p:sp>
        <p:nvSpPr>
          <p:cNvPr id="18" name="Rectangle 17"/>
          <p:cNvSpPr/>
          <p:nvPr/>
        </p:nvSpPr>
        <p:spPr>
          <a:xfrm>
            <a:off x="6126480" y="3474720"/>
            <a:ext cx="5303520" cy="82296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6126480" y="3474720"/>
            <a:ext cx="54864" cy="822960"/>
          </a:xfrm>
          <a:prstGeom prst="rect">
            <a:avLst/>
          </a:prstGeom>
          <a:solidFill>
            <a:srgbClr val="2F3C7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6309360" y="3566160"/>
            <a:ext cx="502920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000" b="1">
                <a:solidFill>
                  <a:srgbClr val="2F3C7E"/>
                </a:solidFill>
                <a:latin typeface="Helvetica Neue"/>
              </a:rPr>
              <a:t>#2  ·  FB  ·  5,812 views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309360" y="3858768"/>
            <a:ext cx="5029200" cy="4114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000" b="0">
                <a:solidFill>
                  <a:srgbClr val="141833"/>
                </a:solidFill>
                <a:latin typeface="Helvetica Neue"/>
              </a:rPr>
              <a:t>Tensions flared at the city council meeting as a woman repeatedly defied the mayor's reque</a:t>
            </a:r>
          </a:p>
        </p:txBody>
      </p:sp>
      <p:sp>
        <p:nvSpPr>
          <p:cNvPr id="22" name="Rectangle 21"/>
          <p:cNvSpPr/>
          <p:nvPr/>
        </p:nvSpPr>
        <p:spPr>
          <a:xfrm>
            <a:off x="6126480" y="4389120"/>
            <a:ext cx="5303520" cy="82296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6126480" y="4389120"/>
            <a:ext cx="54864" cy="822960"/>
          </a:xfrm>
          <a:prstGeom prst="rect">
            <a:avLst/>
          </a:prstGeom>
          <a:solidFill>
            <a:srgbClr val="2F3C7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6309360" y="4480559"/>
            <a:ext cx="502920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000" b="1">
                <a:solidFill>
                  <a:srgbClr val="2F3C7E"/>
                </a:solidFill>
                <a:latin typeface="Helvetica Neue"/>
              </a:rPr>
              <a:t>#3  ·  IG  ·  4,046 views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309360" y="4773168"/>
            <a:ext cx="5029200" cy="4114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000" b="0">
                <a:solidFill>
                  <a:srgbClr val="141833"/>
                </a:solidFill>
                <a:latin typeface="Helvetica Neue"/>
              </a:rPr>
              <a:t>A candidate's DSA membership raises questions about their loyalties. Pledging to 'co-gover</a:t>
            </a:r>
          </a:p>
        </p:txBody>
      </p:sp>
      <p:sp>
        <p:nvSpPr>
          <p:cNvPr id="26" name="Rectangle 25"/>
          <p:cNvSpPr/>
          <p:nvPr/>
        </p:nvSpPr>
        <p:spPr>
          <a:xfrm>
            <a:off x="731520" y="5623560"/>
            <a:ext cx="10698480" cy="731520"/>
          </a:xfrm>
          <a:prstGeom prst="rect">
            <a:avLst/>
          </a:prstGeom>
          <a:solidFill>
            <a:srgbClr val="1418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914400" y="5715000"/>
            <a:ext cx="27432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000" b="1">
                <a:solidFill>
                  <a:srgbClr val="2F3C7E"/>
                </a:solidFill>
                <a:latin typeface="Helvetica Neue"/>
              </a:rPr>
              <a:t>RECOMMENDATION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914400" y="5943600"/>
            <a:ext cx="1051560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300" b="1">
                <a:solidFill>
                  <a:srgbClr val="FCF6F5"/>
                </a:solidFill>
                <a:latin typeface="Helvetica Neue"/>
              </a:rPr>
              <a:t>Modest reach. Fine as filler between heavy hitters, not a headline lane.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CF6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457200"/>
            <a:ext cx="1069848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200" b="1">
                <a:solidFill>
                  <a:srgbClr val="990011"/>
                </a:solidFill>
                <a:latin typeface="Helvetica Neue"/>
              </a:rPr>
              <a:t>CATEGORY DEEP-DIVE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822960"/>
            <a:ext cx="10698480" cy="8229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3000" b="1">
                <a:solidFill>
                  <a:srgbClr val="2F3C7E"/>
                </a:solidFill>
                <a:latin typeface="Georgia"/>
              </a:rPr>
              <a:t>American Pride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1600200"/>
            <a:ext cx="1069848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200" b="0">
                <a:solidFill>
                  <a:srgbClr val="6B7082"/>
                </a:solidFill>
                <a:latin typeface="Helvetica Neue"/>
              </a:rPr>
              <a:t>Patriotic content + historical/analytical (1968, forefathers, unity language).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1691640"/>
            <a:ext cx="106984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900" b="1">
                <a:solidFill>
                  <a:srgbClr val="990011"/>
                </a:solidFill>
                <a:latin typeface="Helvetica Neue"/>
              </a:rPr>
              <a:t>AUDIENCE (theoretical): Traditional / patriotic · Older (55+), values-driven</a:t>
            </a:r>
          </a:p>
        </p:txBody>
      </p:sp>
      <p:sp>
        <p:nvSpPr>
          <p:cNvPr id="7" name="Rectangle 6"/>
          <p:cNvSpPr/>
          <p:nvPr/>
        </p:nvSpPr>
        <p:spPr>
          <a:xfrm>
            <a:off x="731520" y="2194560"/>
            <a:ext cx="5029200" cy="32004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731520" y="2194560"/>
            <a:ext cx="91440" cy="3200400"/>
          </a:xfrm>
          <a:prstGeom prst="rect">
            <a:avLst/>
          </a:prstGeom>
          <a:solidFill>
            <a:srgbClr val="99001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960120" y="2377440"/>
            <a:ext cx="457200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100" b="1">
                <a:solidFill>
                  <a:srgbClr val="990011"/>
                </a:solidFill>
                <a:latin typeface="Helvetica Neue"/>
              </a:rPr>
              <a:t>TOTAL VIEWS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60120" y="2697480"/>
            <a:ext cx="4572000" cy="10972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5400" b="1">
                <a:solidFill>
                  <a:srgbClr val="2F3C7E"/>
                </a:solidFill>
                <a:latin typeface="Georgia"/>
              </a:rPr>
              <a:t>7,769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60120" y="3840480"/>
            <a:ext cx="457200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300" b="1">
                <a:solidFill>
                  <a:srgbClr val="141833"/>
                </a:solidFill>
                <a:latin typeface="Helvetica Neue"/>
              </a:rPr>
              <a:t>15 posts · 113 likes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60120" y="4206240"/>
            <a:ext cx="457200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300" b="0">
                <a:solidFill>
                  <a:srgbClr val="6B7082"/>
                </a:solidFill>
                <a:latin typeface="Helvetica Neue"/>
              </a:rPr>
              <a:t>518 average views per post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126480" y="2194560"/>
            <a:ext cx="54864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100" b="1">
                <a:solidFill>
                  <a:srgbClr val="990011"/>
                </a:solidFill>
                <a:latin typeface="Helvetica Neue"/>
              </a:rPr>
              <a:t>TOP 3 IN THIS CATEGORY</a:t>
            </a:r>
          </a:p>
        </p:txBody>
      </p:sp>
      <p:sp>
        <p:nvSpPr>
          <p:cNvPr id="14" name="Rectangle 13"/>
          <p:cNvSpPr/>
          <p:nvPr/>
        </p:nvSpPr>
        <p:spPr>
          <a:xfrm>
            <a:off x="6126480" y="2560320"/>
            <a:ext cx="5303520" cy="82296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6126480" y="2560320"/>
            <a:ext cx="54864" cy="822960"/>
          </a:xfrm>
          <a:prstGeom prst="rect">
            <a:avLst/>
          </a:prstGeom>
          <a:solidFill>
            <a:srgbClr val="99001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309360" y="2651760"/>
            <a:ext cx="502920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000" b="1">
                <a:solidFill>
                  <a:srgbClr val="990011"/>
                </a:solidFill>
                <a:latin typeface="Helvetica Neue"/>
              </a:rPr>
              <a:t>#1  ·  TT  ·  1,098 views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309360" y="2944368"/>
            <a:ext cx="5029200" cy="4114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000" b="0">
                <a:solidFill>
                  <a:srgbClr val="141833"/>
                </a:solidFill>
                <a:latin typeface="Helvetica Neue"/>
              </a:rPr>
              <a:t>Embarrassed to be American? Pride in this country is essential, espec...</a:t>
            </a:r>
          </a:p>
        </p:txBody>
      </p:sp>
      <p:sp>
        <p:nvSpPr>
          <p:cNvPr id="18" name="Rectangle 17"/>
          <p:cNvSpPr/>
          <p:nvPr/>
        </p:nvSpPr>
        <p:spPr>
          <a:xfrm>
            <a:off x="6126480" y="3474720"/>
            <a:ext cx="5303520" cy="82296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6126480" y="3474720"/>
            <a:ext cx="54864" cy="822960"/>
          </a:xfrm>
          <a:prstGeom prst="rect">
            <a:avLst/>
          </a:prstGeom>
          <a:solidFill>
            <a:srgbClr val="99001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6309360" y="3566160"/>
            <a:ext cx="502920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000" b="1">
                <a:solidFill>
                  <a:srgbClr val="990011"/>
                </a:solidFill>
                <a:latin typeface="Helvetica Neue"/>
              </a:rPr>
              <a:t>#2  ·  FB  ·  797 views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309360" y="3858768"/>
            <a:ext cx="5029200" cy="4114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000" b="0">
                <a:solidFill>
                  <a:srgbClr val="141833"/>
                </a:solidFill>
                <a:latin typeface="Helvetica Neue"/>
              </a:rPr>
              <a:t>The World Cup is a massive moneymaker for FIFA, projected to generate $11 billion in profi</a:t>
            </a:r>
          </a:p>
        </p:txBody>
      </p:sp>
      <p:sp>
        <p:nvSpPr>
          <p:cNvPr id="22" name="Rectangle 21"/>
          <p:cNvSpPr/>
          <p:nvPr/>
        </p:nvSpPr>
        <p:spPr>
          <a:xfrm>
            <a:off x="6126480" y="4389120"/>
            <a:ext cx="5303520" cy="82296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6126480" y="4389120"/>
            <a:ext cx="54864" cy="822960"/>
          </a:xfrm>
          <a:prstGeom prst="rect">
            <a:avLst/>
          </a:prstGeom>
          <a:solidFill>
            <a:srgbClr val="99001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6309360" y="4480559"/>
            <a:ext cx="502920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000" b="1">
                <a:solidFill>
                  <a:srgbClr val="990011"/>
                </a:solidFill>
                <a:latin typeface="Helvetica Neue"/>
              </a:rPr>
              <a:t>#3  ·  IG  ·  726 views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309360" y="4773168"/>
            <a:ext cx="5029200" cy="4114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000" b="0">
                <a:solidFill>
                  <a:srgbClr val="141833"/>
                </a:solidFill>
                <a:latin typeface="Helvetica Neue"/>
              </a:rPr>
              <a:t>1968: A year of stark divisions. Hippie or not? For government or against? Revolution or s</a:t>
            </a:r>
          </a:p>
        </p:txBody>
      </p:sp>
      <p:sp>
        <p:nvSpPr>
          <p:cNvPr id="26" name="Rectangle 25"/>
          <p:cNvSpPr/>
          <p:nvPr/>
        </p:nvSpPr>
        <p:spPr>
          <a:xfrm>
            <a:off x="731520" y="5623560"/>
            <a:ext cx="10698480" cy="731520"/>
          </a:xfrm>
          <a:prstGeom prst="rect">
            <a:avLst/>
          </a:prstGeom>
          <a:solidFill>
            <a:srgbClr val="1418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914400" y="5715000"/>
            <a:ext cx="27432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000" b="1">
                <a:solidFill>
                  <a:srgbClr val="990011"/>
                </a:solidFill>
                <a:latin typeface="Helvetica Neue"/>
              </a:rPr>
              <a:t>RECOMMENDATION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914400" y="5943600"/>
            <a:ext cx="1051560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300" b="1">
                <a:solidFill>
                  <a:srgbClr val="FCF6F5"/>
                </a:solidFill>
                <a:latin typeface="Helvetica Neue"/>
              </a:rPr>
              <a:t>Modest reach. Fine as filler between heavy hitters, not a headline lane.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CF6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457200"/>
            <a:ext cx="1069848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200" b="1">
                <a:solidFill>
                  <a:srgbClr val="990011"/>
                </a:solidFill>
                <a:latin typeface="Helvetica Neue"/>
              </a:rPr>
              <a:t>CATEGORY DEEP-DIVE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822960"/>
            <a:ext cx="10698480" cy="8229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3000" b="1">
                <a:solidFill>
                  <a:srgbClr val="2F3C7E"/>
                </a:solidFill>
                <a:latin typeface="Georgia"/>
              </a:rPr>
              <a:t>Legislation &amp; Policy Watch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1600200"/>
            <a:ext cx="1069848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200" b="0">
                <a:solidFill>
                  <a:srgbClr val="6B7082"/>
                </a:solidFill>
                <a:latin typeface="Helvetica Neue"/>
              </a:rPr>
              <a:t>CA bills, propositions, HOA fights, wealth tax — policy commentary independent of candidates.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1691640"/>
            <a:ext cx="106984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900" b="1">
                <a:solidFill>
                  <a:srgbClr val="2F3C7E"/>
                </a:solidFill>
                <a:latin typeface="Helvetica Neue"/>
              </a:rPr>
              <a:t>AUDIENCE (theoretical): Slow-burn policy · Older (55+), civic-engaged</a:t>
            </a:r>
          </a:p>
        </p:txBody>
      </p:sp>
      <p:sp>
        <p:nvSpPr>
          <p:cNvPr id="7" name="Rectangle 6"/>
          <p:cNvSpPr/>
          <p:nvPr/>
        </p:nvSpPr>
        <p:spPr>
          <a:xfrm>
            <a:off x="731520" y="2194560"/>
            <a:ext cx="5029200" cy="32004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731520" y="2194560"/>
            <a:ext cx="91440" cy="3200400"/>
          </a:xfrm>
          <a:prstGeom prst="rect">
            <a:avLst/>
          </a:prstGeom>
          <a:solidFill>
            <a:srgbClr val="2F3C7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960120" y="2377440"/>
            <a:ext cx="457200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100" b="1">
                <a:solidFill>
                  <a:srgbClr val="2F3C7E"/>
                </a:solidFill>
                <a:latin typeface="Helvetica Neue"/>
              </a:rPr>
              <a:t>TOTAL VIEWS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60120" y="2697480"/>
            <a:ext cx="4572000" cy="10972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5400" b="1">
                <a:solidFill>
                  <a:srgbClr val="2F3C7E"/>
                </a:solidFill>
                <a:latin typeface="Georgia"/>
              </a:rPr>
              <a:t>6,192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60120" y="3840480"/>
            <a:ext cx="457200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300" b="1">
                <a:solidFill>
                  <a:srgbClr val="141833"/>
                </a:solidFill>
                <a:latin typeface="Helvetica Neue"/>
              </a:rPr>
              <a:t>13 posts · 77 likes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60120" y="4206240"/>
            <a:ext cx="457200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300" b="0">
                <a:solidFill>
                  <a:srgbClr val="6B7082"/>
                </a:solidFill>
                <a:latin typeface="Helvetica Neue"/>
              </a:rPr>
              <a:t>476 average views per post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126480" y="2194560"/>
            <a:ext cx="54864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100" b="1">
                <a:solidFill>
                  <a:srgbClr val="2F3C7E"/>
                </a:solidFill>
                <a:latin typeface="Helvetica Neue"/>
              </a:rPr>
              <a:t>TOP 3 IN THIS CATEGORY</a:t>
            </a:r>
          </a:p>
        </p:txBody>
      </p:sp>
      <p:sp>
        <p:nvSpPr>
          <p:cNvPr id="14" name="Rectangle 13"/>
          <p:cNvSpPr/>
          <p:nvPr/>
        </p:nvSpPr>
        <p:spPr>
          <a:xfrm>
            <a:off x="6126480" y="2560320"/>
            <a:ext cx="5303520" cy="82296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6126480" y="2560320"/>
            <a:ext cx="54864" cy="822960"/>
          </a:xfrm>
          <a:prstGeom prst="rect">
            <a:avLst/>
          </a:prstGeom>
          <a:solidFill>
            <a:srgbClr val="2F3C7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309360" y="2651760"/>
            <a:ext cx="502920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000" b="1">
                <a:solidFill>
                  <a:srgbClr val="2F3C7E"/>
                </a:solidFill>
                <a:latin typeface="Helvetica Neue"/>
              </a:rPr>
              <a:t>#1  ·  FB  ·  726 views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309360" y="2944368"/>
            <a:ext cx="5029200" cy="4114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000" b="0">
                <a:solidFill>
                  <a:srgbClr val="141833"/>
                </a:solidFill>
                <a:latin typeface="Helvetica Neue"/>
              </a:rPr>
              <a:t>Assembly Bill 1821 raises concerns about public records requests. While cities face costs </a:t>
            </a:r>
          </a:p>
        </p:txBody>
      </p:sp>
      <p:sp>
        <p:nvSpPr>
          <p:cNvPr id="18" name="Rectangle 17"/>
          <p:cNvSpPr/>
          <p:nvPr/>
        </p:nvSpPr>
        <p:spPr>
          <a:xfrm>
            <a:off x="6126480" y="3474720"/>
            <a:ext cx="5303520" cy="82296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6126480" y="3474720"/>
            <a:ext cx="54864" cy="822960"/>
          </a:xfrm>
          <a:prstGeom prst="rect">
            <a:avLst/>
          </a:prstGeom>
          <a:solidFill>
            <a:srgbClr val="2F3C7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6309360" y="3566160"/>
            <a:ext cx="502920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000" b="1">
                <a:solidFill>
                  <a:srgbClr val="2F3C7E"/>
                </a:solidFill>
                <a:latin typeface="Helvetica Neue"/>
              </a:rPr>
              <a:t>#2  ·  FB  ·  683 views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309360" y="3858768"/>
            <a:ext cx="5029200" cy="4114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000" b="0">
                <a:solidFill>
                  <a:srgbClr val="141833"/>
                </a:solidFill>
                <a:latin typeface="Helvetica Neue"/>
              </a:rPr>
              <a:t>Two significant legislative wins for HOAs and condo buyers. We successfully opposed a bill</a:t>
            </a:r>
          </a:p>
        </p:txBody>
      </p:sp>
      <p:sp>
        <p:nvSpPr>
          <p:cNvPr id="22" name="Rectangle 21"/>
          <p:cNvSpPr/>
          <p:nvPr/>
        </p:nvSpPr>
        <p:spPr>
          <a:xfrm>
            <a:off x="6126480" y="4389120"/>
            <a:ext cx="5303520" cy="82296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6126480" y="4389120"/>
            <a:ext cx="54864" cy="822960"/>
          </a:xfrm>
          <a:prstGeom prst="rect">
            <a:avLst/>
          </a:prstGeom>
          <a:solidFill>
            <a:srgbClr val="2F3C7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6309360" y="4480559"/>
            <a:ext cx="502920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000" b="1">
                <a:solidFill>
                  <a:srgbClr val="2F3C7E"/>
                </a:solidFill>
                <a:latin typeface="Helvetica Neue"/>
              </a:rPr>
              <a:t>#3  ·  IG  ·  665 views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309360" y="4773168"/>
            <a:ext cx="5029200" cy="4114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000" b="0">
                <a:solidFill>
                  <a:srgbClr val="141833"/>
                </a:solidFill>
                <a:latin typeface="Helvetica Neue"/>
              </a:rPr>
              <a:t>California's planning commission is in a bind. State laws like SB 9, AB 1893, and SB 79 ar</a:t>
            </a:r>
          </a:p>
        </p:txBody>
      </p:sp>
      <p:sp>
        <p:nvSpPr>
          <p:cNvPr id="26" name="Rectangle 25"/>
          <p:cNvSpPr/>
          <p:nvPr/>
        </p:nvSpPr>
        <p:spPr>
          <a:xfrm>
            <a:off x="731520" y="5623560"/>
            <a:ext cx="10698480" cy="731520"/>
          </a:xfrm>
          <a:prstGeom prst="rect">
            <a:avLst/>
          </a:prstGeom>
          <a:solidFill>
            <a:srgbClr val="1418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914400" y="5715000"/>
            <a:ext cx="27432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000" b="1">
                <a:solidFill>
                  <a:srgbClr val="2F3C7E"/>
                </a:solidFill>
                <a:latin typeface="Helvetica Neue"/>
              </a:rPr>
              <a:t>RECOMMENDATION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914400" y="5943600"/>
            <a:ext cx="1051560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300" b="1">
                <a:solidFill>
                  <a:srgbClr val="FCF6F5"/>
                </a:solidFill>
                <a:latin typeface="Helvetica Neue"/>
              </a:rPr>
              <a:t>Modest reach. Fine as filler between heavy hitters, not a headline lane.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CF6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457200"/>
            <a:ext cx="1069848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200" b="1">
                <a:solidFill>
                  <a:srgbClr val="990011"/>
                </a:solidFill>
                <a:latin typeface="Helvetica Neue"/>
              </a:rPr>
              <a:t>THE ASK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822960"/>
            <a:ext cx="10698480" cy="8229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3000" b="1">
                <a:solidFill>
                  <a:srgbClr val="2F3C7E"/>
                </a:solidFill>
                <a:latin typeface="Georgia"/>
              </a:rPr>
              <a:t>Where we recommend leaning in next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1600200"/>
            <a:ext cx="1069848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200" b="0">
                <a:solidFill>
                  <a:srgbClr val="6B7082"/>
                </a:solidFill>
                <a:latin typeface="Helvetica Neue"/>
              </a:rPr>
              <a:t>Three lanes that have proven reach + audience fit. Small bets get compound returns here.</a:t>
            </a:r>
          </a:p>
        </p:txBody>
      </p:sp>
      <p:sp>
        <p:nvSpPr>
          <p:cNvPr id="6" name="Rectangle 5"/>
          <p:cNvSpPr/>
          <p:nvPr/>
        </p:nvSpPr>
        <p:spPr>
          <a:xfrm>
            <a:off x="563727" y="1965960"/>
            <a:ext cx="3566160" cy="356616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563727" y="1965960"/>
            <a:ext cx="91440" cy="3566160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38047" y="2194560"/>
            <a:ext cx="30175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000" b="1">
                <a:solidFill>
                  <a:srgbClr val="C9A227"/>
                </a:solidFill>
                <a:latin typeface="Helvetica Neue"/>
              </a:rPr>
              <a:t>LEAN IN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38047" y="2468880"/>
            <a:ext cx="301752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600" b="1">
                <a:solidFill>
                  <a:srgbClr val="2F3C7E"/>
                </a:solidFill>
                <a:latin typeface="Georgia"/>
              </a:rPr>
              <a:t>Downtown Development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38047" y="3017520"/>
            <a:ext cx="301752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2600" b="1">
                <a:solidFill>
                  <a:srgbClr val="141833"/>
                </a:solidFill>
                <a:latin typeface="Georgia"/>
              </a:rPr>
              <a:t>51,024 views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38047" y="3383280"/>
            <a:ext cx="30175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000" b="0">
                <a:solidFill>
                  <a:srgbClr val="6B7082"/>
                </a:solidFill>
                <a:latin typeface="Helvetica Neue"/>
              </a:rPr>
              <a:t>20 posts · 2,551 avg views/post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38047" y="3840479"/>
            <a:ext cx="30175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900" b="1">
                <a:solidFill>
                  <a:srgbClr val="C9A227"/>
                </a:solidFill>
                <a:latin typeface="Helvetica Neue"/>
              </a:rPr>
              <a:t>AUDIENCE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38047" y="4069079"/>
            <a:ext cx="301752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000" b="0">
                <a:solidFill>
                  <a:srgbClr val="141833"/>
                </a:solidFill>
                <a:latin typeface="Helvetica Neue"/>
              </a:rPr>
              <a:t>Local civic pride · Downey residents 30+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38047" y="4617720"/>
            <a:ext cx="30175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900" b="1">
                <a:solidFill>
                  <a:srgbClr val="C9A227"/>
                </a:solidFill>
                <a:latin typeface="Helvetica Neue"/>
              </a:rPr>
              <a:t>WHY NOW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38047" y="4846320"/>
            <a:ext cx="3017520" cy="6400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000" b="0">
                <a:solidFill>
                  <a:srgbClr val="141833"/>
                </a:solidFill>
                <a:latin typeface="Helvetica Neue"/>
              </a:rPr>
              <a:t>Round One + Fun Box + Stonewood expansion = concrete stories in-hand. Downey residents share these hard.</a:t>
            </a:r>
          </a:p>
        </p:txBody>
      </p:sp>
      <p:sp>
        <p:nvSpPr>
          <p:cNvPr id="16" name="Rectangle 15"/>
          <p:cNvSpPr/>
          <p:nvPr/>
        </p:nvSpPr>
        <p:spPr>
          <a:xfrm>
            <a:off x="4312767" y="1965960"/>
            <a:ext cx="3566160" cy="356616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4312767" y="1965960"/>
            <a:ext cx="91440" cy="3566160"/>
          </a:xfrm>
          <a:prstGeom prst="rect">
            <a:avLst/>
          </a:prstGeom>
          <a:solidFill>
            <a:srgbClr val="1B7A4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4587087" y="2194560"/>
            <a:ext cx="30175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000" b="1">
                <a:solidFill>
                  <a:srgbClr val="1B7A43"/>
                </a:solidFill>
                <a:latin typeface="Helvetica Neue"/>
              </a:rPr>
              <a:t>LEAN IN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4587087" y="2468880"/>
            <a:ext cx="301752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600" b="1">
                <a:solidFill>
                  <a:srgbClr val="2F3C7E"/>
                </a:solidFill>
                <a:latin typeface="Georgia"/>
              </a:rPr>
              <a:t>Food &amp; Local Flavor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587087" y="3017520"/>
            <a:ext cx="301752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2600" b="1">
                <a:solidFill>
                  <a:srgbClr val="141833"/>
                </a:solidFill>
                <a:latin typeface="Georgia"/>
              </a:rPr>
              <a:t>99,197 views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4587087" y="3383280"/>
            <a:ext cx="30175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000" b="0">
                <a:solidFill>
                  <a:srgbClr val="6B7082"/>
                </a:solidFill>
                <a:latin typeface="Helvetica Neue"/>
              </a:rPr>
              <a:t>63 posts · 1,575 avg views/post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4587087" y="3840479"/>
            <a:ext cx="30175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900" b="1">
                <a:solidFill>
                  <a:srgbClr val="1B7A43"/>
                </a:solidFill>
                <a:latin typeface="Helvetica Neue"/>
              </a:rPr>
              <a:t>AUDIENCE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4587087" y="4069079"/>
            <a:ext cx="301752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000" b="0">
                <a:solidFill>
                  <a:srgbClr val="141833"/>
                </a:solidFill>
                <a:latin typeface="Helvetica Neue"/>
              </a:rPr>
              <a:t>Everyday appeal · Broad, skews Young (18-40) foodie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587087" y="4617720"/>
            <a:ext cx="30175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900" b="1">
                <a:solidFill>
                  <a:srgbClr val="1B7A43"/>
                </a:solidFill>
                <a:latin typeface="Helvetica Neue"/>
              </a:rPr>
              <a:t>WHY NOW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4587087" y="4846320"/>
            <a:ext cx="3017520" cy="6400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000" b="0">
                <a:solidFill>
                  <a:srgbClr val="141833"/>
                </a:solidFill>
                <a:latin typeface="Helvetica Neue"/>
              </a:rPr>
              <a:t>Pop's Wings alone did 7.7k views. Downey is food-curious. Easy content to produce, high engagement.</a:t>
            </a:r>
          </a:p>
        </p:txBody>
      </p:sp>
      <p:sp>
        <p:nvSpPr>
          <p:cNvPr id="26" name="Rectangle 25"/>
          <p:cNvSpPr/>
          <p:nvPr/>
        </p:nvSpPr>
        <p:spPr>
          <a:xfrm>
            <a:off x="8061807" y="1965960"/>
            <a:ext cx="3566160" cy="356616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Rectangle 26"/>
          <p:cNvSpPr/>
          <p:nvPr/>
        </p:nvSpPr>
        <p:spPr>
          <a:xfrm>
            <a:off x="8061807" y="1965960"/>
            <a:ext cx="91440" cy="3566160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8336127" y="2194560"/>
            <a:ext cx="30175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000" b="1">
                <a:solidFill>
                  <a:srgbClr val="C9A227"/>
                </a:solidFill>
                <a:latin typeface="Helvetica Neue"/>
              </a:rPr>
              <a:t>LEAN IN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8336127" y="2468880"/>
            <a:ext cx="301752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600" b="1">
                <a:solidFill>
                  <a:srgbClr val="2F3C7E"/>
                </a:solidFill>
                <a:latin typeface="Georgia"/>
              </a:rPr>
              <a:t>Military Service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8336127" y="3017520"/>
            <a:ext cx="301752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2600" b="1">
                <a:solidFill>
                  <a:srgbClr val="141833"/>
                </a:solidFill>
                <a:latin typeface="Georgia"/>
              </a:rPr>
              <a:t>92,638 views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8336127" y="3383280"/>
            <a:ext cx="30175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000" b="0">
                <a:solidFill>
                  <a:srgbClr val="6B7082"/>
                </a:solidFill>
                <a:latin typeface="Helvetica Neue"/>
              </a:rPr>
              <a:t>34 posts · 2,725 avg views/post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8336127" y="3840479"/>
            <a:ext cx="30175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900" b="1">
                <a:solidFill>
                  <a:srgbClr val="C9A227"/>
                </a:solidFill>
                <a:latin typeface="Helvetica Neue"/>
              </a:rPr>
              <a:t>AUDIENCE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8336127" y="4069079"/>
            <a:ext cx="301752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000" b="0">
                <a:solidFill>
                  <a:srgbClr val="141833"/>
                </a:solidFill>
                <a:latin typeface="Helvetica Neue"/>
              </a:rPr>
              <a:t>Traditional / patriotic · Middle (40-55) + Older (55+), veterans + families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8336127" y="4617720"/>
            <a:ext cx="30175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900" b="1">
                <a:solidFill>
                  <a:srgbClr val="C9A227"/>
                </a:solidFill>
                <a:latin typeface="Helvetica Neue"/>
              </a:rPr>
              <a:t>WHY NOW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8336127" y="4846320"/>
            <a:ext cx="3017520" cy="6400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000" b="0">
                <a:solidFill>
                  <a:srgbClr val="141833"/>
                </a:solidFill>
                <a:latin typeface="Helvetica Neue"/>
              </a:rPr>
              <a:t>13 posts already at 2,930 avg — punches above weight. Underserved audience with high emotional pull.</a:t>
            </a:r>
          </a:p>
        </p:txBody>
      </p:sp>
      <p:sp>
        <p:nvSpPr>
          <p:cNvPr id="36" name="Rectangle 35"/>
          <p:cNvSpPr/>
          <p:nvPr/>
        </p:nvSpPr>
        <p:spPr>
          <a:xfrm>
            <a:off x="731520" y="5806440"/>
            <a:ext cx="10698480" cy="777240"/>
          </a:xfrm>
          <a:prstGeom prst="rect">
            <a:avLst/>
          </a:prstGeom>
          <a:solidFill>
            <a:srgbClr val="1418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914400" y="5897880"/>
            <a:ext cx="73152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000" b="1">
                <a:solidFill>
                  <a:srgbClr val="C9A227"/>
                </a:solidFill>
                <a:latin typeface="Helvetica Neue"/>
              </a:rPr>
              <a:t>THE COMPOUNDING BET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914400" y="6172200"/>
            <a:ext cx="10515600" cy="4114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100" b="1">
                <a:solidFill>
                  <a:srgbClr val="FCF6F5"/>
                </a:solidFill>
                <a:latin typeface="Helvetica Neue"/>
              </a:rPr>
              <a:t>These three lanes serve different audiences (18-40 foodie · 30+ residents · 40+ veterans). Investing in all three widens the audience without diluting any one lane.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CF6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457200"/>
            <a:ext cx="1069848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200" b="1">
                <a:solidFill>
                  <a:srgbClr val="990011"/>
                </a:solidFill>
                <a:latin typeface="Helvetica Neue"/>
              </a:rPr>
              <a:t>STRATEGIC CONTEXT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822960"/>
            <a:ext cx="10698480" cy="8229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3000" b="1">
                <a:solidFill>
                  <a:srgbClr val="2F3C7E"/>
                </a:solidFill>
                <a:latin typeface="Georgia"/>
              </a:rPr>
              <a:t>Why we still cover the lower-view lanes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1600200"/>
            <a:ext cx="1069848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200" b="0">
                <a:solidFill>
                  <a:srgbClr val="6B7082"/>
                </a:solidFill>
                <a:latin typeface="Helvetica Neue"/>
              </a:rPr>
              <a:t>Not every category needs to top the leaderboard. Here's why the quieter buckets earn their spend.</a:t>
            </a:r>
          </a:p>
        </p:txBody>
      </p:sp>
      <p:sp>
        <p:nvSpPr>
          <p:cNvPr id="6" name="Rectangle 5"/>
          <p:cNvSpPr/>
          <p:nvPr/>
        </p:nvSpPr>
        <p:spPr>
          <a:xfrm>
            <a:off x="563727" y="2194560"/>
            <a:ext cx="3566160" cy="329184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563727" y="2194560"/>
            <a:ext cx="91440" cy="3291840"/>
          </a:xfrm>
          <a:prstGeom prst="rect">
            <a:avLst/>
          </a:prstGeom>
          <a:solidFill>
            <a:srgbClr val="1B7A4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38047" y="2423160"/>
            <a:ext cx="301752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000" b="1">
                <a:solidFill>
                  <a:srgbClr val="1B7A43"/>
                </a:solidFill>
                <a:latin typeface="Helvetica Neue"/>
              </a:rPr>
              <a:t>REASON 1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38047" y="2743200"/>
            <a:ext cx="301752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400" b="1">
                <a:solidFill>
                  <a:srgbClr val="2F3C7E"/>
                </a:solidFill>
                <a:latin typeface="Georgia"/>
              </a:rPr>
              <a:t>NEW AUDIENCE ACQUISITION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38047" y="3291839"/>
            <a:ext cx="3017520" cy="5486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300" b="1">
                <a:solidFill>
                  <a:srgbClr val="141833"/>
                </a:solidFill>
                <a:latin typeface="Helvetica Neue"/>
              </a:rPr>
              <a:t>Scandal brings viewers. Positive content KEEPS them.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38047" y="3931920"/>
            <a:ext cx="3017520" cy="1463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000" b="0">
                <a:solidFill>
                  <a:srgbClr val="6B7082"/>
                </a:solidFill>
                <a:latin typeface="Helvetica Neue"/>
              </a:rPr>
              <a:t>Without community coverage, viewers churn after 3-4 controversy spikes. They came for drama, they leave because they don't feel connection to Downey itself.</a:t>
            </a:r>
          </a:p>
        </p:txBody>
      </p:sp>
      <p:sp>
        <p:nvSpPr>
          <p:cNvPr id="12" name="Rectangle 11"/>
          <p:cNvSpPr/>
          <p:nvPr/>
        </p:nvSpPr>
        <p:spPr>
          <a:xfrm>
            <a:off x="4312767" y="2194560"/>
            <a:ext cx="3566160" cy="329184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4312767" y="2194560"/>
            <a:ext cx="91440" cy="3291840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4587087" y="2423160"/>
            <a:ext cx="301752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000" b="1">
                <a:solidFill>
                  <a:srgbClr val="C9A227"/>
                </a:solidFill>
                <a:latin typeface="Helvetica Neue"/>
              </a:rPr>
              <a:t>REASON 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587087" y="2743200"/>
            <a:ext cx="301752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400" b="1">
                <a:solidFill>
                  <a:srgbClr val="2F3C7E"/>
                </a:solidFill>
                <a:latin typeface="Georgia"/>
              </a:rPr>
              <a:t>EDITORIAL CREDIBILITY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587087" y="3291839"/>
            <a:ext cx="3017520" cy="5486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300" b="1">
                <a:solidFill>
                  <a:srgbClr val="141833"/>
                </a:solidFill>
                <a:latin typeface="Helvetica Neue"/>
              </a:rPr>
              <a:t>A show that only reports negatives becomes a hit piece.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587087" y="3931920"/>
            <a:ext cx="3017520" cy="1463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000" b="0">
                <a:solidFill>
                  <a:srgbClr val="6B7082"/>
                </a:solidFill>
                <a:latin typeface="Helvetica Neue"/>
              </a:rPr>
              <a:t>Sponsors don't want to attach to a hit piece. Positive coverage — resident highlights, downtown growth, community wins — proves objectivity. That's what makes sponsorship durable.</a:t>
            </a:r>
          </a:p>
        </p:txBody>
      </p:sp>
      <p:sp>
        <p:nvSpPr>
          <p:cNvPr id="18" name="Rectangle 17"/>
          <p:cNvSpPr/>
          <p:nvPr/>
        </p:nvSpPr>
        <p:spPr>
          <a:xfrm>
            <a:off x="8061807" y="2194560"/>
            <a:ext cx="3566160" cy="329184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8061807" y="2194560"/>
            <a:ext cx="91440" cy="3291840"/>
          </a:xfrm>
          <a:prstGeom prst="rect">
            <a:avLst/>
          </a:prstGeom>
          <a:solidFill>
            <a:srgbClr val="2E86A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8336127" y="2423160"/>
            <a:ext cx="301752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000" b="1">
                <a:solidFill>
                  <a:srgbClr val="2E86AB"/>
                </a:solidFill>
                <a:latin typeface="Helvetica Neue"/>
              </a:rPr>
              <a:t>REASON 3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8336127" y="2743200"/>
            <a:ext cx="301752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400" b="1">
                <a:solidFill>
                  <a:srgbClr val="2F3C7E"/>
                </a:solidFill>
                <a:latin typeface="Georgia"/>
              </a:rPr>
              <a:t>ALGORITHMIC HEALTH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336127" y="3291839"/>
            <a:ext cx="3017520" cy="5486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300" b="1">
                <a:solidFill>
                  <a:srgbClr val="141833"/>
                </a:solidFill>
                <a:latin typeface="Helvetica Neue"/>
              </a:rPr>
              <a:t>Platforms punish single-topic accounts.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8336127" y="3931920"/>
            <a:ext cx="3017520" cy="1463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000" b="0">
                <a:solidFill>
                  <a:srgbClr val="6B7082"/>
                </a:solidFill>
                <a:latin typeface="Helvetica Neue"/>
              </a:rPr>
              <a:t>Instagram, TikTok, and YouTube increasingly penalize accounts that push one theme. A mixed content diet earns more consistent reach across ALL posts, including the scandal ones. Diversification pays.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731520" y="6263640"/>
            <a:ext cx="1069848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200" b="1">
                <a:solidFill>
                  <a:srgbClr val="141833"/>
                </a:solidFill>
                <a:latin typeface="Helvetica Neue"/>
              </a:rPr>
              <a:t>Low-view lanes aren't dead weight. They're the connective tissue that turns viral reach into a durable audience.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CF6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457200"/>
            <a:ext cx="1069848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200" b="1">
                <a:solidFill>
                  <a:srgbClr val="990011"/>
                </a:solidFill>
                <a:latin typeface="Helvetica Neue"/>
              </a:rPr>
              <a:t>THE HONEST TRADEOFF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822960"/>
            <a:ext cx="10698480" cy="8229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3000" b="1">
                <a:solidFill>
                  <a:srgbClr val="2F3C7E"/>
                </a:solidFill>
                <a:latin typeface="Georgia"/>
              </a:rPr>
              <a:t>Reach vs. depth — what each side actually buys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1600200"/>
            <a:ext cx="1069848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200" b="0">
                <a:solidFill>
                  <a:srgbClr val="6B7082"/>
                </a:solidFill>
                <a:latin typeface="Helvetica Neue"/>
              </a:rPr>
              <a:t>This isn't a Downey problem. It's how every social platform works. The question is the RATIO, not the choice.</a:t>
            </a:r>
          </a:p>
        </p:txBody>
      </p:sp>
      <p:sp>
        <p:nvSpPr>
          <p:cNvPr id="6" name="Rectangle 5"/>
          <p:cNvSpPr/>
          <p:nvPr/>
        </p:nvSpPr>
        <p:spPr>
          <a:xfrm>
            <a:off x="563727" y="2103120"/>
            <a:ext cx="5303520" cy="36576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563727" y="2103120"/>
            <a:ext cx="91440" cy="3657600"/>
          </a:xfrm>
          <a:prstGeom prst="rect">
            <a:avLst/>
          </a:prstGeom>
          <a:solidFill>
            <a:srgbClr val="99001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38047" y="2286000"/>
            <a:ext cx="475488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100" b="1">
                <a:solidFill>
                  <a:srgbClr val="990011"/>
                </a:solidFill>
                <a:latin typeface="Helvetica Neue"/>
              </a:rPr>
              <a:t>WHAT EARNS EYEBALLS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38047" y="2651760"/>
            <a:ext cx="475488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2000" b="1">
                <a:solidFill>
                  <a:srgbClr val="2F3C7E"/>
                </a:solidFill>
                <a:latin typeface="Georgia"/>
              </a:rPr>
              <a:t>Truth &amp; Scandal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38047" y="3154679"/>
            <a:ext cx="475488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100" b="1">
                <a:solidFill>
                  <a:srgbClr val="141833"/>
                </a:solidFill>
                <a:latin typeface="Helvetica Neue"/>
              </a:rPr>
              <a:t>2,523 avg views/post   ·   35 posts   ·   88,312 total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38047" y="3611879"/>
            <a:ext cx="475488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900" b="1">
                <a:solidFill>
                  <a:srgbClr val="990011"/>
                </a:solidFill>
                <a:latin typeface="Helvetica Neue"/>
              </a:rPr>
              <a:t>TOP POST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38047" y="3931920"/>
            <a:ext cx="4754880" cy="5486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000" b="0">
                <a:solidFill>
                  <a:srgbClr val="141833"/>
                </a:solidFill>
                <a:latin typeface="Helvetica Neue"/>
              </a:rPr>
              <a:t>9,839 views — Grew up in Huntington Park and still own property there. The city's o.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38047" y="4663440"/>
            <a:ext cx="4754880" cy="10058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000" b="0">
                <a:solidFill>
                  <a:srgbClr val="6B7082"/>
                </a:solidFill>
                <a:latin typeface="Helvetica Neue"/>
              </a:rPr>
              <a:t>Every scandal post averages 3-5× the reach of positive posts. This is the platform algorithm, not Downey. Outrage drives comments, comments drive reach, reach drives new followers.</a:t>
            </a:r>
          </a:p>
        </p:txBody>
      </p:sp>
      <p:sp>
        <p:nvSpPr>
          <p:cNvPr id="14" name="Rectangle 13"/>
          <p:cNvSpPr/>
          <p:nvPr/>
        </p:nvSpPr>
        <p:spPr>
          <a:xfrm>
            <a:off x="6324447" y="2103120"/>
            <a:ext cx="5303520" cy="36576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6324447" y="2103120"/>
            <a:ext cx="91440" cy="3657600"/>
          </a:xfrm>
          <a:prstGeom prst="rect">
            <a:avLst/>
          </a:prstGeom>
          <a:solidFill>
            <a:srgbClr val="2E86A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598767" y="2286000"/>
            <a:ext cx="475488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100" b="1">
                <a:solidFill>
                  <a:srgbClr val="2E86AB"/>
                </a:solidFill>
                <a:latin typeface="Helvetica Neue"/>
              </a:rPr>
              <a:t>WHAT EARNS LOYALTY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598767" y="2651760"/>
            <a:ext cx="475488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2000" b="1">
                <a:solidFill>
                  <a:srgbClr val="2F3C7E"/>
                </a:solidFill>
                <a:latin typeface="Georgia"/>
              </a:rPr>
              <a:t>Everything else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598767" y="3154679"/>
            <a:ext cx="475488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100" b="1">
                <a:solidFill>
                  <a:srgbClr val="141833"/>
                </a:solidFill>
                <a:latin typeface="Helvetica Neue"/>
              </a:rPr>
              <a:t>1,264 avg views/post   ·   200 posts   ·   252,755 total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598767" y="3611879"/>
            <a:ext cx="475488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900" b="1">
                <a:solidFill>
                  <a:srgbClr val="2E86AB"/>
                </a:solidFill>
                <a:latin typeface="Helvetica Neue"/>
              </a:rPr>
              <a:t>TOP POST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598767" y="3931920"/>
            <a:ext cx="4754880" cy="5486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000" b="0">
                <a:solidFill>
                  <a:srgbClr val="141833"/>
                </a:solidFill>
                <a:latin typeface="Helvetica Neue"/>
              </a:rPr>
              <a:t>29,200 views — Get ready! Round One is taking over the old Sears at Stonewood Mall. T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598767" y="4663440"/>
            <a:ext cx="4754880" cy="10058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000" b="0">
                <a:solidFill>
                  <a:srgbClr val="6B7082"/>
                </a:solidFill>
                <a:latin typeface="Helvetica Neue"/>
              </a:rPr>
              <a:t>Positive posts get fewer views per post — but they turn viewers into subscribers. Loyalty compounds. It's slower, but it's the audience the sponsor's brand actually attaches to.</a:t>
            </a:r>
          </a:p>
        </p:txBody>
      </p:sp>
      <p:sp>
        <p:nvSpPr>
          <p:cNvPr id="22" name="Rectangle 21"/>
          <p:cNvSpPr/>
          <p:nvPr/>
        </p:nvSpPr>
        <p:spPr>
          <a:xfrm>
            <a:off x="731520" y="5989320"/>
            <a:ext cx="10698480" cy="548640"/>
          </a:xfrm>
          <a:prstGeom prst="rect">
            <a:avLst/>
          </a:prstGeom>
          <a:solidFill>
            <a:srgbClr val="1418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914400" y="6126480"/>
            <a:ext cx="1051560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300" b="1">
                <a:solidFill>
                  <a:srgbClr val="FCF6F5"/>
                </a:solidFill>
                <a:latin typeface="Helvetica Neue"/>
              </a:rPr>
              <a:t>Both matter. The real question isn't which lane wins — it's the RATIO between them.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CF6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457200"/>
            <a:ext cx="1069848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200" b="1">
                <a:solidFill>
                  <a:srgbClr val="990011"/>
                </a:solidFill>
                <a:latin typeface="Helvetica Neue"/>
              </a:rPr>
              <a:t>THREE DIRECTIONS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822960"/>
            <a:ext cx="10698480" cy="8229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3000" b="1">
                <a:solidFill>
                  <a:srgbClr val="2F3C7E"/>
                </a:solidFill>
                <a:latin typeface="Georgia"/>
              </a:rPr>
              <a:t>How aggressive do we lean, and toward what?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1600200"/>
            <a:ext cx="1069848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200" b="0">
                <a:solidFill>
                  <a:srgbClr val="6B7082"/>
                </a:solidFill>
                <a:latin typeface="Helvetica Neue"/>
              </a:rPr>
              <a:t>Each direction is a defensible choice. Each has a cost. The right one depends on what the sponsor wants Talking Downey to BE.</a:t>
            </a:r>
          </a:p>
        </p:txBody>
      </p:sp>
      <p:sp>
        <p:nvSpPr>
          <p:cNvPr id="6" name="Rectangle 5"/>
          <p:cNvSpPr/>
          <p:nvPr/>
        </p:nvSpPr>
        <p:spPr>
          <a:xfrm>
            <a:off x="540867" y="1874519"/>
            <a:ext cx="3611880" cy="370332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540867" y="1874519"/>
            <a:ext cx="91440" cy="3703320"/>
          </a:xfrm>
          <a:prstGeom prst="rect">
            <a:avLst/>
          </a:prstGeom>
          <a:solidFill>
            <a:srgbClr val="99001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15187" y="2057400"/>
            <a:ext cx="306324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900" b="1">
                <a:solidFill>
                  <a:srgbClr val="990011"/>
                </a:solidFill>
                <a:latin typeface="Helvetica Neue"/>
              </a:rPr>
              <a:t>DIRECTION 1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15187" y="2331720"/>
            <a:ext cx="306324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400" b="1">
                <a:solidFill>
                  <a:srgbClr val="2F3C7E"/>
                </a:solidFill>
                <a:latin typeface="Georgia"/>
              </a:rPr>
              <a:t>MAXIMUM REACH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15187" y="2715768"/>
            <a:ext cx="3063240" cy="5486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900" b="1">
                <a:solidFill>
                  <a:srgbClr val="6B7082"/>
                </a:solidFill>
                <a:latin typeface="Helvetica Neue"/>
              </a:rPr>
              <a:t>60% scandal / 40% positive filler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15187" y="3291839"/>
            <a:ext cx="3063240" cy="25603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900" b="1">
                <a:solidFill>
                  <a:srgbClr val="990011"/>
                </a:solidFill>
                <a:latin typeface="Helvetica Neue"/>
              </a:rPr>
              <a:t>WINS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15187" y="3547872"/>
            <a:ext cx="3063240" cy="7315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000" b="0">
                <a:solidFill>
                  <a:srgbClr val="141833"/>
                </a:solidFill>
                <a:latin typeface="Helvetica Neue"/>
              </a:rPr>
              <a:t>Bigger view numbers.
More new audience per week.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15187" y="4297679"/>
            <a:ext cx="3063240" cy="25603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900" b="1">
                <a:solidFill>
                  <a:srgbClr val="6B7082"/>
                </a:solidFill>
                <a:latin typeface="Helvetica Neue"/>
              </a:rPr>
              <a:t>COSTS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15187" y="4553712"/>
            <a:ext cx="3063240" cy="7772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000" b="0">
                <a:solidFill>
                  <a:srgbClr val="6B7082"/>
                </a:solidFill>
                <a:latin typeface="Helvetica Neue"/>
              </a:rPr>
              <a:t>Higher churn. Editorial credibility risk. Sponsor-brand risk if scandal target sues or spirals.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15187" y="4983479"/>
            <a:ext cx="3063240" cy="25603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900" b="1">
                <a:solidFill>
                  <a:srgbClr val="990011"/>
                </a:solidFill>
                <a:latin typeface="Helvetica Neue"/>
              </a:rPr>
              <a:t>PICK IF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15187" y="5239512"/>
            <a:ext cx="306324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900" b="0">
                <a:solidFill>
                  <a:srgbClr val="141833"/>
                </a:solidFill>
                <a:latin typeface="Helvetica Neue"/>
              </a:rPr>
              <a:t>You want raw growth numbers to show the sponsor month-over-month.</a:t>
            </a:r>
          </a:p>
        </p:txBody>
      </p:sp>
      <p:sp>
        <p:nvSpPr>
          <p:cNvPr id="17" name="Rectangle 16"/>
          <p:cNvSpPr/>
          <p:nvPr/>
        </p:nvSpPr>
        <p:spPr>
          <a:xfrm>
            <a:off x="4289907" y="1874519"/>
            <a:ext cx="3611880" cy="370332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4289907" y="1874519"/>
            <a:ext cx="91440" cy="3703320"/>
          </a:xfrm>
          <a:prstGeom prst="rect">
            <a:avLst/>
          </a:prstGeom>
          <a:solidFill>
            <a:srgbClr val="2E86A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564227" y="2057400"/>
            <a:ext cx="306324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900" b="1">
                <a:solidFill>
                  <a:srgbClr val="2E86AB"/>
                </a:solidFill>
                <a:latin typeface="Helvetica Neue"/>
              </a:rPr>
              <a:t>DIRECTION 2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564227" y="2331720"/>
            <a:ext cx="306324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400" b="1">
                <a:solidFill>
                  <a:srgbClr val="2F3C7E"/>
                </a:solidFill>
                <a:latin typeface="Georgia"/>
              </a:rPr>
              <a:t>BALANCED PORTFOLIO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4564227" y="2715768"/>
            <a:ext cx="3063240" cy="5486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900" b="1">
                <a:solidFill>
                  <a:srgbClr val="6B7082"/>
                </a:solidFill>
                <a:latin typeface="Helvetica Neue"/>
              </a:rPr>
              <a:t>40% investigative / 40% positive / 20% community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4564227" y="3291839"/>
            <a:ext cx="3063240" cy="25603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900" b="1">
                <a:solidFill>
                  <a:srgbClr val="2E86AB"/>
                </a:solidFill>
                <a:latin typeface="Helvetica Neue"/>
              </a:rPr>
              <a:t>WINS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4564227" y="3547872"/>
            <a:ext cx="3063240" cy="7315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000" b="0">
                <a:solidFill>
                  <a:srgbClr val="141833"/>
                </a:solidFill>
                <a:latin typeface="Helvetica Neue"/>
              </a:rPr>
              <a:t>Sustainable growth.
Credibility intact.
Both audiences served.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564227" y="4297679"/>
            <a:ext cx="3063240" cy="25603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900" b="1">
                <a:solidFill>
                  <a:srgbClr val="6B7082"/>
                </a:solidFill>
                <a:latin typeface="Helvetica Neue"/>
              </a:rPr>
              <a:t>COSTS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4564227" y="4553712"/>
            <a:ext cx="3063240" cy="7772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000" b="0">
                <a:solidFill>
                  <a:srgbClr val="6B7082"/>
                </a:solidFill>
                <a:latin typeface="Helvetica Neue"/>
              </a:rPr>
              <a:t>Slower month-over-month reach curve. Requires editorial discipline to hold the ratio.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4564227" y="4983479"/>
            <a:ext cx="3063240" cy="25603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900" b="1">
                <a:solidFill>
                  <a:srgbClr val="2E86AB"/>
                </a:solidFill>
                <a:latin typeface="Helvetica Neue"/>
              </a:rPr>
              <a:t>PICK IF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4564227" y="5239512"/>
            <a:ext cx="306324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900" b="0">
                <a:solidFill>
                  <a:srgbClr val="141833"/>
                </a:solidFill>
                <a:latin typeface="Helvetica Neue"/>
              </a:rPr>
              <a:t>You want a durable show that a sponsor can attach to long-term.</a:t>
            </a:r>
          </a:p>
        </p:txBody>
      </p:sp>
      <p:sp>
        <p:nvSpPr>
          <p:cNvPr id="28" name="Rectangle 27"/>
          <p:cNvSpPr/>
          <p:nvPr/>
        </p:nvSpPr>
        <p:spPr>
          <a:xfrm>
            <a:off x="8038947" y="1874519"/>
            <a:ext cx="3611880" cy="370332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Rectangle 28"/>
          <p:cNvSpPr/>
          <p:nvPr/>
        </p:nvSpPr>
        <p:spPr>
          <a:xfrm>
            <a:off x="8038947" y="1874519"/>
            <a:ext cx="91440" cy="3703320"/>
          </a:xfrm>
          <a:prstGeom prst="rect">
            <a:avLst/>
          </a:prstGeom>
          <a:solidFill>
            <a:srgbClr val="1B7A4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8313267" y="2057400"/>
            <a:ext cx="306324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900" b="1">
                <a:solidFill>
                  <a:srgbClr val="1B7A43"/>
                </a:solidFill>
                <a:latin typeface="Helvetica Neue"/>
              </a:rPr>
              <a:t>DIRECTION 3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8313267" y="2331720"/>
            <a:ext cx="306324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400" b="1">
                <a:solidFill>
                  <a:srgbClr val="2F3C7E"/>
                </a:solidFill>
                <a:latin typeface="Georgia"/>
              </a:rPr>
              <a:t>POSITIVE-LEAN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8313267" y="2715768"/>
            <a:ext cx="3063240" cy="5486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900" b="1">
                <a:solidFill>
                  <a:srgbClr val="6B7082"/>
                </a:solidFill>
                <a:latin typeface="Helvetica Neue"/>
              </a:rPr>
              <a:t>20% scandal / 60% positive / 20% community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8313267" y="3291839"/>
            <a:ext cx="3063240" cy="25603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900" b="1">
                <a:solidFill>
                  <a:srgbClr val="1B7A43"/>
                </a:solidFill>
                <a:latin typeface="Helvetica Neue"/>
              </a:rPr>
              <a:t>WINS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8313267" y="3547872"/>
            <a:ext cx="3063240" cy="7315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000" b="0">
                <a:solidFill>
                  <a:srgbClr val="141833"/>
                </a:solidFill>
                <a:latin typeface="Helvetica Neue"/>
              </a:rPr>
              <a:t>Community-cheerleader positioning.
Safe sponsor territory.
High trust.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8313267" y="4297679"/>
            <a:ext cx="3063240" cy="25603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900" b="1">
                <a:solidFill>
                  <a:srgbClr val="6B7082"/>
                </a:solidFill>
                <a:latin typeface="Helvetica Neue"/>
              </a:rPr>
              <a:t>COSTS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8313267" y="4553712"/>
            <a:ext cx="3063240" cy="7772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000" b="0">
                <a:solidFill>
                  <a:srgbClr val="6B7082"/>
                </a:solidFill>
                <a:latin typeface="Helvetica Neue"/>
              </a:rPr>
              <a:t>Lowest total reach. Loses the scandal-hungry audience over time. Harder to attract new eyeballs.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8313267" y="4983479"/>
            <a:ext cx="3063240" cy="25603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900" b="1">
                <a:solidFill>
                  <a:srgbClr val="1B7A43"/>
                </a:solidFill>
                <a:latin typeface="Helvetica Neue"/>
              </a:rPr>
              <a:t>PICK IF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8313267" y="5239512"/>
            <a:ext cx="306324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900" b="0">
                <a:solidFill>
                  <a:srgbClr val="141833"/>
                </a:solidFill>
                <a:latin typeface="Helvetica Neue"/>
              </a:rPr>
              <a:t>You want to position Talking Downey as Downey's booster, not its watchdog.</a:t>
            </a:r>
          </a:p>
        </p:txBody>
      </p:sp>
      <p:sp>
        <p:nvSpPr>
          <p:cNvPr id="39" name="Rectangle 38"/>
          <p:cNvSpPr/>
          <p:nvPr/>
        </p:nvSpPr>
        <p:spPr>
          <a:xfrm>
            <a:off x="731520" y="5852160"/>
            <a:ext cx="10698480" cy="777240"/>
          </a:xfrm>
          <a:prstGeom prst="rect">
            <a:avLst/>
          </a:prstGeom>
          <a:solidFill>
            <a:srgbClr val="1418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TextBox 39"/>
          <p:cNvSpPr txBox="1"/>
          <p:nvPr/>
        </p:nvSpPr>
        <p:spPr>
          <a:xfrm>
            <a:off x="914400" y="5943600"/>
            <a:ext cx="73152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000" b="1">
                <a:solidFill>
                  <a:srgbClr val="2E86AB"/>
                </a:solidFill>
                <a:latin typeface="Helvetica Neue"/>
              </a:rPr>
              <a:t>IF BRAND IMAGE MATTERS AS MUCH AS REACH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914400" y="6217920"/>
            <a:ext cx="10515600" cy="4114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100" b="1">
                <a:solidFill>
                  <a:srgbClr val="FCF6F5"/>
                </a:solidFill>
                <a:latin typeface="Helvetica Neue"/>
              </a:rPr>
              <a:t>The Balanced Portfolio best fits Talking Downey today — preserves scandal reach while showing the depth sponsors attach to comfortably.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