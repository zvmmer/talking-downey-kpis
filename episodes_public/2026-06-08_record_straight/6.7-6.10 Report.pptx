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990011"/>
            </a:solidFill>
          </c:spPr>
          <c:cat>
            <c:strRef>
              <c:f>Sheet1!$A$2:$A$5</c:f>
              <c:strCache>
                <c:ptCount val="4"/>
                <c:pt idx="0">
                  <c:v>Instagram</c:v>
                </c:pt>
                <c:pt idx="1">
                  <c:v>TikTok</c:v>
                </c:pt>
                <c:pt idx="2">
                  <c:v>Facebook</c:v>
                </c:pt>
                <c:pt idx="3">
                  <c:v>YouTube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304.6</c:v>
                </c:pt>
                <c:pt idx="1">
                  <c:v>35.6</c:v>
                </c:pt>
                <c:pt idx="2">
                  <c:v>259.5</c:v>
                </c:pt>
                <c:pt idx="3">
                  <c:v>125.0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1400" b="1">
                  <a:solidFill>
                    <a:srgbClr val="2F3C7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90011"/>
                </a:solidFill>
                <a:latin typeface="Helvetica Neue"/>
              </a:rPr>
              <a:t>KPI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CF6F5"/>
                </a:solidFill>
                <a:latin typeface="Georgia"/>
              </a:rPr>
              <a:t>Setting the Record Straight: I Was Forced to Respond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Posted: 2026-06-08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52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Snapshots captured: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FROM JUN 8 (MON) TO JUN 9 (TUE)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F3C7E"/>
                </a:solidFill>
                <a:latin typeface="Georgia"/>
              </a:rPr>
              <a:t>Your social posts are growing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Total views across every recent post on each platform — before (Jun 8 (Mon)) compared to now (Jun 9 (Tue)).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867" y="23774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867" y="2377440"/>
            <a:ext cx="73152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907" y="2651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07" y="30632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F3C7E"/>
                </a:solidFill>
                <a:latin typeface="Georgia"/>
              </a:rPr>
              <a:t>13,765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4206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907" y="4617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+10,363 views (+305%)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907" y="5120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all recent Reels &amp; posts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5627" y="23774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5627" y="2377440"/>
            <a:ext cx="73152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667" y="2651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TIKTOK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667" y="30632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F3C7E"/>
                </a:solidFill>
                <a:latin typeface="Georgia"/>
              </a:rPr>
              <a:t>2,792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667" y="4206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667" y="4617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+733 views (+36%)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5667" y="5120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all recent clips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0387" y="2377440"/>
            <a:ext cx="35204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0387" y="2377440"/>
            <a:ext cx="73152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0427" y="2651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0427" y="306324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F3C7E"/>
                </a:solidFill>
                <a:latin typeface="Georgia"/>
              </a:rPr>
              <a:t>8,646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0427" y="4206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0427" y="4617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  <a:latin typeface="Helvetica Neue"/>
              </a:rPr>
              <a:t>+6,241 views (+260%)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0427" y="5120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across all recent Page posts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Every social platform is climbing — your posting is moving the numbers, not just sitting there.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2"/>
                </a:solidFill>
                <a:latin typeface="Helvetica Neue"/>
              </a:rPr>
              <a:t>(YouTube episode also grew: 120 → 270 views, +125%)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Every platform grew by double or triple digits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Growth in total views per platform from Jun 8 (Mon) to Jun 9 (Tue). The taller the bar, the bigger the jump.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6984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four platforms are climbing in the first 24 hours. Coordinated posting works — and these numbers are still climbing.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INSTAGRAM — REELS &amp;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Growth across recent Reels &amp;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990011"/>
                </a:solidFill>
                <a:latin typeface="Helvetica Neue"/>
              </a:rPr>
              <a:t>TOTAL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200" b="1">
                <a:solidFill>
                  <a:srgbClr val="990011"/>
                </a:solidFill>
                <a:latin typeface="Georgia"/>
              </a:rPr>
              <a:t>+10,363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views  ·  +305%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10 Reels &amp; posts tracked across snapshots. Day-1 launch post highlighted in cherry.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98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2316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2316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4231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5768"/>
            <a:ext cx="1069848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15768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278892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807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80720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Responded to your yapping, Downey! This one's to answer the last two shows. Woul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80720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711 → 2,264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072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+1,553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280720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99815"/>
            <a:ext cx="1069848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99815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" y="317296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19125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19125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Mayor asks gang members to fight ICE. Federal investigation. Public disgrace. A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1912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2,022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19125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+2,022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532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57530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Giving second chances, even when everyone objects. In programs for drugs and men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575303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807 → 900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357530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532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867911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3959351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From civil and workman's comp attorney to prosecutor. Ready to learn family law,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3959351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752 → 848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395935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2532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4343399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Cultural exchange builds better societies. It combats tech's dark side &amp; boosts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434339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663 → 748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4343399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36008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47274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5648" y="472744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Politicians promised change on ICE, but delivered little. Real policy change req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47274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469 → 617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472744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+148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5328" y="47274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" y="509320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511149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511149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A woman's outburst at a city council meeting, repeatedly warned by the mayor, 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9248" y="511149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5,293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511149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+5,293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25328" y="511149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+78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404104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" y="5477256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49554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5495544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Mr. Trujillo felt embarrassed to be American. When asked abroad, he claimed to 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549554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788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549554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+788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25328" y="549554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your Reels &amp; posts on this platform together gained 10,363 more views — that's +305% growth in 24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TIKTOK — CLIP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Growth across recent clips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990011"/>
                </a:solidFill>
                <a:latin typeface="Helvetica Neue"/>
              </a:rPr>
              <a:t>TOTAL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200" b="1">
                <a:solidFill>
                  <a:srgbClr val="990011"/>
                </a:solidFill>
                <a:latin typeface="Georgia"/>
              </a:rPr>
              <a:t>+733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views  ·  +36%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5 clips tracked across snapshots. Day-1 launch post highlighted in cherry.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98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2316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2316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4231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5768"/>
            <a:ext cx="1069848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15768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278892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807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80720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Responding to your yapping, Downey! Big things are happening. This is...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80720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293 → 803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072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+510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280720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99815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319125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Politicians' promises often fall short. Real change needs honesty &amp; e...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1912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1,193 → 1,269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319125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57530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Giving second chances: Even when probation objects, a judge can offer...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575303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246 → 305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57530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532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867911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55648" y="3959351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Bridging cultures: The secret weapon against tech's dark side and a p...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3959351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169 → 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95935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532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343399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From civil law to prosecution, this attorney brings a unique blend of...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434339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158 → 201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4343399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2532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+1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your clips on this platform together gained 733 more views — that's +36% growth in 24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FACEBOOK — PAGE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Growth across recent Page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48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990011"/>
                </a:solidFill>
                <a:latin typeface="Helvetica Neue"/>
              </a:rPr>
              <a:t>TOTAL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200" b="1">
                <a:solidFill>
                  <a:srgbClr val="990011"/>
                </a:solidFill>
                <a:latin typeface="Georgia"/>
              </a:rPr>
              <a:t>+6,241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082"/>
                </a:solidFill>
                <a:latin typeface="Helvetica Neue"/>
              </a:rPr>
              <a:t>views  ·  +260%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2"/>
                </a:solidFill>
                <a:latin typeface="Helvetica Neue"/>
              </a:rPr>
              <a:t>10 Page posts tracked across snapshots. Day-1 launch post highlighted in cherry.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98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2316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2316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VIEWS (WAS →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4231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CF6F5"/>
                </a:solidFill>
                <a:latin typeface="Helvetica Neue"/>
              </a:rPr>
              <a:t>MORE LIKES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15768"/>
            <a:ext cx="1069848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15768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2788920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807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80720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I felt compelled to respond after listening to recent discussions. He acknowledg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80720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259 → 949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072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280720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99815"/>
            <a:ext cx="1069848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99815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" y="317296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19125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19125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A mayor's controversial call for gang members to confront ICE sparked a federal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1912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981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19125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+981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5328" y="319125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57530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575303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1,255 → 1,323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357530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5328" y="3575303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867911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3959351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The promises made by politicians often fall short, especially concerning policie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3959351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643 → 712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395935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25328" y="3959351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4343399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Sometimes, despite objections, it's important to give someone a chance. Through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434339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248 → 278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4343399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4343399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36008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47274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2"/>
                </a:solidFill>
                <a:latin typeface="Helvetica Neue"/>
              </a:rPr>
              <a:t>#6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5648" y="4727448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I wish politicians were honest with us, the public ! #stopthepromises #wedeserve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47274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0 →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472744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5328" y="47274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" y="5093208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511149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5111496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Tensions flared at the city council meeting as a woman repeatedly defied the 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9248" y="511149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3,857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511149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+3,857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25328" y="511149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404104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" y="5477256"/>
            <a:ext cx="685800" cy="23774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49554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5495544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Hearing someone say they're embarrassed to be American is disheartening. Mr. Tru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549554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just posted → 341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549554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+341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25328" y="549554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833"/>
                </a:solidFill>
                <a:latin typeface="Helvetica Neue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90011"/>
                </a:solidFill>
                <a:latin typeface="Helvetica Neue"/>
              </a:rPr>
              <a:t>TAKEAWAY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833"/>
                </a:solidFill>
                <a:latin typeface="Helvetica Neue"/>
              </a:rPr>
              <a:t>All your Page posts on this platform together gained 6,241 more views — that's +260% growth in 24 hours.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082"/>
                </a:solidFill>
                <a:latin typeface="Helvetica Neue"/>
              </a:rPr>
              <a:t>Facebook hides like/comment counts at the public layer — only view counts are publicly visible. With API access this fills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REAL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F3C7E"/>
                </a:solidFill>
                <a:latin typeface="Georgia"/>
              </a:rPr>
              <a:t>Honest take — what worked,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WHAT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Posting 3 clips on launch day moved the numbers — hard. Every platform climbed double or triple digits.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Coordinated push from one editor pulled real growth, not just busywork. This proves the engagement model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THE HONEST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We came out swinging — used the strongest, most click-worthy clips on Day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7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That worked. But it also means I'm running low on top-shelf material for the rest of this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833"/>
                </a:solidFill>
                <a:latin typeface="Helvetica Neue"/>
              </a:rPr>
              <a:t>—  Before this, the workflow was 1 clip at a time to test the waters. Safer — but the numbers were smaller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0011"/>
                </a:solidFill>
                <a:latin typeface="Helvetica Neue"/>
              </a:rPr>
              <a:t>TWO WAYS WE CAN GO FROM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73152" cy="15544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Georgia"/>
              </a:rPr>
              <a:t>OPTION A — Steady 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2 posts a day across the week. A steady rhythm, easier to keep up. Smaller spikes — but the channel stays alive every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572000"/>
            <a:ext cx="5303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572000"/>
            <a:ext cx="73152" cy="15544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Georgia"/>
              </a:rPr>
              <a:t>OPTION B — Big Monday, smart content rest of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41833"/>
                </a:solidFill>
                <a:latin typeface="Helvetica Neue"/>
              </a:rPr>
              <a:t>Punch hard the day a new episode drops (3–4 headline clips). The rest of the week: post informational, value-driven content — stuff that doesn't chase virality but funnels people into the show and builds long-term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3C7E"/>
                </a:solidFill>
                <a:latin typeface="Georgia"/>
              </a:rPr>
              <a:t>Either way: this week's numbers prove we can deliver. Now it's about finding the right mix — spice when we want a spike, substance to keep the audience between episodes.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Give me view-only access so reports are richer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CF6F5"/>
                </a:solidFill>
                <a:latin typeface="Helvetica Neue"/>
              </a:rPr>
              <a:t>These numbers came from public scraping. With view-only access to the Page and IG insights, you get much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WHAT I NEED FROM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Add me to the Facebook Page with the “Insights”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Add me to Instagram with view-only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(That’s it — about 30 minutes, once)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I can’t post, edit, or change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0011"/>
                </a:solidFill>
                <a:latin typeface="Helvetica Neue"/>
              </a:rPr>
              <a:t>WHAT YOU GET IN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Real watch time per video (not just view counts)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112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Where viewers come from (search, suggested, shared)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Audience details — age, location,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F6F5"/>
                </a:solidFill>
                <a:latin typeface="Helvetica Neue"/>
              </a:rPr>
              <a:t>—  Automatic reports — 24 hours, 72 hours, 1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CF6F5"/>
                </a:solidFill>
                <a:latin typeface="Helvetica Neue"/>
              </a:rPr>
              <a:t>TIME 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~30 minutes,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CF6F5"/>
                </a:solidFill>
                <a:latin typeface="Helvetica Neue"/>
              </a:rPr>
              <a:t>ONGOING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$0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