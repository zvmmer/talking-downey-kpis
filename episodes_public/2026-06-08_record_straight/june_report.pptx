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Instagram</c:v>
                </c:pt>
              </c:strCache>
            </c:strRef>
          </c:tx>
          <c:spPr>
            <a:ln w="31750">
              <a:solidFill>
                <a:srgbClr val="990011"/>
              </a:solidFill>
            </a:ln>
          </c:spPr>
          <c:cat>
            <c:strRef>
              <c:f>Sheet1!$A$2:$A$5</c:f>
              <c:strCache>
                <c:ptCount val="4"/>
                <c:pt idx="0">
                  <c:v>Jun 8 (Mon)</c:v>
                </c:pt>
                <c:pt idx="1">
                  <c:v>Jun 9 (Tue)</c:v>
                </c:pt>
                <c:pt idx="2">
                  <c:v>Jul 17 (Fri)</c:v>
                </c:pt>
                <c:pt idx="3">
                  <c:v>Jul 17 (Fri)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7654</c:v>
                </c:pt>
                <c:pt idx="1">
                  <c:v>13765</c:v>
                </c:pt>
                <c:pt idx="2">
                  <c:v>42440</c:v>
                </c:pt>
                <c:pt idx="3">
                  <c:v>42450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TikTok</c:v>
                </c:pt>
              </c:strCache>
            </c:strRef>
          </c:tx>
          <c:spPr>
            <a:ln w="31750">
              <a:solidFill>
                <a:srgbClr val="2F3C7E"/>
              </a:solidFill>
            </a:ln>
          </c:spPr>
          <c:cat>
            <c:strRef>
              <c:f>Sheet1!$A$2:$A$5</c:f>
              <c:strCache>
                <c:ptCount val="4"/>
                <c:pt idx="0">
                  <c:v>Jun 8 (Mon)</c:v>
                </c:pt>
                <c:pt idx="1">
                  <c:v>Jun 9 (Tue)</c:v>
                </c:pt>
                <c:pt idx="2">
                  <c:v>Jul 17 (Fri)</c:v>
                </c:pt>
                <c:pt idx="3">
                  <c:v>Jul 17 (Fri)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2059</c:v>
                </c:pt>
                <c:pt idx="1">
                  <c:v>2792</c:v>
                </c:pt>
                <c:pt idx="2">
                  <c:v>41257</c:v>
                </c:pt>
                <c:pt idx="3">
                  <c:v>41257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Facebook</c:v>
                </c:pt>
              </c:strCache>
            </c:strRef>
          </c:tx>
          <c:spPr>
            <a:ln w="31750">
              <a:solidFill>
                <a:srgbClr val="6B7082"/>
              </a:solidFill>
            </a:ln>
          </c:spPr>
          <c:cat>
            <c:strRef>
              <c:f>Sheet1!$A$2:$A$5</c:f>
              <c:strCache>
                <c:ptCount val="4"/>
                <c:pt idx="0">
                  <c:v>Jun 8 (Mon)</c:v>
                </c:pt>
                <c:pt idx="1">
                  <c:v>Jun 9 (Tue)</c:v>
                </c:pt>
                <c:pt idx="2">
                  <c:v>Jul 17 (Fri)</c:v>
                </c:pt>
                <c:pt idx="3">
                  <c:v>Jul 17 (Fri)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2855</c:v>
                </c:pt>
                <c:pt idx="1">
                  <c:v>8646</c:v>
                </c:pt>
                <c:pt idx="2">
                  <c:v>24335</c:v>
                </c:pt>
                <c:pt idx="3">
                  <c:v>24335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Growth %</c:v>
                </c:pt>
              </c:strCache>
            </c:strRef>
          </c:tx>
          <c:spPr>
            <a:solidFill>
              <a:srgbClr val="990011"/>
            </a:solidFill>
          </c:spPr>
          <c:cat>
            <c:strRef>
              <c:f>Sheet1!$A$2:$A$5</c:f>
              <c:strCache>
                <c:ptCount val="4"/>
                <c:pt idx="0">
                  <c:v>Instagram*</c:v>
                </c:pt>
                <c:pt idx="1">
                  <c:v>TikTok*</c:v>
                </c:pt>
                <c:pt idx="2">
                  <c:v>Facebook*</c:v>
                </c:pt>
                <c:pt idx="3">
                  <c:v>YouTube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44.1</c:v>
                </c:pt>
                <c:pt idx="1">
                  <c:v>306.4</c:v>
                </c:pt>
                <c:pt idx="2">
                  <c:v>365.3</c:v>
                </c:pt>
                <c:pt idx="3">
                  <c:v>553.3</c:v>
                </c:pt>
              </c:numCache>
            </c:numRef>
          </c:val>
        </c:ser>
        <c:dLbls>
          <c:numFmt formatCode="+0&quot;%&quot;;-0&quot;%&quot;;0&quot;%&quot;" sourceLinked="0"/>
          <c:txPr>
            <a:bodyPr/>
            <a:lstStyle/>
            <a:p>
              <a:pPr>
                <a:defRPr sz="1400" b="1">
                  <a:solidFill>
                    <a:srgbClr val="2F3C7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990011"/>
                </a:solidFill>
                <a:latin typeface="Helvetica Neue"/>
              </a:rPr>
              <a:t>JUNE 2026 PERFORMANCE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Georgia"/>
              </a:rPr>
              <a:t>Talking Downey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>
                <a:solidFill>
                  <a:srgbClr val="FCF6F5"/>
                </a:solidFill>
                <a:latin typeface="Georgia"/>
              </a:rPr>
              <a:t>16-Day Progress Report — Social Media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Tracking period: Jun 8 – Jun 24,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7 measurement points across 16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4 platforms: Instagram · TikTok · Facebook · YouTube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Prepared by Zhamir Pascual — 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THE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Content volume — before vs.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Same brand, same audience — completely different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990011"/>
                </a:solidFill>
                <a:latin typeface="Georgia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2F3C7E"/>
                </a:solidFill>
                <a:latin typeface="Helvetica Neue"/>
              </a:rPr>
              <a:t>posts across 3 platforms in 16 days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887" y="4572000"/>
            <a:ext cx="5029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887" y="4572000"/>
            <a:ext cx="73152" cy="1645920"/>
          </a:xfrm>
          <a:prstGeom prst="rect">
            <a:avLst/>
          </a:prstGeom>
          <a:solidFill>
            <a:srgbClr val="6B7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5207" y="4754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6B7082"/>
                </a:solidFill>
                <a:latin typeface="Helvetica Neue"/>
              </a:rPr>
              <a:t>BEFORE JUN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207" y="50749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41833"/>
                </a:solidFill>
                <a:latin typeface="Helvetica Neue"/>
              </a:rPr>
              <a:t>~0 posts/week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207" y="55778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B7082"/>
                </a:solidFill>
                <a:latin typeface="Helvetica Neue"/>
              </a:rPr>
              <a:t>0 posts in data  ·  Sporadic posting  ·  No coordinated strategy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61607" y="4572000"/>
            <a:ext cx="5029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61607" y="4572000"/>
            <a:ext cx="73152" cy="16459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5927" y="4754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90011"/>
                </a:solidFill>
                <a:latin typeface="Helvetica Neue"/>
              </a:rPr>
              <a:t>SINCE JUN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5927" y="50749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990011"/>
                </a:solidFill>
                <a:latin typeface="Helvetica Neue"/>
              </a:rPr>
              <a:t>~44 posts/week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55778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B7082"/>
                </a:solidFill>
                <a:latin typeface="Helvetica Neue"/>
              </a:rPr>
              <a:t>100 posts  ·  2-3 per day  ·  IG + TT + FB coordinated daily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BEFORE vs. SINCE I JOINED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More output AND more reach per post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Their older posts had weeks to accumulate views. My posts are days old — and still pulling more per post.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867" y="2103120"/>
            <a:ext cx="352044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867" y="2103120"/>
            <a:ext cx="73152" cy="41148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187" y="23317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INSTAGRAM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187" y="274320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600" b="1">
                <a:solidFill>
                  <a:srgbClr val="2F3C7E"/>
                </a:solidFill>
                <a:latin typeface="Georgia"/>
              </a:rPr>
              <a:t>1.4×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187" y="37947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B7082"/>
                </a:solidFill>
                <a:latin typeface="Helvetica Neue"/>
              </a:rPr>
              <a:t>more views per post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5187" y="4206240"/>
            <a:ext cx="2971800" cy="13716"/>
          </a:xfrm>
          <a:prstGeom prst="rect">
            <a:avLst/>
          </a:prstGeom>
          <a:solidFill>
            <a:srgbClr val="E2D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187" y="434340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082"/>
                </a:solidFill>
                <a:latin typeface="Helvetica Neue"/>
              </a:rPr>
              <a:t>BEFORE I JOINED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187" y="46177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41833"/>
                </a:solidFill>
                <a:latin typeface="Helvetica Neue"/>
              </a:rPr>
              <a:t>834 views avg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187" y="49377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(18 posts, weeks old)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187" y="530352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990011"/>
                </a:solidFill>
                <a:latin typeface="Helvetica Neue"/>
              </a:rPr>
              <a:t>SINCE I JOINED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187" y="55778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990011"/>
                </a:solidFill>
                <a:latin typeface="Helvetica Neue"/>
              </a:rPr>
              <a:t>1,201 views avg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187" y="589788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(86 posts, days old)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5627" y="2103120"/>
            <a:ext cx="352044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5627" y="2103120"/>
            <a:ext cx="73152" cy="41148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9947" y="23317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TIKTOK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9947" y="274320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600" b="1">
                <a:solidFill>
                  <a:srgbClr val="2F3C7E"/>
                </a:solidFill>
                <a:latin typeface="Georgia"/>
              </a:rPr>
              <a:t>4.1×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9947" y="37947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B7082"/>
                </a:solidFill>
                <a:latin typeface="Helvetica Neue"/>
              </a:rPr>
              <a:t>more views per post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09947" y="4206240"/>
            <a:ext cx="2971800" cy="13716"/>
          </a:xfrm>
          <a:prstGeom prst="rect">
            <a:avLst/>
          </a:prstGeom>
          <a:solidFill>
            <a:srgbClr val="E2D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9947" y="434340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082"/>
                </a:solidFill>
                <a:latin typeface="Helvetica Neue"/>
              </a:rPr>
              <a:t>BEFORE I JOINED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9947" y="46177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41833"/>
                </a:solidFill>
                <a:latin typeface="Helvetica Neue"/>
              </a:rPr>
              <a:t>564 views avg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9947" y="49377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(17 posts, weeks old)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9947" y="530352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990011"/>
                </a:solidFill>
                <a:latin typeface="Helvetica Neue"/>
              </a:rPr>
              <a:t>SINCE I JOINED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9947" y="55778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990011"/>
                </a:solidFill>
                <a:latin typeface="Helvetica Neue"/>
              </a:rPr>
              <a:t>2,293 views avg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9947" y="589788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(77 posts, days old)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0387" y="2103120"/>
            <a:ext cx="352044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0387" y="2103120"/>
            <a:ext cx="73152" cy="41148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04707" y="23317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FACEBOOK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4707" y="274320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600" b="1">
                <a:solidFill>
                  <a:srgbClr val="2F3C7E"/>
                </a:solidFill>
                <a:latin typeface="Georgia"/>
              </a:rPr>
              <a:t>4.7×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4707" y="37947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B7082"/>
                </a:solidFill>
                <a:latin typeface="Helvetica Neue"/>
              </a:rPr>
              <a:t>more views per post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04707" y="4206240"/>
            <a:ext cx="2971800" cy="13716"/>
          </a:xfrm>
          <a:prstGeom prst="rect">
            <a:avLst/>
          </a:prstGeom>
          <a:solidFill>
            <a:srgbClr val="E2D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04707" y="434340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082"/>
                </a:solidFill>
                <a:latin typeface="Helvetica Neue"/>
              </a:rPr>
              <a:t>BEFORE I JOINED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4707" y="46177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41833"/>
                </a:solidFill>
                <a:latin typeface="Helvetica Neue"/>
              </a:rPr>
              <a:t>206 views avg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4707" y="49377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(18 posts, weeks old)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04707" y="530352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990011"/>
                </a:solidFill>
                <a:latin typeface="Helvetica Neue"/>
              </a:rPr>
              <a:t>SINCE I JOINED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04707" y="55778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990011"/>
                </a:solidFill>
                <a:latin typeface="Helvetica Neue"/>
              </a:rPr>
              <a:t>958 views avg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4707" y="589788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(93 posts, days old)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Same audience. Same brand. Different editor. More reach per post — every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WEEK 1 — DENSE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3C7E"/>
                </a:solidFill>
                <a:latin typeface="Georgia"/>
              </a:rPr>
              <a:t>Jun 8–13: 4 snapshots in 5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We measured every 1-2 days in the first week to catch the initial growth trajectory.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2103120"/>
          <a:ext cx="1069848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990011"/>
                </a:solidFill>
                <a:latin typeface="Helvetica Neue"/>
              </a:rPr>
              <a:t>WEEK 1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All three social platforms climbed steadily through the first week. This wasn't a one-day spike — the numbers kept moving with every new post.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TWO WEEKS IN — JUN 24 CHECK-IN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3C7E"/>
                </a:solidFill>
                <a:latin typeface="Georgia"/>
              </a:rPr>
              <a:t>The growth held — this wasn't a one-week sugar rush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Comparing Jun 8 (Mon) (Day 1) to Jul 11 (Sat) (today) — total views across all tracked posts per platform.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2103120"/>
          <a:ext cx="64008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21031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90011"/>
                </a:solidFill>
                <a:latin typeface="Helvetica Neue"/>
              </a:rPr>
              <a:t>ABSOLUTE NUMBERS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2514600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2514600"/>
            <a:ext cx="54864" cy="6858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560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990011"/>
                </a:solidFill>
                <a:latin typeface="Helvetica Neue"/>
              </a:rPr>
              <a:t>INSTAGRAM (est.)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8346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~15,004 avg/post → ~103,286 avg/post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3291840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3291840"/>
            <a:ext cx="54864" cy="6858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337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990011"/>
                </a:solidFill>
                <a:latin typeface="Helvetica Neue"/>
              </a:rPr>
              <a:t>TIKTOK (est.)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6118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~9,594 avg/post → ~176,583 avg/post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4069080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4069080"/>
            <a:ext cx="54864" cy="6858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4114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990011"/>
                </a:solidFill>
                <a:latin typeface="Helvetica Neue"/>
              </a:rPr>
              <a:t>FACEBOOK (est.)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3891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~3,707 avg/post → ~89,120 avg/post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4846320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0" y="4846320"/>
            <a:ext cx="54864" cy="6858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4892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990011"/>
                </a:solidFill>
                <a:latin typeface="Helvetica Neue"/>
              </a:rPr>
              <a:t>YOUTUBE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16635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120 → 784 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990011"/>
                </a:solidFill>
                <a:latin typeface="Helvetica Neue"/>
              </a:rPr>
              <a:t>WEEK 2 TAKEAWAY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Every platform is still climbing after 16 days. Consistent posting keeps the momentum — the audience is building, not just spiking. *Facebook uses per-post avg growth (posts rotated out between snapshots).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CONTENT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What topics perform — 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Average views per post across IG + TT + FB since Jun 8. Higher = more reach per piece of content.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447" y="2103120"/>
            <a:ext cx="260604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447" y="2103120"/>
            <a:ext cx="54864" cy="36576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327" y="22860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990011"/>
                </a:solidFill>
                <a:latin typeface="Helvetica Neue"/>
              </a:rPr>
              <a:t>POLITICAL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2606039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>
                <a:solidFill>
                  <a:srgbClr val="2F3C7E"/>
                </a:solidFill>
                <a:latin typeface="Georgia"/>
              </a:rPr>
              <a:t>1,764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327" y="34290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avg views/post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327" y="3749039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41833"/>
                </a:solidFill>
                <a:latin typeface="Helvetica Neue"/>
              </a:rPr>
              <a:t>44 posts · 77,609 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327" y="4114800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990011"/>
                </a:solidFill>
                <a:latin typeface="Helvetica Neue"/>
              </a:rPr>
              <a:t>TOP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327" y="434340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41833"/>
                </a:solidFill>
                <a:latin typeface="Helvetica Neue"/>
              </a:rPr>
              <a:t>9,839 views — Grew up in Huntington Park and still own property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327" y="5212079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Council, Trujillo, judicial, elections — the engine.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8367" y="2103120"/>
            <a:ext cx="260604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8367" y="2103120"/>
            <a:ext cx="54864" cy="36576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1247" y="22860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990011"/>
                </a:solidFill>
                <a:latin typeface="Helvetica Neue"/>
              </a:rPr>
              <a:t>FIFA / WORLD CUP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1247" y="2606039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>
                <a:solidFill>
                  <a:srgbClr val="2F3C7E"/>
                </a:solidFill>
                <a:latin typeface="Georgia"/>
              </a:rPr>
              <a:t>1,201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1247" y="34290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avg views/post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1247" y="3749039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41833"/>
                </a:solidFill>
                <a:latin typeface="Helvetica Neue"/>
              </a:rPr>
              <a:t>20 posts · 24,028 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1247" y="4114800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990011"/>
                </a:solidFill>
                <a:latin typeface="Helvetica Neue"/>
              </a:rPr>
              <a:t>TOP 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1247" y="434340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41833"/>
                </a:solidFill>
                <a:latin typeface="Helvetica Neue"/>
              </a:rPr>
              <a:t>6,053 views — World Cup profits hit $11 billion for FIFA, potent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1247" y="5212079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Opportunistic — works when real moments hit.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7287" y="2103120"/>
            <a:ext cx="260604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7287" y="2103120"/>
            <a:ext cx="54864" cy="36576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0167" y="22860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990011"/>
                </a:solidFill>
                <a:latin typeface="Helvetica Neue"/>
              </a:rPr>
              <a:t>FOOD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167" y="2606039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>
                <a:solidFill>
                  <a:srgbClr val="2F3C7E"/>
                </a:solidFill>
                <a:latin typeface="Georgia"/>
              </a:rPr>
              <a:t>1,290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34290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avg views/post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0167" y="3749039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41833"/>
                </a:solidFill>
                <a:latin typeface="Helvetica Neue"/>
              </a:rPr>
              <a:t>34 posts · 43,856 total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0167" y="4114800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990011"/>
                </a:solidFill>
                <a:latin typeface="Helvetica Neue"/>
              </a:rPr>
              <a:t>TOP 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0167" y="434340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41833"/>
                </a:solidFill>
                <a:latin typeface="Helvetica Neue"/>
              </a:rPr>
              <a:t>13,600 views — Mama Lu's is coming to Downey! Asian community fav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0167" y="5212079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New lane — still ramping up.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76207" y="2103120"/>
            <a:ext cx="260604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76207" y="2103120"/>
            <a:ext cx="54864" cy="36576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59087" y="22860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990011"/>
                </a:solidFill>
                <a:latin typeface="Helvetica Neue"/>
              </a:rPr>
              <a:t>COMMUNITY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9087" y="2606039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>
                <a:solidFill>
                  <a:srgbClr val="2F3C7E"/>
                </a:solidFill>
                <a:latin typeface="Georgia"/>
              </a:rPr>
              <a:t>4,037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9087" y="34290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avg views/post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59087" y="3749039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41833"/>
                </a:solidFill>
                <a:latin typeface="Helvetica Neue"/>
              </a:rPr>
              <a:t>26 posts · 104,973 total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59087" y="4114800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990011"/>
                </a:solidFill>
                <a:latin typeface="Helvetica Neue"/>
              </a:rPr>
              <a:t>TOP POST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59087" y="434340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41833"/>
                </a:solidFill>
                <a:latin typeface="Helvetica Neue"/>
              </a:rPr>
              <a:t>29,200 views — Get ready! Round One is taking over the old Sears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59087" y="5212079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Downey local — steady mid-tier.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990011"/>
                </a:solidFill>
                <a:latin typeface="Helvetica Neue"/>
              </a:rPr>
              <a:t>RECOMMENDATION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Political content is the clear engine — ~2× the reach of any other category. FIFA is opportunistic and strong when moments hit. Food is the newest lane, still growing. Community is reliable mid-tier filler between the heavy hitters.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BREAKOUT POSTS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3C7E"/>
                </a:solidFill>
                <a:latin typeface="Georgia"/>
              </a:rPr>
              <a:t>Top performing content since Jun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Ranked by views across all platforms. These posts prove the audience is there — you just have to feed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155680" cy="475488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134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134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31343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31343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31343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LIKES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23134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CATEGORY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70048"/>
            <a:ext cx="54864" cy="475488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889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78892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Combat jobs aren't for everyone. See how your MOS determines deploymen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7889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33,400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7889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2,122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27889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Other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45536"/>
            <a:ext cx="11155680" cy="475488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145536"/>
            <a:ext cx="54864" cy="475488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2644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2644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326440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Get ready! Round One is taking over the old Sears at Stonewood Mall. 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2644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29,200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2644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2,513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2644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Community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621024"/>
            <a:ext cx="54864" cy="475488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7398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7398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373989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Watch party in Stonewood Mall! Over 25,000 people showed up for this 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73989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26,300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73989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781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37398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Community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096512"/>
            <a:ext cx="11155680" cy="475488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2153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2153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IG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4215384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25,000+ people gathered for a watch party at Stonewood Mall! Despite 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421538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15,536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421538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259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0" y="42153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Community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6908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46908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94560" y="469087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Grew up in Huntington Park and still own property there. The city's 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469087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9,839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469087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548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98480" y="46908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Political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047488"/>
            <a:ext cx="11155680" cy="475488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16635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5166359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94560" y="5166359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Pop's Wings just opened and it's a must-try! Their pastrami sandwich 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5166359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7,698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5166359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377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98480" y="5166359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Other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6418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" y="56418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IG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94560" y="564184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A woman's outburst at a city council meeting, repeatedly warned by the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79" y="564184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7,031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564184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93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98480" y="56418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Political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998464"/>
            <a:ext cx="11155680" cy="475488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61173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" y="611733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FB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94560" y="611733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After admitting 'I messed up,' a city councilman's inappropriate condu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5279" y="61173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6,363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0" y="61173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42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98480" y="611733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Political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Political content dominates the top spots. But community stories (Round One, Stonewood) show the audience cares about Downey life, not just controversy.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2560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Georgia"/>
              </a:rPr>
              <a:t>16 days of public data got us this 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FCF6F5"/>
                </a:solidFill>
                <a:latin typeface="Helvetica Neue"/>
              </a:rPr>
              <a:t>With view-only insights access, the next report includes watch time, retention, demographics, and traffic sources.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WHAT I NEED FROM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—  Add me to the Facebook Page with the 'Insights'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1129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—  Add me to Instagram with view-only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—  About 30 minutes of setup, 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3308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—  I can't post, edit, or change anything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34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WHAT THE NEXT REPORT INCLUDES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2004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—  Real watch time per video (not just view counts)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51129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—  Where viewers come from (search, suggested, shared)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822191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—  Audience demographics — age, location, devices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13308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—  Automated weekly reports with richer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CF6F5"/>
                </a:solidFill>
                <a:latin typeface="Helvetica Neue"/>
              </a:rPr>
              <a:t>TIME COMMITMENT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eorgia"/>
              </a:rPr>
              <a:t>~30 minutes, once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663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CF6F5"/>
                </a:solidFill>
                <a:latin typeface="Helvetica Neue"/>
              </a:rPr>
              <a:t>ONGOING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02920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eorgia"/>
              </a:rPr>
              <a:t>$0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