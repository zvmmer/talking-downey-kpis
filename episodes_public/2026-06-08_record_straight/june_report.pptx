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</c:v>
                </c:pt>
              </c:strCache>
            </c:strRef>
          </c:tx>
          <c:spPr>
            <a:ln w="31750">
              <a:solidFill>
                <a:srgbClr val="990011"/>
              </a:solidFill>
            </a:ln>
          </c:spPr>
          <c:cat>
            <c:strRef>
              <c:f>Sheet1!$A$2:$A$5</c:f>
              <c:strCache>
                <c:ptCount val="4"/>
                <c:pt idx="0">
                  <c:v>Jun 8 (Mon)</c:v>
                </c:pt>
                <c:pt idx="1">
                  <c:v>Jun 9 (Tue)</c:v>
                </c:pt>
                <c:pt idx="2">
                  <c:v>Jun 11 (Thu)</c:v>
                </c:pt>
                <c:pt idx="3">
                  <c:v>Jun 12 (Fri)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7654</c:v>
                </c:pt>
                <c:pt idx="1">
                  <c:v>13765</c:v>
                </c:pt>
                <c:pt idx="2">
                  <c:v>23045</c:v>
                </c:pt>
                <c:pt idx="3">
                  <c:v>42034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TikTok</c:v>
                </c:pt>
              </c:strCache>
            </c:strRef>
          </c:tx>
          <c:spPr>
            <a:ln w="31750">
              <a:solidFill>
                <a:srgbClr val="2F3C7E"/>
              </a:solidFill>
            </a:ln>
          </c:spPr>
          <c:cat>
            <c:strRef>
              <c:f>Sheet1!$A$2:$A$5</c:f>
              <c:strCache>
                <c:ptCount val="4"/>
                <c:pt idx="0">
                  <c:v>Jun 8 (Mon)</c:v>
                </c:pt>
                <c:pt idx="1">
                  <c:v>Jun 9 (Tue)</c:v>
                </c:pt>
                <c:pt idx="2">
                  <c:v>Jun 11 (Thu)</c:v>
                </c:pt>
                <c:pt idx="3">
                  <c:v>Jun 12 (Fri)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2059</c:v>
                </c:pt>
                <c:pt idx="1">
                  <c:v>2792</c:v>
                </c:pt>
                <c:pt idx="2">
                  <c:v>3326</c:v>
                </c:pt>
                <c:pt idx="3">
                  <c:v>31094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Facebook</c:v>
                </c:pt>
              </c:strCache>
            </c:strRef>
          </c:tx>
          <c:spPr>
            <a:ln w="31750">
              <a:solidFill>
                <a:srgbClr val="6B7082"/>
              </a:solidFill>
            </a:ln>
          </c:spPr>
          <c:cat>
            <c:strRef>
              <c:f>Sheet1!$A$2:$A$5</c:f>
              <c:strCache>
                <c:ptCount val="4"/>
                <c:pt idx="0">
                  <c:v>Jun 8 (Mon)</c:v>
                </c:pt>
                <c:pt idx="1">
                  <c:v>Jun 9 (Tue)</c:v>
                </c:pt>
                <c:pt idx="2">
                  <c:v>Jun 11 (Thu)</c:v>
                </c:pt>
                <c:pt idx="3">
                  <c:v>Jun 12 (Fri)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2855</c:v>
                </c:pt>
                <c:pt idx="1">
                  <c:v>8646</c:v>
                </c:pt>
                <c:pt idx="2">
                  <c:v>10910</c:v>
                </c:pt>
                <c:pt idx="3">
                  <c:v>17709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Growth %</c:v>
                </c:pt>
              </c:strCache>
            </c:strRef>
          </c:tx>
          <c:spPr>
            <a:solidFill>
              <a:srgbClr val="990011"/>
            </a:solidFill>
          </c:spPr>
          <c:cat>
            <c:strRef>
              <c:f>Sheet1!$A$2:$A$5</c:f>
              <c:strCache>
                <c:ptCount val="4"/>
                <c:pt idx="0">
                  <c:v>Instagram</c:v>
                </c:pt>
                <c:pt idx="1">
                  <c:v>TikTok</c:v>
                </c:pt>
                <c:pt idx="2">
                  <c:v>Facebook*</c:v>
                </c:pt>
                <c:pt idx="3">
                  <c:v>YouTube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2663.8</c:v>
                </c:pt>
                <c:pt idx="1">
                  <c:v>97.2</c:v>
                </c:pt>
                <c:pt idx="2">
                  <c:v>538.8</c:v>
                </c:pt>
                <c:pt idx="3">
                  <c:v>195.8</c:v>
                </c:pt>
              </c:numCache>
            </c:numRef>
          </c:val>
        </c:ser>
        <c:dLbls>
          <c:numFmt formatCode="+0&quot;%&quot;;-0&quot;%&quot;;0&quot;%&quot;" sourceLinked="0"/>
          <c:txPr>
            <a:bodyPr/>
            <a:lstStyle/>
            <a:p>
              <a:pPr>
                <a:defRPr sz="1400" b="1">
                  <a:solidFill>
                    <a:srgbClr val="2F3C7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JUNE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16-Day Progress Report — Social Media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Jun 8 – Jun 24,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 measurement points across 16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platforms: Instagram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Content volume — before vs.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brand, same audience — completely different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0" b="1">
                <a:solidFill>
                  <a:srgbClr val="990011"/>
                </a:solidFill>
                <a:latin typeface="Georgia"/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posts across 3 platforms in 16 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887" y="4572000"/>
            <a:ext cx="50292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887" y="4572000"/>
            <a:ext cx="73152" cy="164592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5207" y="4754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BEFORE JUN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207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~2 posts/week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207" y="55778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6 posts in data  ·  Sporadic posting  ·  No coordinated strategy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61607" y="4572000"/>
            <a:ext cx="50292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61607" y="4572000"/>
            <a:ext cx="73152" cy="16459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5927" y="4754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SINCE JUN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990011"/>
                </a:solidFill>
                <a:latin typeface="Helvetica Neue"/>
              </a:rPr>
              <a:t>~26 posts/week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55778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59 posts  ·  2-3 per day  ·  IG + TT + FB coordinated daily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BEFORE vs. SINCE I JOINED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More output AND more reach per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Their older posts had weeks to accumulate views. My posts are days old — and still pulling more per post.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2103120"/>
            <a:ext cx="35204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2103120"/>
            <a:ext cx="73152" cy="4114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74320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600" b="1">
                <a:solidFill>
                  <a:srgbClr val="2F3C7E"/>
                </a:solidFill>
                <a:latin typeface="Georgia"/>
              </a:rPr>
              <a:t>2.3×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379476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more views per post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187" y="4206240"/>
            <a:ext cx="297180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187" y="4343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BEFORE I JOINED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617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41833"/>
                </a:solidFill>
                <a:latin typeface="Helvetica Neue"/>
              </a:rPr>
              <a:t>834 views avg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9377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(18 posts, weeks old)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53035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SINCE I JOINED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577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1,896 views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187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(28 posts, days old)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2103120"/>
            <a:ext cx="35204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5627" y="2103120"/>
            <a:ext cx="73152" cy="4114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994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TIKTOK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9947" y="274320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600" b="1">
                <a:solidFill>
                  <a:srgbClr val="2F3C7E"/>
                </a:solidFill>
                <a:latin typeface="Georgia"/>
              </a:rPr>
              <a:t>3.0×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9947" y="379476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more views per post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9947" y="4206240"/>
            <a:ext cx="297180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9947" y="4343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BEFORE I JOINED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947" y="4617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41833"/>
                </a:solidFill>
                <a:latin typeface="Helvetica Neue"/>
              </a:rPr>
              <a:t>604 views avg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9947" y="49377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(19 posts, weeks old)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9947" y="53035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SINCE I JOINED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9947" y="5577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1,806 views avg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9947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(17 posts, days old)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0387" y="2103120"/>
            <a:ext cx="35204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0387" y="2103120"/>
            <a:ext cx="73152" cy="4114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0470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FACEBOOK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4707" y="274320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600" b="1">
                <a:solidFill>
                  <a:srgbClr val="2F3C7E"/>
                </a:solidFill>
                <a:latin typeface="Georgia"/>
              </a:rPr>
              <a:t>6.4×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4707" y="379476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more views per post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04707" y="4206240"/>
            <a:ext cx="297180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707" y="4343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BEFORE I JOINED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4707" y="4617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41833"/>
                </a:solidFill>
                <a:latin typeface="Helvetica Neue"/>
              </a:rPr>
              <a:t>206 views avg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4707" y="49377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(18 posts, weeks old)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04707" y="53035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SINCE I JOINED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4707" y="5577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1,316 views avg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4707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(34 posts, days old)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4465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Same audience. Same brand. Different editor. More reach per post — every platform.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WEEK 1 — DENSE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Jun 8–13: 4 snapshots in 5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We measured every 1-2 days in the first week to catch the initial growth trajectory.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2103120"/>
          <a:ext cx="1069848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WEEK 1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All three social platforms climbed steadily through the first week. This wasn't a one-day spike — the numbers kept moving with every new post.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TWO WEEKS IN — JUN 24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The growth held — this wasn't a one-week sugar rush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Comparing Jun 8 (Mon) (Day 1) to Jun 24 (Wed) (today) — total views across all tracked posts per platform.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2103120"/>
          <a:ext cx="64008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21031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ABSOLUTE NUMBERS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2514600"/>
            <a:ext cx="4114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2514600"/>
            <a:ext cx="54864" cy="685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560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8346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1,987 → 54,916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291840"/>
            <a:ext cx="4114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3291840"/>
            <a:ext cx="54864" cy="685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337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611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2,059 → 4,061 views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069080"/>
            <a:ext cx="4114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4069080"/>
            <a:ext cx="54864" cy="685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4114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FACEBOOK (est.)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389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~3,707 avg/post → ~44,730 avg/post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4846320"/>
            <a:ext cx="4114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4846320"/>
            <a:ext cx="54864" cy="6858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4892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16635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120 → 355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WEEK 2 TAKEAWAY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Every platform is still climbing after 16 days. Consistent posting keeps the momentum — the audience is building, not just spiking. *Facebook uses per-post avg growth (posts rotated out between snapshots).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topics perform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IG + TT + FB since Jun 8. Higher = more reach per piece of content.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03120"/>
            <a:ext cx="26060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03120"/>
            <a:ext cx="54864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POLITICAL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06039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2F3C7E"/>
                </a:solidFill>
                <a:latin typeface="Georgia"/>
              </a:rPr>
              <a:t>2,549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29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374903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26 posts · 66,279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114800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343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9,839 views — Grew up in Huntington Park and still own property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21207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Council, Trujillo, judicial, elections — the engine.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103120"/>
            <a:ext cx="26060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103120"/>
            <a:ext cx="54864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FIFA / WORLD CUP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606039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2F3C7E"/>
                </a:solidFill>
                <a:latin typeface="Georgia"/>
              </a:rPr>
              <a:t>1,415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429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1247" y="374903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13 posts · 18,401 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1247" y="4114800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343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6,053 views — World Cup profits hit $11 billion for FIFA, 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21207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Opportunistic — works when real moments hit.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103120"/>
            <a:ext cx="26060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103120"/>
            <a:ext cx="54864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FOOD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606039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2F3C7E"/>
                </a:solidFill>
                <a:latin typeface="Georgia"/>
              </a:rPr>
              <a:t>1,048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429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374903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21 posts · 22,008 total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4114800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343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2,295 views — So many food choices right next to Porto's downtow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21207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New lane — still ramping up.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103120"/>
            <a:ext cx="26060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103120"/>
            <a:ext cx="54864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COMMUNITY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606039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2F3C7E"/>
                </a:solidFill>
                <a:latin typeface="Georgia"/>
              </a:rPr>
              <a:t>1,490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429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9087" y="374903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8 posts · 11,920 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9087" y="4114800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343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4,344 views — Round One is coming to Stonewood Mall, transformin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21207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Downey local — steady mid-tier.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content is the clear engine — ~2× the reach of any other category. FIFA is opportunistic and strong when moments hit. Food is the newest lane, still growing. Community is reliable mid-tier filler between the heavy hitters.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Top performing content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posts prove the audience is there — you just have to feed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7548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31343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3134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134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70048"/>
            <a:ext cx="54864" cy="47548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88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889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7889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788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88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27889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Political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45536"/>
            <a:ext cx="11155680" cy="47548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45536"/>
            <a:ext cx="54864" cy="47548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64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644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26440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2644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6,996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644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32644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Political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21024"/>
            <a:ext cx="54864" cy="47548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398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7398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739896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373989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73989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37398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Political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96512"/>
            <a:ext cx="11155680" cy="47548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153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2153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215384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 grew up in Huntington Park, and I still own property there. But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42153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6,136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2153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42153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Political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6908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6908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690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World Cup profits hit $11 billion for FIFA, potentially reaching $13 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6908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6,053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6908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46908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Fifa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047488"/>
            <a:ext cx="11155680" cy="47548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16635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4560" y="5166359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1663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16635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516635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Political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41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6418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94560" y="564184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56418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4,344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6418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98480" y="56418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Community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998464"/>
            <a:ext cx="11155680" cy="47548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6117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61173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94560" y="6117336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He admitted he messed up, but not for the reason you think. It wasn't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61173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3,795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61173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98480" y="61173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content dominates the top spots. But community stories (Round One, Stonewood) show the audience cares about Downey life, not just controversy.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16 days of public data got us this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With view-only insights access, the next report includes watch time, retention, demographics, and traffic sources.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I NEED FROM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Add me to the Facebook Page with the 'Insights'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Add me to Instagram with view-only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About 30 minutes of setup,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330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I can't post, edit, or change anything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THE NEXT REPORT INCLUDES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Real watch time per video (not just view counts)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5112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Where viewers come from (search, suggested, shared)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Audience demographics — age, location, devices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1330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Automated weekly reports with richer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F6F5"/>
                </a:solidFill>
                <a:latin typeface="Helvetica Neue"/>
              </a:rPr>
              <a:t>TIME COMMITMENT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~30 minutes, once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663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F6F5"/>
                </a:solidFill>
                <a:latin typeface="Helvetica Neue"/>
              </a:rPr>
              <a:t>ONGOING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029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$0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