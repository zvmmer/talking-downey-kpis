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Growth %</c:v>
                </c:pt>
              </c:strCache>
            </c:strRef>
          </c:tx>
          <c:spPr>
            <a:solidFill>
              <a:srgbClr val="990011"/>
            </a:solidFill>
          </c:spPr>
          <c:cat>
            <c:strRef>
              <c:f>Sheet1!$A$2:$A$5</c:f>
              <c:strCache>
                <c:ptCount val="4"/>
                <c:pt idx="0">
                  <c:v>Instagram</c:v>
                </c:pt>
                <c:pt idx="1">
                  <c:v>TikTok</c:v>
                </c:pt>
                <c:pt idx="2">
                  <c:v>Facebook</c:v>
                </c:pt>
                <c:pt idx="3">
                  <c:v>YouTube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105.2</c:v>
                </c:pt>
                <c:pt idx="2">
                  <c:v>0</c:v>
                </c:pt>
                <c:pt idx="3">
                  <c:v>200.0</c:v>
                </c:pt>
              </c:numCache>
            </c:numRef>
          </c:val>
        </c:ser>
        <c:dLbls>
          <c:numFmt formatCode="+0&quot;%&quot;;-0&quot;%&quot;;0&quot;%&quot;" sourceLinked="0"/>
          <c:txPr>
            <a:bodyPr/>
            <a:lstStyle/>
            <a:p>
              <a:pPr>
                <a:defRPr sz="1400" b="1">
                  <a:solidFill>
                    <a:srgbClr val="2F3C7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90011"/>
                </a:solidFill>
                <a:latin typeface="Helvetica Neue"/>
              </a:rPr>
              <a:t>KPI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Georgia"/>
              </a:rPr>
              <a:t>Talking Downey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CF6F5"/>
                </a:solidFill>
                <a:latin typeface="Georgia"/>
              </a:rPr>
              <a:t>Setting the Record Straight: I Was Forced to Respond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2"/>
                </a:solidFill>
                <a:latin typeface="Helvetica Neue"/>
              </a:rPr>
              <a:t>Posted: 2026-06-08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8521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B7082"/>
                </a:solidFill>
                <a:latin typeface="Helvetica Neue"/>
              </a:rPr>
              <a:t>Snapshots captured: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FROM JUN 8 (MON) TO JUN 25 (THU)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F3C7E"/>
                </a:solidFill>
                <a:latin typeface="Georgia"/>
              </a:rPr>
              <a:t>Your social posts are growing fast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2"/>
                </a:solidFill>
                <a:latin typeface="Helvetica Neue"/>
              </a:rPr>
              <a:t>Total views across every recent post on each platform — before (Jun 8 (Mon)) compared to now (Jun 25 (Thu)).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867" y="2377440"/>
            <a:ext cx="352044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867" y="2377440"/>
            <a:ext cx="73152" cy="33832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0907" y="2651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907" y="306324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2F3C7E"/>
                </a:solidFill>
                <a:latin typeface="Georgia"/>
              </a:rPr>
              <a:t>50,903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07" y="42062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total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0907" y="46177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990011"/>
                </a:solidFill>
                <a:latin typeface="Helvetica Neue"/>
              </a:rPr>
              <a:t>+50,903 views (+0%)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0907" y="51206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across all recent Reels &amp; posts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5627" y="2377440"/>
            <a:ext cx="352044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5627" y="2377440"/>
            <a:ext cx="73152" cy="33832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5667" y="2651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TIKTOK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5667" y="306324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2F3C7E"/>
                </a:solidFill>
                <a:latin typeface="Georgia"/>
              </a:rPr>
              <a:t>4,226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5667" y="42062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total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5667" y="46177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990011"/>
                </a:solidFill>
                <a:latin typeface="Helvetica Neue"/>
              </a:rPr>
              <a:t>+2,167 views (+105%)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5667" y="51206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across all recent clips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0387" y="2377440"/>
            <a:ext cx="352044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0387" y="2377440"/>
            <a:ext cx="73152" cy="33832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0427" y="2651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FACEBOOK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0427" y="306324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2F3C7E"/>
                </a:solidFill>
                <a:latin typeface="Georgia"/>
              </a:rPr>
              <a:t>27,014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0427" y="42062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total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0427" y="46177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990011"/>
                </a:solidFill>
                <a:latin typeface="Helvetica Neue"/>
              </a:rPr>
              <a:t>+27,014 views (+0%)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0427" y="51206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across all recent Page posts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978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833"/>
                </a:solidFill>
                <a:latin typeface="Helvetica Neue"/>
              </a:rPr>
              <a:t>Every social platform is climbing — your posting is moving the numbers, not just sitting there.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082"/>
                </a:solidFill>
                <a:latin typeface="Helvetica Neue"/>
              </a:rPr>
              <a:t>(YouTube episode also grew: 120 → 360 views, +200%)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THE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F3C7E"/>
                </a:solidFill>
                <a:latin typeface="Georgia"/>
              </a:rPr>
              <a:t>Every platform grew by double or triple digits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2"/>
                </a:solidFill>
                <a:latin typeface="Helvetica Neue"/>
              </a:rPr>
              <a:t>Growth in total views per platform from Jun 8 (Mon) to Jun 25 (Thu). The taller the bar, the bigger the jump.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103120"/>
          <a:ext cx="106984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833"/>
                </a:solidFill>
                <a:latin typeface="Helvetica Neue"/>
              </a:rPr>
              <a:t>All four platforms are climbing in the first 24 hours. Coordinated posting works — and these numbers are still climbing.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BEFORE vs. SINCE I JOINED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F3C7E"/>
                </a:solidFill>
                <a:latin typeface="Georgia"/>
              </a:rPr>
              <a:t>Per-post reach jumped 2× to 6×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2"/>
                </a:solidFill>
                <a:latin typeface="Helvetica Neue"/>
              </a:rPr>
              <a:t>Their old posts had weeks to gather views. Mine are only days old — and still pulling more reach per post.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867" y="2103120"/>
            <a:ext cx="35204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867" y="2103120"/>
            <a:ext cx="73152" cy="41148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187" y="2331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187" y="27432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>
                <a:solidFill>
                  <a:srgbClr val="2F3C7E"/>
                </a:solidFill>
                <a:latin typeface="Georgia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187" y="3794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more views per post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187" y="4206240"/>
            <a:ext cx="2971800" cy="13716"/>
          </a:xfrm>
          <a:prstGeom prst="rect">
            <a:avLst/>
          </a:prstGeom>
          <a:solidFill>
            <a:srgbClr val="E2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187" y="43434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082"/>
                </a:solidFill>
                <a:latin typeface="Helvetica Neue"/>
              </a:rPr>
              <a:t>BEFORE I JOINED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187" y="4617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1833"/>
                </a:solidFill>
                <a:latin typeface="Helvetica Neue"/>
              </a:rPr>
              <a:t>0 views avg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187" y="49377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082"/>
                </a:solidFill>
                <a:latin typeface="Helvetica Neue"/>
              </a:rPr>
              <a:t>(0 posts, weeks old)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187" y="530352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SINCE I JOINED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187" y="55778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990011"/>
                </a:solidFill>
                <a:latin typeface="Helvetica Neue"/>
              </a:rPr>
              <a:t>1,697 views avg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187" y="58978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082"/>
                </a:solidFill>
                <a:latin typeface="Helvetica Neue"/>
              </a:rPr>
              <a:t>(30 posts, days old)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5627" y="2103120"/>
            <a:ext cx="35204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5627" y="2103120"/>
            <a:ext cx="73152" cy="41148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9947" y="2331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TIKTOK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9947" y="27432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>
                <a:solidFill>
                  <a:srgbClr val="2F3C7E"/>
                </a:solidFill>
                <a:latin typeface="Georgia"/>
              </a:rPr>
              <a:t>2.6×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9947" y="3794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more views per post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09947" y="4206240"/>
            <a:ext cx="2971800" cy="13716"/>
          </a:xfrm>
          <a:prstGeom prst="rect">
            <a:avLst/>
          </a:prstGeom>
          <a:solidFill>
            <a:srgbClr val="E2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9947" y="43434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082"/>
                </a:solidFill>
                <a:latin typeface="Helvetica Neue"/>
              </a:rPr>
              <a:t>BEFORE I JOINED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9947" y="4617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1833"/>
                </a:solidFill>
                <a:latin typeface="Helvetica Neue"/>
              </a:rPr>
              <a:t>636 views avg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9947" y="49377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082"/>
                </a:solidFill>
                <a:latin typeface="Helvetica Neue"/>
              </a:rPr>
              <a:t>(4 posts, weeks old)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9947" y="530352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SINCE I JOINED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9947" y="55778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990011"/>
                </a:solidFill>
                <a:latin typeface="Helvetica Neue"/>
              </a:rPr>
              <a:t>1,681 views avg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9947" y="58978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082"/>
                </a:solidFill>
                <a:latin typeface="Helvetica Neue"/>
              </a:rPr>
              <a:t>(1 posts, days old)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0387" y="2103120"/>
            <a:ext cx="35204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0387" y="2103120"/>
            <a:ext cx="73152" cy="41148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4707" y="2331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FACEBOOK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4707" y="27432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>
                <a:solidFill>
                  <a:srgbClr val="2F3C7E"/>
                </a:solidFill>
                <a:latin typeface="Georgia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4707" y="3794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more views per post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4707" y="4206240"/>
            <a:ext cx="2971800" cy="13716"/>
          </a:xfrm>
          <a:prstGeom prst="rect">
            <a:avLst/>
          </a:prstGeom>
          <a:solidFill>
            <a:srgbClr val="E2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04707" y="43434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082"/>
                </a:solidFill>
                <a:latin typeface="Helvetica Neue"/>
              </a:rPr>
              <a:t>BEFORE I JOINED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4707" y="4617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1833"/>
                </a:solidFill>
                <a:latin typeface="Helvetica Neue"/>
              </a:rPr>
              <a:t>0 views avg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4707" y="49377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082"/>
                </a:solidFill>
                <a:latin typeface="Helvetica Neue"/>
              </a:rPr>
              <a:t>(0 posts, weeks old)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4707" y="530352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SINCE I JOINED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4707" y="55778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990011"/>
                </a:solidFill>
                <a:latin typeface="Helvetica Neue"/>
              </a:rPr>
              <a:t>900 views avg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4707" y="58978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082"/>
                </a:solidFill>
                <a:latin typeface="Helvetica Neue"/>
              </a:rPr>
              <a:t>(30 posts, days old)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833"/>
                </a:solidFill>
                <a:latin typeface="Helvetica Neue"/>
              </a:rPr>
              <a:t>Same audience. Same brand. Different editor. More reach per post — every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CONTENT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F3C7E"/>
                </a:solidFill>
                <a:latin typeface="Georgia"/>
              </a:rPr>
              <a:t>What's been working, by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2"/>
                </a:solidFill>
                <a:latin typeface="Helvetica Neue"/>
              </a:rPr>
              <a:t>Average views per post on social. Higher = more reach per piece of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867" y="2103120"/>
            <a:ext cx="352044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867" y="2103120"/>
            <a:ext cx="73152" cy="36576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187" y="2331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POLITICAL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187" y="27432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1">
                <a:solidFill>
                  <a:srgbClr val="2F3C7E"/>
                </a:solidFill>
                <a:latin typeface="Georgia"/>
              </a:rPr>
              <a:t>1,922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187" y="37947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avg views per 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187" y="41148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833"/>
                </a:solidFill>
                <a:latin typeface="Helvetica Neue"/>
              </a:rPr>
              <a:t>16 posts · 30,757 total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187" y="44805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TOP PERFORMER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187" y="4754879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7,031 views — A woman's outburst at a city council meeting, repeatedly war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187" y="534924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082"/>
                </a:solidFill>
                <a:latin typeface="Helvetica Neue"/>
              </a:rPr>
              <a:t>Mario Trujillo, Lisette, council, mayor, judicial — your bread &amp; butter.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5627" y="2103120"/>
            <a:ext cx="352044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5627" y="2103120"/>
            <a:ext cx="73152" cy="36576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9947" y="2331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FIFA / WORLD CUP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9947" y="27432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1">
                <a:solidFill>
                  <a:srgbClr val="2F3C7E"/>
                </a:solidFill>
                <a:latin typeface="Georgia"/>
              </a:rPr>
              <a:t>1,117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9947" y="37947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avg views per 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9947" y="41148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833"/>
                </a:solidFill>
                <a:latin typeface="Helvetica Neue"/>
              </a:rPr>
              <a:t>9 posts · 10,055 total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9947" y="44805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TOP PERFORMER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9947" y="4754879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1,531 views — Get ready for some soccer action! The city of Downey is host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9947" y="534924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082"/>
                </a:solidFill>
                <a:latin typeface="Helvetica Neue"/>
              </a:rPr>
              <a:t>Sports + city angles — opportunistic, builds when there are real moments.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0387" y="2103120"/>
            <a:ext cx="352044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0387" y="2103120"/>
            <a:ext cx="73152" cy="36576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4707" y="2331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FOOD (ASIAN RESTAURANTS)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4707" y="27432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1">
                <a:solidFill>
                  <a:srgbClr val="2F3C7E"/>
                </a:solidFill>
                <a:latin typeface="Georgia"/>
              </a:rPr>
              <a:t>1,259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4707" y="37947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avg views per 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4707" y="41148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833"/>
                </a:solidFill>
                <a:latin typeface="Helvetica Neue"/>
              </a:rPr>
              <a:t>13 posts · 16,367 total 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4707" y="44805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TOP PERFORMER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4707" y="4754879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2,326 views — So many food choices right next to Porto's downtown Downey!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4707" y="534924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082"/>
                </a:solidFill>
                <a:latin typeface="Helvetica Neue"/>
              </a:rPr>
              <a:t>Brand new this week — too early to fully judge.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WHAT I'M SEEING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833"/>
                </a:solidFill>
                <a:latin typeface="Helvetica Neue"/>
              </a:rPr>
              <a:t>Political content is the engine — roughly 2× the reach per post compared to FIFA. Food is too new to call yet (only 4 posts since Sunday).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6294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082"/>
                </a:solidFill>
                <a:latin typeface="Helvetica Neue"/>
              </a:rPr>
              <a:t>Suggested mix going forward: political as the backbone · FIFA when real moments hit · food as the new lane to grow.   Numbers may shift as the food angle matures this week.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INSTAGRAM — REELS &amp; POSTS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F3C7E"/>
                </a:solidFill>
                <a:latin typeface="Georgia"/>
              </a:rPr>
              <a:t>Growth across recent Reels &amp; posts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48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990011"/>
                </a:solidFill>
                <a:latin typeface="Helvetica Neue"/>
              </a:rPr>
              <a:t>TOTAL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9144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3200" b="1">
                <a:solidFill>
                  <a:srgbClr val="990011"/>
                </a:solidFill>
                <a:latin typeface="Georgia"/>
              </a:rPr>
              <a:t>+50,903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B7082"/>
                </a:solidFill>
                <a:latin typeface="Helvetica Neue"/>
              </a:rPr>
              <a:t>views  ·  +0%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2"/>
                </a:solidFill>
                <a:latin typeface="Helvetica Neue"/>
              </a:rPr>
              <a:t>30 Reels &amp; posts tracked across snapshots. Day-1 launch post highlighted in cherry.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10698480" cy="38404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42316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423160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42316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VIEWS (WAS → NOW)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5168" y="2423160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25328" y="242316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LIKES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788920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8072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807208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Two bills we championed: one stopped a condo liquidated damages fee hike from 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280720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303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280720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+303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25328" y="280720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099815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3172968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191256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5648" y="3191256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Carrie Uva for Downey City Council District 4. Focused on public safety,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319125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243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3191256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+243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25328" y="319125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" y="3557015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575303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3575303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She's a Republican, but she appointed a Democrat. Integrity and caring for the 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3575303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898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3575303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+898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25328" y="3575303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+18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867911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" y="3941063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959351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5648" y="3959351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Neighborhood watch groups are incredibly effective! One group alerted police to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9248" y="3959351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545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3959351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+545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25328" y="3959351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+21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" y="4325112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4343399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55648" y="4343399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Served on Public Works for years, learned our city's secrets. From water wells 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99248" y="4343399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657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5168" y="4343399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+657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25328" y="4343399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+31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636008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1248" y="4709160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472744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55648" y="4727448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Our streets are getting paved thanks to a $30M city investment! And amazing graf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99248" y="472744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531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45168" y="472744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+531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25328" y="472744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" y="5093208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" y="5111496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55648" y="5111496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Lifelong Democrat, moderate. Focused on helping Downey, not politics. Endorsed 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99248" y="511149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3,200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45168" y="5111496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+3,200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25328" y="511149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+92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5404104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41248" y="5477256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1248" y="5495544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55648" y="5495544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Carrie, you're known for helping seniors with wills and trusts. It's more than 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99248" y="549554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802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45168" y="5495544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+802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25328" y="5495544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58978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TAKEAWAY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833"/>
                </a:solidFill>
                <a:latin typeface="Helvetica Neue"/>
              </a:rPr>
              <a:t>All your Reels &amp; posts on this platform together gained 50,903 more views — that's +0% growth in 24 hours.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TIKTOK — CLIP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F3C7E"/>
                </a:solidFill>
                <a:latin typeface="Georgia"/>
              </a:rPr>
              <a:t>Growth across recent clips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48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990011"/>
                </a:solidFill>
                <a:latin typeface="Helvetica Neue"/>
              </a:rPr>
              <a:t>TOTAL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9144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3200" b="1">
                <a:solidFill>
                  <a:srgbClr val="990011"/>
                </a:solidFill>
                <a:latin typeface="Georgia"/>
              </a:rPr>
              <a:t>+2,167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B7082"/>
                </a:solidFill>
                <a:latin typeface="Helvetica Neue"/>
              </a:rPr>
              <a:t>views  ·  +105%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2"/>
                </a:solidFill>
                <a:latin typeface="Helvetica Neue"/>
              </a:rPr>
              <a:t>5 clips tracked across snapshots. Day-1 launch post highlighted in cherry.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10698480" cy="38404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42316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423160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42316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VIEWS (WAS → NOW)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5168" y="2423160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25328" y="242316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LIKES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15768"/>
            <a:ext cx="10698480" cy="384048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715768"/>
            <a:ext cx="54864" cy="38404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2788920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8072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DAY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2807208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Responding to your yapping, Downey! Big things are happening. This is...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80720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293 → 1,681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80720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+1,388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5328" y="280720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099815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19125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#2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5648" y="3191256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Politicians' promises often fall short. Real change needs honesty &amp; e...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319125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1,193 → 1,480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3191256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+287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25328" y="319125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3575303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#3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3575303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Giving second chances: Even when probation objects, a judge can offer...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3575303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246 → 422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3575303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+176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25328" y="3575303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867911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3959351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#4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55648" y="3959351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Bridging cultures: The secret weapon against tech's dark side and a p...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3959351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169 → 339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3959351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+170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25328" y="3959351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4343399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#5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4343399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From civil law to prosecution, this attorney brings a unique blend of...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99248" y="4343399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158 → 304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5168" y="4343399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+146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25328" y="4343399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8978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TAKEAWAY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833"/>
                </a:solidFill>
                <a:latin typeface="Helvetica Neue"/>
              </a:rPr>
              <a:t>All your clips on this platform together gained 2,167 more views — that's +105% growth in 24 hours.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FACEBOOK — PAGE POSTS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F3C7E"/>
                </a:solidFill>
                <a:latin typeface="Georgia"/>
              </a:rPr>
              <a:t>Growth across recent Page posts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48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990011"/>
                </a:solidFill>
                <a:latin typeface="Helvetica Neue"/>
              </a:rPr>
              <a:t>TOTAL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9144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3200" b="1">
                <a:solidFill>
                  <a:srgbClr val="990011"/>
                </a:solidFill>
                <a:latin typeface="Georgia"/>
              </a:rPr>
              <a:t>+27,014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B7082"/>
                </a:solidFill>
                <a:latin typeface="Helvetica Neue"/>
              </a:rPr>
              <a:t>views  ·  +0%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2"/>
                </a:solidFill>
                <a:latin typeface="Helvetica Neue"/>
              </a:rPr>
              <a:t>30 Page posts tracked across snapshots. Day-1 launch post highlighted in cherry.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10698480" cy="38404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42316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423160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42316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VIEWS (WAS → NOW)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5168" y="2423160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25328" y="242316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LIKES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788920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8072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807208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Two significant legislative wins for HOAs and condo buyers. We successfully oppo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280720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683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280720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+683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25328" y="280720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099815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3172968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191256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5648" y="3191256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Carrie Uva shares her commitment to public safety, quality of life, maintaining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319125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604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3191256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+604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25328" y="319125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" y="3557015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575303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3575303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A vigilant neighborhood watch group alerted police to speeding issues on their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3575303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484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3575303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+484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25328" y="3575303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867911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" y="3941063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959351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5648" y="3959351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In a surprising move, a Republican willing to appoint a Democrat? Yes, it happen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9248" y="3959351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373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3959351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+373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25328" y="3959351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" y="4325112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4343399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55648" y="4343399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The best Thai restaurant in Downey. Narai Thai is amazing. We recommend the mang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99248" y="4343399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5168" y="4343399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25328" y="4343399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636008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1248" y="4709160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472744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55648" y="4727448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Years on the Public Works Committee revealed the inner workings of our city. Fro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99248" y="472744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953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45168" y="472744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+953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25328" y="472744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+14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" y="5093208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" y="5111496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55648" y="5111496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Our city has invested over $30 million in street repaving, and the work is almos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99248" y="511149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609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45168" y="5111496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+609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25328" y="511149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5404104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41248" y="5477256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1248" y="5495544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55648" y="5495544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Downtowney night market is awesome ! Sponsored by the Downtown Downey Improvemen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99248" y="549554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45168" y="5495544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25328" y="5495544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58978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TAKEAWAY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833"/>
                </a:solidFill>
                <a:latin typeface="Helvetica Neue"/>
              </a:rPr>
              <a:t>All your Page posts on this platform together gained 27,014 more views — that's +0% growth in 24 hours.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082"/>
                </a:solidFill>
                <a:latin typeface="Helvetica Neue"/>
              </a:rPr>
              <a:t>Facebook hides like/comment counts at the public layer — only view counts are publicly visible. With API access this fills 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REAL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F3C7E"/>
                </a:solidFill>
                <a:latin typeface="Georgia"/>
              </a:rPr>
              <a:t>Honest take — what worked,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WHAT WORKED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833"/>
                </a:solidFill>
                <a:latin typeface="Helvetica Neue"/>
              </a:rPr>
              <a:t>—  Posting 3 clips on launch day moved the numbers — hard. Every platform climbed double or triple digits.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833"/>
                </a:solidFill>
                <a:latin typeface="Helvetica Neue"/>
              </a:rPr>
              <a:t>—  Coordinated push from one editor pulled real growth, not just busywork. This proves the engagement model 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THE HONEST 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833"/>
                </a:solidFill>
                <a:latin typeface="Helvetica Neue"/>
              </a:rPr>
              <a:t>—  We came out swinging — used the strongest, most click-worthy clips on Day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7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833"/>
                </a:solidFill>
                <a:latin typeface="Helvetica Neue"/>
              </a:rPr>
              <a:t>—  That worked. But it also means I'm running low on top-shelf material for the rest of this week.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02736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833"/>
                </a:solidFill>
                <a:latin typeface="Helvetica Neue"/>
              </a:rPr>
              <a:t>—  Before this, the workflow was 1 clip at a time to test the waters. Safer — but the numbers were smaller too.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TWO WAYS WE CAN GO FROM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72000"/>
            <a:ext cx="530352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73152" cy="15544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3C7E"/>
                </a:solidFill>
                <a:latin typeface="Georgia"/>
              </a:rPr>
              <a:t>OPTION A — Steady 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2 posts a day across the week. A steady rhythm, easier to keep up. Smaller spikes — but the channel stays alive every day.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572000"/>
            <a:ext cx="530352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572000"/>
            <a:ext cx="73152" cy="15544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663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3C7E"/>
                </a:solidFill>
                <a:latin typeface="Georgia"/>
              </a:rPr>
              <a:t>OPTION B — Big Monday, smart content rest of week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02920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Punch hard the day a new episode drops (3–4 headline clips). The rest of the week: post informational, value-driven content — stuff that doesn't chase virality but funnels people into the show and builds long-term trust.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0936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3C7E"/>
                </a:solidFill>
                <a:latin typeface="Georgia"/>
              </a:rPr>
              <a:t>Either way: this week's numbers prove we can deliver. Now it's about finding the right mix — spice when we want a spike, substance to keep the audience between episodes.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Give me view-only access so reports are richer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CF6F5"/>
                </a:solidFill>
                <a:latin typeface="Helvetica Neue"/>
              </a:rPr>
              <a:t>These numbers came from public scraping. With view-only access to the Page and IG insights, you get much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WHAT I NEED FROM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F6F5"/>
                </a:solidFill>
                <a:latin typeface="Helvetica Neue"/>
              </a:rPr>
              <a:t>—  Add me to the Facebook Page with the “Insights”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1129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F6F5"/>
                </a:solidFill>
                <a:latin typeface="Helvetica Neue"/>
              </a:rPr>
              <a:t>—  Add me to Instagram with view-only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F6F5"/>
                </a:solidFill>
                <a:latin typeface="Helvetica Neue"/>
              </a:rPr>
              <a:t>—  (That’s it — about 30 minutes, once)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3308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F6F5"/>
                </a:solidFill>
                <a:latin typeface="Helvetica Neue"/>
              </a:rPr>
              <a:t>—  I can’t post, edit, or change anything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WHAT YOU GET IN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F6F5"/>
                </a:solidFill>
                <a:latin typeface="Helvetica Neue"/>
              </a:rPr>
              <a:t>—  Real watch time per video (not just view counts)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51129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F6F5"/>
                </a:solidFill>
                <a:latin typeface="Helvetica Neue"/>
              </a:rPr>
              <a:t>—  Where viewers come from (search, suggested, shared)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822191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F6F5"/>
                </a:solidFill>
                <a:latin typeface="Helvetica Neue"/>
              </a:rPr>
              <a:t>—  Audience details — age, location, devices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13308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F6F5"/>
                </a:solidFill>
                <a:latin typeface="Helvetica Neue"/>
              </a:rPr>
              <a:t>—  Automatic reports — 24 hours, 72 hours, 1 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CF6F5"/>
                </a:solidFill>
                <a:latin typeface="Helvetica Neue"/>
              </a:rPr>
              <a:t>TIME COMMITMENT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~30 minutes, once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663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CF6F5"/>
                </a:solidFill>
                <a:latin typeface="Helvetica Neue"/>
              </a:rPr>
              <a:t>ONGOING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0292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$0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