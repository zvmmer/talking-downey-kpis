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E86AB"/>
                </a:solidFill>
                <a:latin typeface="Helvetica Neue"/>
              </a:rPr>
              <a:t>JULY 2026 PERFORMANCE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Brand momentum — widening the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Tracking period: Jul 1 – Jul 31,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Comparison baseline: June 2026 (16-day launch window)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 platforms · IG · TikTok · Facebook · YouTube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Kaname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JUNE → JULY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The month the show broadened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Same brand. Wider net. Political content still runs — but Downey growth stories and American pride content joined the top tier.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53035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0" b="1">
                <a:solidFill>
                  <a:srgbClr val="2E86AB"/>
                </a:solidFill>
                <a:latin typeface="Georgia"/>
              </a:rPr>
              <a:t>115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2F3C7E"/>
                </a:solidFill>
                <a:latin typeface="Helvetica Neue"/>
              </a:rPr>
              <a:t>posts in July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1480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082"/>
                </a:solidFill>
                <a:latin typeface="Helvetica Neue"/>
              </a:rPr>
              <a:t>(131 in June baseline window)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19456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2194560"/>
            <a:ext cx="73152" cy="109728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TRUTH &amp; SCANDAL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0604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2,698 →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260604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29718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3474720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0" y="3474720"/>
            <a:ext cx="73152" cy="109728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611879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PERSONALITY HIGHLIGHTS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3886200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1,121 → 315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3886200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-72%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425195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4754879"/>
            <a:ext cx="5120640" cy="10972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4754879"/>
            <a:ext cx="73152" cy="109728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9204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AMERICAN PRIDE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516635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200" b="1">
                <a:solidFill>
                  <a:srgbClr val="141833"/>
                </a:solidFill>
                <a:latin typeface="Georgia"/>
              </a:rPr>
              <a:t>632 → 586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5166359"/>
            <a:ext cx="1188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990011"/>
                </a:solidFill>
                <a:latin typeface="Helvetica Neue"/>
              </a:rPr>
              <a:t>▼ -7%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5532119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avg views per post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show is no longer a one-note engine. Positive lanes are earning their seat at the table.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PLATFORM-BY-PLATFORM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the audience is showing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Total views per platform in the July window vs. the June baseline window. Positive = platform is still climbing.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44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44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232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INSTAGRAM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16,226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(38 posts)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32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232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72,946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(42 posts)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9836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9836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8124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TIKTOK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8124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49,660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124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(34 posts)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8124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8124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8124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90,443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124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(37 posts)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728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728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016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FACEBOOK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016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29,674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(39 posts)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016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016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016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56,179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016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(48 posts)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976207" y="2286000"/>
            <a:ext cx="2606040" cy="3474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76207" y="2286000"/>
            <a:ext cx="54864" cy="34747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59087" y="2468880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YOUTUBE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59087" y="28803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2F3C7E"/>
                </a:solidFill>
                <a:latin typeface="Georgia"/>
              </a:rPr>
              <a:t>245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9087" y="370332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July views (4 posts)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59087" y="4114800"/>
            <a:ext cx="2240280" cy="13716"/>
          </a:xfrm>
          <a:prstGeom prst="rect">
            <a:avLst/>
          </a:prstGeom>
          <a:solidFill>
            <a:srgbClr val="E2D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59087" y="425196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JUNE 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59087" y="4526280"/>
            <a:ext cx="2240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141833"/>
                </a:solidFill>
                <a:latin typeface="Helvetica Neue"/>
              </a:rPr>
              <a:t>709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59087" y="5120640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(4 posts)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IG remains the workhorse. YouTube is the new signal — each episode is a compounding asset, not a spike.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CONTENT 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What we posted in July, and how it performed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Average views per post across all platforms. Higher = more reach per piece.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8658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86587" y="2103120"/>
            <a:ext cx="54864" cy="17373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946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FIFA — POSITIVE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946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4,592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946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946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10 posts · 45,921 total views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7550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75507" y="2103120"/>
            <a:ext cx="54864" cy="17373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838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838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434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838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838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44 posts · 19,091 total views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64427" y="2103120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730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LOCAL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730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717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730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730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14 posts · 10,037 total views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53347" y="2103120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53347" y="2103120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36227" y="224027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JUDICIAL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6227" y="25146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273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36227" y="3154679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6227" y="34015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17 posts · 4,637 total views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658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86587" y="3977639"/>
            <a:ext cx="54864" cy="17373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46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946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998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946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46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4 posts · 3,992 total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7550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375507" y="3977639"/>
            <a:ext cx="54864" cy="17373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5838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COMMUNITY EVENTS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5838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463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838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5838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8 posts · 3,707 total views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16442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164427" y="3977639"/>
            <a:ext cx="54864" cy="17373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4730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ELECTIONS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730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1,206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730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4730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3 posts · 3,617 total views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53347" y="3977639"/>
            <a:ext cx="2651760" cy="17373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953347" y="3977639"/>
            <a:ext cx="54864" cy="17373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36227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AMERICAN PRIDE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36227" y="43891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800" b="1">
                <a:solidFill>
                  <a:srgbClr val="2F3C7E"/>
                </a:solidFill>
                <a:latin typeface="Georgia"/>
              </a:rPr>
              <a:t>586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36227" y="5029200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avg views/post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36227" y="52760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4 posts · 2,344 total views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taxonomy is broader in July. Each new bucket is a lane the sponsor can choose to invest more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BREAKOUTS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Top July posts by views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Ranked across all platforms. These are the pieces that pulled outside the average.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11155680" cy="4572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304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#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304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304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POST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2304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304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04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FCF6F5"/>
                </a:solidFill>
                <a:latin typeface="Helvetica Neue"/>
              </a:rPr>
              <a:t>CATEGORY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761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2761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0" y="2761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27,300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761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0" y="2761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089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089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218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3218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03120" y="3218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3218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7,180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3218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3218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566160"/>
            <a:ext cx="54864" cy="4572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3675887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03120" y="3675887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675887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6,355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26880" y="3675887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46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7588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0233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1330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1330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3120" y="41330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80" y="41330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5,704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26880" y="41330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268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41330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Other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45902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45902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IG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3120" y="45902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0" y="45902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2,390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5902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39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45902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49377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" y="50474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0474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50474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City Council adopted a new Code of Ethics and Conduct for commission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955280" y="50474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1,416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326880" y="50474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18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0" y="50474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Community Local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0080" y="55046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" y="55046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5046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2007 letter from a prominent citizen sent shockwaves through the communit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55280" y="55046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1,357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326880" y="55046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0" y="55046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Community Local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8640" y="5852160"/>
            <a:ext cx="11155680" cy="457200"/>
          </a:xfrm>
          <a:prstGeom prst="rect">
            <a:avLst/>
          </a:prstGeom>
          <a:solidFill>
            <a:srgbClr val="F5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080" y="59618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" y="596188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FB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03120" y="5961888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brings incredible passion as countries pour their hearts into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955280" y="596188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F3C7E"/>
                </a:solidFill>
                <a:latin typeface="Helvetica Neue"/>
              </a:rPr>
              <a:t>1,348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326880" y="5961888"/>
            <a:ext cx="1005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141833"/>
                </a:solidFill>
                <a:latin typeface="Helvetica Neue"/>
              </a:rPr>
              <a:t>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15600" y="596188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Fifa Positive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The mix at the top has expanded — Downey Growth and American Pride joined the political leaders.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E86AB"/>
                </a:solidFill>
                <a:latin typeface="Helvetica Neue"/>
              </a:rPr>
              <a:t>THE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Georgia"/>
              </a:rPr>
              <a:t>July diversified the show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659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FCF6F5"/>
                </a:solidFill>
                <a:latin typeface="Helvetica Neue"/>
              </a:rPr>
              <a:t>June was proof of concept — controversy engine at scale. July was the sequel — same engine, plus new lanes.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June posts (Jun 8–30 window): 131  →  July posts (Jul 1–31 window): 115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1868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Political-only spine broadened to include Downey growth stories + American pride content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511296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Paul Granata episode (Jul 2) opened a new lane: local business + downtown revival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0390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July 4th content proved the audience responds to positive/celebratory as well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096512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—  Brand growth self-reporting posts landed — audience validated the meta-narrative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WHAT TO ASK THE SPONSOR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Georgia"/>
              </a:rPr>
              <a:t>Where should we lean in August — heat, growth, or pride?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