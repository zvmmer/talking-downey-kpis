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2E86AB"/>
                </a:solidFill>
                <a:latin typeface="Helvetica Neue"/>
              </a:rPr>
              <a:t>JULY 2026 PERFORMANCE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>
                <a:solidFill>
                  <a:srgbClr val="FFFFFF"/>
                </a:solidFill>
                <a:latin typeface="Georgia"/>
              </a:rPr>
              <a:t>Talking Downey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FCF6F5"/>
                </a:solidFill>
                <a:latin typeface="Georgia"/>
              </a:rPr>
              <a:t>Brand momentum — widening the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Tracking period: Jul 1 – Jul 31,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Comparison baseline: June 2026 (16-day launch window)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6B7082"/>
                </a:solidFill>
                <a:latin typeface="Helvetica Neue"/>
              </a:rPr>
              <a:t>4 platforms · IG · TikTok · Facebook · YouTube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Prepared by Zhamir Pascual — 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JUNE → JULY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The month the show broadened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Same brand. Wider net. Political content still runs — but Downey growth stories and American pride content joined the top tier.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2E86AB"/>
                </a:solidFill>
                <a:latin typeface="Georgia"/>
              </a:rPr>
              <a:t>163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2F3C7E"/>
                </a:solidFill>
                <a:latin typeface="Helvetica Neue"/>
              </a:rPr>
              <a:t>posts in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082"/>
                </a:solidFill>
                <a:latin typeface="Helvetica Neue"/>
              </a:rPr>
              <a:t>(131 in June baseline window)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9456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194560"/>
            <a:ext cx="73152" cy="109728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990011"/>
                </a:solidFill>
                <a:latin typeface="Helvetica Neue"/>
              </a:rPr>
              <a:t>TRUTH &amp; SCANDAL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41833"/>
                </a:solidFill>
                <a:latin typeface="Georgia"/>
              </a:rPr>
              <a:t>2,429 →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260604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90011"/>
                </a:solidFill>
                <a:latin typeface="Helvetica Neue"/>
              </a:rPr>
              <a:t>▼ -100%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avg views per post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47472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474720"/>
            <a:ext cx="73152" cy="10972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61187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2E86AB"/>
                </a:solidFill>
                <a:latin typeface="Helvetica Neue"/>
              </a:rPr>
              <a:t>PERSONALITY HIGHLIGHTS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862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41833"/>
                </a:solidFill>
                <a:latin typeface="Georgia"/>
              </a:rPr>
              <a:t>1,009 → 551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88620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90011"/>
                </a:solidFill>
                <a:latin typeface="Helvetica Neue"/>
              </a:rPr>
              <a:t>▼ -45%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25195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avg views per 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754879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754879"/>
            <a:ext cx="73152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892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C9A227"/>
                </a:solidFill>
                <a:latin typeface="Helvetica Neue"/>
              </a:rPr>
              <a:t>AMERICAN PRIDE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6635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41833"/>
                </a:solidFill>
                <a:latin typeface="Georgia"/>
              </a:rPr>
              <a:t>948 → 480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5166359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990011"/>
                </a:solidFill>
                <a:latin typeface="Helvetica Neue"/>
              </a:rPr>
              <a:t>▼ -49%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53211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avg views per 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The show is no longer a one-note engine. Positive lanes are earning their seat at the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PLATFORM-BY-PLATFORM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Where the audience is showing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Total views per platform in the July window vs. the June baseline window. Positive = platform is still climbing.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447" y="228600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2286000"/>
            <a:ext cx="54864" cy="3474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327" y="2468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E86AB"/>
                </a:solidFill>
                <a:latin typeface="Helvetica Neue"/>
              </a:rP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2880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2F3C7E"/>
                </a:solidFill>
                <a:latin typeface="Georgia"/>
              </a:rPr>
              <a:t>48,359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7033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July views (54 posts)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327" y="4114800"/>
            <a:ext cx="224028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327" y="42519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JUNE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327" y="4526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1833"/>
                </a:solidFill>
                <a:latin typeface="Helvetica Neue"/>
              </a:rPr>
              <a:t>72,946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327" y="5120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(42 posts)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8367" y="228600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8367" y="2286000"/>
            <a:ext cx="54864" cy="3474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1247" y="2468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E86AB"/>
                </a:solidFill>
                <a:latin typeface="Helvetica Neue"/>
              </a:rPr>
              <a:t>TIKTOK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1247" y="2880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2F3C7E"/>
                </a:solidFill>
                <a:latin typeface="Georgia"/>
              </a:rPr>
              <a:t>113,125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1247" y="37033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July views (50 posts)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1247" y="4114800"/>
            <a:ext cx="224028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1247" y="42519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JUNE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247" y="4526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1833"/>
                </a:solidFill>
                <a:latin typeface="Helvetica Neue"/>
              </a:rPr>
              <a:t>90,443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1247" y="5120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(37 posts)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7287" y="228600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87287" y="2286000"/>
            <a:ext cx="54864" cy="3474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167" y="2468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E86AB"/>
                </a:solidFill>
                <a:latin typeface="Helvetica Neue"/>
              </a:rPr>
              <a:t>FACEBOOK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167" y="2880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2F3C7E"/>
                </a:solidFill>
                <a:latin typeface="Georgia"/>
              </a:rPr>
              <a:t>45,898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37033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July views (55 posts)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0167" y="4114800"/>
            <a:ext cx="224028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0167" y="42519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JUNE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0167" y="4526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1833"/>
                </a:solidFill>
                <a:latin typeface="Helvetica Neue"/>
              </a:rPr>
              <a:t>56,179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5120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(48 posts)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76207" y="2286000"/>
            <a:ext cx="260604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76207" y="2286000"/>
            <a:ext cx="54864" cy="34747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9087" y="24688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E86AB"/>
                </a:solidFill>
                <a:latin typeface="Helvetica Neue"/>
              </a:rPr>
              <a:t>YOUTUBE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9087" y="288036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2F3C7E"/>
                </a:solidFill>
                <a:latin typeface="Georgia"/>
              </a:rPr>
              <a:t>476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9087" y="370332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July views (4 posts)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59087" y="4114800"/>
            <a:ext cx="2240280" cy="13716"/>
          </a:xfrm>
          <a:prstGeom prst="rect">
            <a:avLst/>
          </a:prstGeom>
          <a:solidFill>
            <a:srgbClr val="E2D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59087" y="42519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B7082"/>
                </a:solidFill>
                <a:latin typeface="Helvetica Neue"/>
              </a:rPr>
              <a:t>JUNE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9087" y="452628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41833"/>
                </a:solidFill>
                <a:latin typeface="Helvetica Neue"/>
              </a:rPr>
              <a:t>834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9087" y="512064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7082"/>
                </a:solidFill>
                <a:latin typeface="Helvetica Neue"/>
              </a:rPr>
              <a:t>(4 posts)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IG remains the workhorse. YouTube is the new signal — each episode is a compounding asset, not a spike.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CONTENT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What we posted in July, and how it performed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Average views per post across all platforms. Higher = more reach per piece.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6587" y="210312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6587" y="2103120"/>
            <a:ext cx="54864" cy="1737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467" y="22402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C9A227"/>
                </a:solidFill>
                <a:latin typeface="Helvetica Neue"/>
              </a:rPr>
              <a:t>MILITARY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" y="2514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2,566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315467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467" y="34015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27 posts · 69,292 total 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5507" y="210312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5507" y="2103120"/>
            <a:ext cx="54864" cy="17373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8387" y="22402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B7A43"/>
                </a:solidFill>
                <a:latin typeface="Helvetica Neue"/>
              </a:rPr>
              <a:t>FIFA — POSITIVE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387" y="2514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4,605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8387" y="315467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8387" y="34015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10 posts · 46,049 total 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4427" y="210312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4864" cy="1737360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7307" y="22402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B7A43"/>
                </a:solidFill>
                <a:latin typeface="Helvetica Neue"/>
              </a:rPr>
              <a:t>FOOD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14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1,618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315467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7307" y="34015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25 posts · 40,444 total views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53347" y="2103120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3347" y="2103120"/>
            <a:ext cx="54864" cy="173736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6227" y="224027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41833"/>
                </a:solidFill>
                <a:latin typeface="Helvetica Neue"/>
              </a:rPr>
              <a:t>COMMUNITY 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6227" y="25146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869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6227" y="3154679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6227" y="340156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11 posts · 9,564 total 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6587" y="3977639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6587" y="3977639"/>
            <a:ext cx="54864" cy="17373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467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2F3C7E"/>
                </a:solidFill>
                <a:latin typeface="Helvetica Neue"/>
              </a:rPr>
              <a:t>JUDICIAL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467" y="4389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292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467" y="50292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467" y="52760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27 posts · 7,875 total views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75507" y="3977639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75507" y="3977639"/>
            <a:ext cx="54864" cy="173736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58387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990011"/>
                </a:solidFill>
                <a:latin typeface="Helvetica Neue"/>
              </a:rPr>
              <a:t>AMERICAN PRIDE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58387" y="4389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480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58387" y="50292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8387" y="52760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12 posts · 5,764 total views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4427" y="3977639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64427" y="3977639"/>
            <a:ext cx="54864" cy="173736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7307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141833"/>
                </a:solidFill>
                <a:latin typeface="Helvetica Neue"/>
              </a:rPr>
              <a:t>COMMUNITY EVENTS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7307" y="4389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449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7307" y="50292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7307" y="52760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11 posts · 4,941 total views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53347" y="3977639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953347" y="3977639"/>
            <a:ext cx="54864" cy="17373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36227" y="4114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>
                <a:solidFill>
                  <a:srgbClr val="C9A227"/>
                </a:solidFill>
                <a:latin typeface="Helvetica Neue"/>
              </a:rPr>
              <a:t>DOWNTOWN DEVELOPMENT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6227" y="43891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2F3C7E"/>
                </a:solidFill>
                <a:latin typeface="Georgia"/>
              </a:rPr>
              <a:t>1,006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36227" y="50292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avg views/post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36227" y="52760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41833"/>
                </a:solidFill>
                <a:latin typeface="Helvetica Neue"/>
              </a:rPr>
              <a:t>4 posts · 4,026 total views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The taxonomy is broader in July. Each new bucket is a lane the sponsor can choose to invest more into.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BREAKOUTS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2F3C7E"/>
                </a:solidFill>
                <a:latin typeface="Georgia"/>
              </a:rPr>
              <a:t>Top July posts by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6B7082"/>
                </a:solidFill>
                <a:latin typeface="Helvetica Neue"/>
              </a:rPr>
              <a:t>Ranked across all platforms. These are the pieces that pulled outside the average.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155680" cy="4572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04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042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3042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304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04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LIKES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3042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FCF6F5"/>
                </a:solidFill>
                <a:latin typeface="Helvetica Neue"/>
              </a:rPr>
              <a:t>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54864" cy="4572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7614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614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7614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Combat jobs aren't for everyone. See how your MOS determines deployment 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7614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37,900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7614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2,472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2761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Military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08960"/>
            <a:ext cx="54864" cy="4572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18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186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2186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Watch party in Stonewood Mall! Over 25,000 people showed up for this epic 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2186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27,400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2186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806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218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Fifa Positive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66160"/>
            <a:ext cx="54864" cy="457200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758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67588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675887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Pop's Wings just opened and it's a must-try! Their pastrami sandwich with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3675887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8,352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67588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405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67588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Food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0233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1330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133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IG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41330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25,000+ people gathered for a watch party at Stonewood Mall! Despite the $3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1330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7,180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1330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264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41330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Fifa Positive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5902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5902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FB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45902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Over 25,000 people gathered at Stonewood Mall for a massive watch party. 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80" y="45902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6,355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5902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46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45902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Fifa Positive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9377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0474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0474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IG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50474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Not everyone deployed sees combat, even with 20 years in. Your MOS matters.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80" y="50474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5,139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0474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186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Military Service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504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55046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IG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55046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Found an amazing pastrami sandwich at Pop's Wings! Toasted bread, tender pa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80" y="55046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4,752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55046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128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5504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Food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solidFill>
            <a:srgbClr val="F5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9618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90011"/>
                </a:solidFill>
                <a:latin typeface="Helvetica Neue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9618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2F3C7E"/>
                </a:solidFill>
                <a:latin typeface="Helvetica Neue"/>
              </a:rPr>
              <a:t>TT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5961888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141833"/>
                </a:solidFill>
                <a:latin typeface="Helvetica Neue"/>
              </a:rPr>
              <a:t>Downtown Downey sushi spot alert! Starfish Sushi's bento box lunch is a mus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80" y="59618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F3C7E"/>
                </a:solidFill>
                <a:latin typeface="Helvetica Neue"/>
              </a:rPr>
              <a:t>4,148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59618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141833"/>
                </a:solidFill>
                <a:latin typeface="Helvetica Neue"/>
              </a:rPr>
              <a:t>169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59618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6B7082"/>
                </a:solidFill>
                <a:latin typeface="Helvetica Neue"/>
              </a:rPr>
              <a:t>Food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The mix at the top has expanded — Downey Growth and American Pride joined the political leaders.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E86AB"/>
                </a:solidFill>
                <a:latin typeface="Helvetica Neue"/>
              </a:rPr>
              <a:t>THE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Georgia"/>
              </a:rPr>
              <a:t>July diversified the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FCF6F5"/>
                </a:solidFill>
                <a:latin typeface="Helvetica Neue"/>
              </a:rPr>
              <a:t>June was proof of concept — controversy engine at scale. July was the sequel — same engine, plus new lanes.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June posts (Jun 8–30): 131  →  July posts (Jul 1–31): 163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1868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#1 post in July: [TT] 37,900 views — Military Service — "Combat jobs aren't for everyone. See how your MOS determines depl"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11296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Top-earning category: Military Service (69,292 total views in July)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0390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Content split: 0 investigative posts vs 111 positive/community posts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FCF6F5"/>
                </a:solidFill>
                <a:latin typeface="Helvetica Neue"/>
              </a:rPr>
              <a:t>—  Dominant platform for reach: Tiktok (largest share of total July views)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41833"/>
                </a:solidFill>
                <a:latin typeface="Helvetica Neue"/>
              </a:rPr>
              <a:t>WHAT TO ASK THE SPONSOR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Where should we lean in August — heat, growth, or pride?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