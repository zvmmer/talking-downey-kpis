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09728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2E86AB"/>
                </a:solidFill>
                <a:latin typeface="Helvetica Neue"/>
              </a:rPr>
              <a:t>JULY 2026 PERFORMANCE REPORT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737360"/>
            <a:ext cx="100584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400" b="1">
                <a:solidFill>
                  <a:srgbClr val="FFFFFF"/>
                </a:solidFill>
                <a:latin typeface="Georgia"/>
              </a:rPr>
              <a:t>Talking Downey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10896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0">
                <a:solidFill>
                  <a:srgbClr val="FCF6F5"/>
                </a:solidFill>
                <a:latin typeface="Georgia"/>
              </a:rPr>
              <a:t>Brand momentum — widening the portfolio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57200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Tracking period: Jul 1 – Jul 31,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93776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Comparison baseline: June 2026 (16-day launch window)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30352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4 platforms · IG · TikTok · Facebook · YouTube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603504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Prepared by Zhamir Pascual — Z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JUNE → JULY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The month the show broadened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Same brand. Wider net. Political content still runs — but Downey growth stories and American pride content joined the top tier.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194560"/>
            <a:ext cx="530352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0" b="1">
                <a:solidFill>
                  <a:srgbClr val="2E86AB"/>
                </a:solidFill>
                <a:latin typeface="Georgia"/>
              </a:rPr>
              <a:t>163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657600"/>
            <a:ext cx="5303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2F3C7E"/>
                </a:solidFill>
                <a:latin typeface="Helvetica Neue"/>
              </a:rPr>
              <a:t>posts in July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11480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7082"/>
                </a:solidFill>
                <a:latin typeface="Helvetica Neue"/>
              </a:rPr>
              <a:t>(131 in June baseline window)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0" y="2194560"/>
            <a:ext cx="5120640" cy="10972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0" y="2194560"/>
            <a:ext cx="73152" cy="109728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29400" y="233172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990011"/>
                </a:solidFill>
                <a:latin typeface="Helvetica Neue"/>
              </a:rPr>
              <a:t>TRUTH &amp; SCANDAL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2606040"/>
            <a:ext cx="27432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200" b="1">
                <a:solidFill>
                  <a:srgbClr val="141833"/>
                </a:solidFill>
                <a:latin typeface="Georgia"/>
              </a:rPr>
              <a:t>2,500 → 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0" y="2606040"/>
            <a:ext cx="1188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1">
                <a:solidFill>
                  <a:srgbClr val="990011"/>
                </a:solidFill>
                <a:latin typeface="Helvetica Neue"/>
              </a:rPr>
              <a:t>▼ -100%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297180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avg views per post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0" y="3474720"/>
            <a:ext cx="5120640" cy="10972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0" y="3474720"/>
            <a:ext cx="73152" cy="109728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29400" y="3611879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E86AB"/>
                </a:solidFill>
                <a:latin typeface="Helvetica Neue"/>
              </a:rPr>
              <a:t>PERSONALITY HIGHLIGHTS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29400" y="3886200"/>
            <a:ext cx="27432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200" b="1">
                <a:solidFill>
                  <a:srgbClr val="141833"/>
                </a:solidFill>
                <a:latin typeface="Georgia"/>
              </a:rPr>
              <a:t>1,121 → 336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41280" y="3886200"/>
            <a:ext cx="1188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1">
                <a:solidFill>
                  <a:srgbClr val="990011"/>
                </a:solidFill>
                <a:latin typeface="Helvetica Neue"/>
              </a:rPr>
              <a:t>▼ -70%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29400" y="4251959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avg views per post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0" y="4754879"/>
            <a:ext cx="5120640" cy="10972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00800" y="4754879"/>
            <a:ext cx="73152" cy="109728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29400" y="489204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AMERICAN PRIDE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29400" y="5166359"/>
            <a:ext cx="27432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200" b="1">
                <a:solidFill>
                  <a:srgbClr val="141833"/>
                </a:solidFill>
                <a:latin typeface="Georgia"/>
              </a:rPr>
              <a:t>948 → 480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41280" y="5166359"/>
            <a:ext cx="1188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1">
                <a:solidFill>
                  <a:srgbClr val="990011"/>
                </a:solidFill>
                <a:latin typeface="Helvetica Neue"/>
              </a:rPr>
              <a:t>▼ -49%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29400" y="5532119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avg views per post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62636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The show is no longer a one-note engine. Positive lanes are earning their seat at the table.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PLATFORM-BY-PLATFORM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Where the audience is showing 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Total views per platform in the July window vs. the June baseline window. Positive = platform is still climbing.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447" y="2286000"/>
            <a:ext cx="2606040" cy="3474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09447" y="2286000"/>
            <a:ext cx="54864" cy="347472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2327" y="2468880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E86AB"/>
                </a:solidFill>
                <a:latin typeface="Helvetica Neue"/>
              </a:rPr>
              <a:t>INSTAGRAM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327" y="2880360"/>
            <a:ext cx="22402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600" b="1">
                <a:solidFill>
                  <a:srgbClr val="2F3C7E"/>
                </a:solidFill>
                <a:latin typeface="Georgia"/>
              </a:rPr>
              <a:t>47,889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2327" y="370332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July views (54 posts)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2327" y="4114800"/>
            <a:ext cx="2240280" cy="13716"/>
          </a:xfrm>
          <a:prstGeom prst="rect">
            <a:avLst/>
          </a:prstGeom>
          <a:solidFill>
            <a:srgbClr val="E2D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2327" y="425196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6B7082"/>
                </a:solidFill>
                <a:latin typeface="Helvetica Neue"/>
              </a:rPr>
              <a:t>JUNE BASELINE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2327" y="4526280"/>
            <a:ext cx="22402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1">
                <a:solidFill>
                  <a:srgbClr val="141833"/>
                </a:solidFill>
                <a:latin typeface="Helvetica Neue"/>
              </a:rPr>
              <a:t>72,946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2327" y="512064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(42 posts)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98367" y="2286000"/>
            <a:ext cx="2606040" cy="3474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398367" y="2286000"/>
            <a:ext cx="54864" cy="347472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81247" y="2468880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E86AB"/>
                </a:solidFill>
                <a:latin typeface="Helvetica Neue"/>
              </a:rPr>
              <a:t>TIKTOK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81247" y="2880360"/>
            <a:ext cx="22402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600" b="1">
                <a:solidFill>
                  <a:srgbClr val="2F3C7E"/>
                </a:solidFill>
                <a:latin typeface="Georgia"/>
              </a:rPr>
              <a:t>112,130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81247" y="370332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July views (50 posts)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581247" y="4114800"/>
            <a:ext cx="2240280" cy="13716"/>
          </a:xfrm>
          <a:prstGeom prst="rect">
            <a:avLst/>
          </a:prstGeom>
          <a:solidFill>
            <a:srgbClr val="E2D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81247" y="425196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6B7082"/>
                </a:solidFill>
                <a:latin typeface="Helvetica Neue"/>
              </a:rPr>
              <a:t>JUNE BASELINE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81247" y="4526280"/>
            <a:ext cx="22402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1">
                <a:solidFill>
                  <a:srgbClr val="141833"/>
                </a:solidFill>
                <a:latin typeface="Helvetica Neue"/>
              </a:rPr>
              <a:t>90,443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81247" y="512064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(37 posts)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87287" y="2286000"/>
            <a:ext cx="2606040" cy="3474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87287" y="2286000"/>
            <a:ext cx="54864" cy="347472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70167" y="2468880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E86AB"/>
                </a:solidFill>
                <a:latin typeface="Helvetica Neue"/>
              </a:rPr>
              <a:t>FACEBOOK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70167" y="2880360"/>
            <a:ext cx="22402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600" b="1">
                <a:solidFill>
                  <a:srgbClr val="2F3C7E"/>
                </a:solidFill>
                <a:latin typeface="Georgia"/>
              </a:rPr>
              <a:t>45,883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0167" y="370332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July views (55 posts)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70167" y="4114800"/>
            <a:ext cx="2240280" cy="13716"/>
          </a:xfrm>
          <a:prstGeom prst="rect">
            <a:avLst/>
          </a:prstGeom>
          <a:solidFill>
            <a:srgbClr val="E2D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0167" y="425196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6B7082"/>
                </a:solidFill>
                <a:latin typeface="Helvetica Neue"/>
              </a:rPr>
              <a:t>JUNE BASELINE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70167" y="4526280"/>
            <a:ext cx="22402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1">
                <a:solidFill>
                  <a:srgbClr val="141833"/>
                </a:solidFill>
                <a:latin typeface="Helvetica Neue"/>
              </a:rPr>
              <a:t>56,179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70167" y="512064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(48 posts)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976207" y="2286000"/>
            <a:ext cx="2606040" cy="3474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976207" y="2286000"/>
            <a:ext cx="54864" cy="347472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159087" y="2468880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E86AB"/>
                </a:solidFill>
                <a:latin typeface="Helvetica Neue"/>
              </a:rPr>
              <a:t>YOUTUBE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59087" y="2880360"/>
            <a:ext cx="22402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600" b="1">
                <a:solidFill>
                  <a:srgbClr val="2F3C7E"/>
                </a:solidFill>
                <a:latin typeface="Georgia"/>
              </a:rPr>
              <a:t>366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59087" y="370332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July views (4 posts)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159087" y="4114800"/>
            <a:ext cx="2240280" cy="13716"/>
          </a:xfrm>
          <a:prstGeom prst="rect">
            <a:avLst/>
          </a:prstGeom>
          <a:solidFill>
            <a:srgbClr val="E2D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159087" y="425196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6B7082"/>
                </a:solidFill>
                <a:latin typeface="Helvetica Neue"/>
              </a:rPr>
              <a:t>JUNE BASELINE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59087" y="4526280"/>
            <a:ext cx="22402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1">
                <a:solidFill>
                  <a:srgbClr val="141833"/>
                </a:solidFill>
                <a:latin typeface="Helvetica Neue"/>
              </a:rPr>
              <a:t>736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159087" y="512064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(4 posts)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1520" y="62636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IG remains the workhorse. YouTube is the new signal — each episode is a compounding asset, not a spike.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CONTENT TAXONOMY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What we posted in July, and how it performed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Average views per post across all platforms. Higher = more reach per piece.</a:t>
            </a:r>
          </a:p>
        </p:txBody>
      </p:sp>
      <p:sp>
        <p:nvSpPr>
          <p:cNvPr id="6" name="Rectangle 5"/>
          <p:cNvSpPr/>
          <p:nvPr/>
        </p:nvSpPr>
        <p:spPr>
          <a:xfrm>
            <a:off x="586587" y="2103120"/>
            <a:ext cx="2651760" cy="1737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86587" y="2103120"/>
            <a:ext cx="54864" cy="1737360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9467" y="2240279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MILITARY_SERVICE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9467" y="2514600"/>
            <a:ext cx="22860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2F3C7E"/>
                </a:solidFill>
                <a:latin typeface="Georgia"/>
              </a:rPr>
              <a:t>3,273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9467" y="3154679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avg views/post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9467" y="3401568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141833"/>
                </a:solidFill>
                <a:latin typeface="Helvetica Neue"/>
              </a:rPr>
              <a:t>19 posts · 62,185 total views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75507" y="2103120"/>
            <a:ext cx="2651760" cy="1737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375507" y="2103120"/>
            <a:ext cx="54864" cy="173736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58387" y="2240279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B7A43"/>
                </a:solidFill>
                <a:latin typeface="Helvetica Neue"/>
              </a:rPr>
              <a:t>FIFA — POSITIVE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58387" y="2514600"/>
            <a:ext cx="22860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2F3C7E"/>
                </a:solidFill>
                <a:latin typeface="Georgia"/>
              </a:rPr>
              <a:t>4,605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58387" y="3154679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avg views/post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58387" y="3401568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141833"/>
                </a:solidFill>
                <a:latin typeface="Helvetica Neue"/>
              </a:rPr>
              <a:t>10 posts · 46,049 total views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64427" y="2103120"/>
            <a:ext cx="2651760" cy="1737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64427" y="2103120"/>
            <a:ext cx="54864" cy="173736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47307" y="2240279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B7A43"/>
                </a:solidFill>
                <a:latin typeface="Helvetica Neue"/>
              </a:rPr>
              <a:t>FOOD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47307" y="2514600"/>
            <a:ext cx="22860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2F3C7E"/>
                </a:solidFill>
                <a:latin typeface="Georgia"/>
              </a:rPr>
              <a:t>1,584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47307" y="3154679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avg views/post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47307" y="3401568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141833"/>
                </a:solidFill>
                <a:latin typeface="Helvetica Neue"/>
              </a:rPr>
              <a:t>25 posts · 39,592 total views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953347" y="2103120"/>
            <a:ext cx="2651760" cy="1737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953347" y="2103120"/>
            <a:ext cx="54864" cy="1737360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36227" y="2240279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OTHER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36227" y="2514600"/>
            <a:ext cx="22860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2F3C7E"/>
                </a:solidFill>
                <a:latin typeface="Georgia"/>
              </a:rPr>
              <a:t>515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36227" y="3154679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avg views/post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36227" y="3401568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141833"/>
                </a:solidFill>
                <a:latin typeface="Helvetica Neue"/>
              </a:rPr>
              <a:t>31 posts · 15,968 total views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86587" y="3977639"/>
            <a:ext cx="2651760" cy="1737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86587" y="3977639"/>
            <a:ext cx="54864" cy="173736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69467" y="411480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41833"/>
                </a:solidFill>
                <a:latin typeface="Helvetica Neue"/>
              </a:rPr>
              <a:t>COMMUNITY LOCAL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69467" y="4389120"/>
            <a:ext cx="22860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2F3C7E"/>
                </a:solidFill>
                <a:latin typeface="Georgia"/>
              </a:rPr>
              <a:t>869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69467" y="5029200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avg views/post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9467" y="5276088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141833"/>
                </a:solidFill>
                <a:latin typeface="Helvetica Neue"/>
              </a:rPr>
              <a:t>11 posts · 9,564 total views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375507" y="3977639"/>
            <a:ext cx="2651760" cy="1737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375507" y="3977639"/>
            <a:ext cx="54864" cy="173736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558387" y="411480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2F3C7E"/>
                </a:solidFill>
                <a:latin typeface="Helvetica Neue"/>
              </a:rPr>
              <a:t>JUDICIAL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558387" y="4389120"/>
            <a:ext cx="22860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2F3C7E"/>
                </a:solidFill>
                <a:latin typeface="Georgia"/>
              </a:rPr>
              <a:t>303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558387" y="5029200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avg views/post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58387" y="5276088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141833"/>
                </a:solidFill>
                <a:latin typeface="Helvetica Neue"/>
              </a:rPr>
              <a:t>23 posts · 6,978 total views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164427" y="3977639"/>
            <a:ext cx="2651760" cy="1737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164427" y="3977639"/>
            <a:ext cx="54864" cy="17373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347307" y="411480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990011"/>
                </a:solidFill>
                <a:latin typeface="Helvetica Neue"/>
              </a:rPr>
              <a:t>AMERICAN PRIDE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47307" y="4389120"/>
            <a:ext cx="22860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2F3C7E"/>
                </a:solidFill>
                <a:latin typeface="Georgia"/>
              </a:rPr>
              <a:t>480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47307" y="5029200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avg views/post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47307" y="5276088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141833"/>
                </a:solidFill>
                <a:latin typeface="Helvetica Neue"/>
              </a:rPr>
              <a:t>12 posts · 5,764 total views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953347" y="3977639"/>
            <a:ext cx="2651760" cy="1737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8953347" y="3977639"/>
            <a:ext cx="54864" cy="173736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136227" y="411480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41833"/>
                </a:solidFill>
                <a:latin typeface="Helvetica Neue"/>
              </a:rPr>
              <a:t>COMMUNITY EVENTS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136227" y="4389120"/>
            <a:ext cx="22860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2F3C7E"/>
                </a:solidFill>
                <a:latin typeface="Georgia"/>
              </a:rPr>
              <a:t>449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136227" y="5029200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avg views/post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136227" y="5276088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141833"/>
                </a:solidFill>
                <a:latin typeface="Helvetica Neue"/>
              </a:rPr>
              <a:t>11 posts · 4,941 total views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31520" y="62636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The taxonomy is broader in July. Each new bucket is a lane the sponsor can choose to invest more into.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BREAKOUTS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Top July posts by views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Ranked across all platforms. These are the pieces that pulled outside the average.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194560"/>
            <a:ext cx="11155680" cy="45720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30428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#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30428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PLATFORM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03120" y="230428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POST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55280" y="230428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VIEWS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0" y="2304288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0" y="23042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CATEGORY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651760"/>
            <a:ext cx="54864" cy="45720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276148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03120" y="276148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Combat jobs aren't for everyone. See how your MOS determines deployment lik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55280" y="276148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37,900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26880" y="2761488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2,472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0" y="27614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Military Service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3108960"/>
            <a:ext cx="11155680" cy="457200"/>
          </a:xfrm>
          <a:prstGeom prst="rect">
            <a:avLst/>
          </a:prstGeom>
          <a:solidFill>
            <a:srgbClr val="F5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48640" y="3108960"/>
            <a:ext cx="54864" cy="45720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321868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" y="321868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03120" y="321868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Watch party in Stonewood Mall! Over 25,000 people showed up for this epic 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55280" y="321868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27,400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26880" y="3218688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806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15600" y="32186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Fifa Positive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3566160"/>
            <a:ext cx="54864" cy="45720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3675887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" y="3675887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03120" y="3675887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Pop's Wings just opened and it's a must-try! Their pastrami sandwich with 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955280" y="3675887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8,352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26880" y="3675887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405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15600" y="3675887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Food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48640" y="4023360"/>
            <a:ext cx="11155680" cy="457200"/>
          </a:xfrm>
          <a:prstGeom prst="rect">
            <a:avLst/>
          </a:prstGeom>
          <a:solidFill>
            <a:srgbClr val="F5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" y="413308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97280" y="413308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IG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103120" y="413308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25,000+ people gathered for a watch party at Stonewood Mall! Despite the $3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955280" y="413308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7,180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326880" y="4133088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264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515600" y="41330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Fifa Positive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0080" y="459028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97280" y="459028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FB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103120" y="459028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Over 25,000 people gathered at Stonewood Mall for a massive watch party. De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955280" y="459028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6,355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326880" y="4590288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46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515600" y="45902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Fifa Positive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48640" y="4937760"/>
            <a:ext cx="11155680" cy="457200"/>
          </a:xfrm>
          <a:prstGeom prst="rect">
            <a:avLst/>
          </a:prstGeom>
          <a:solidFill>
            <a:srgbClr val="F5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40080" y="504748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97280" y="504748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IG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103120" y="504748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Not everyone deployed sees combat, even with 20 years in. Your MOS matters.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955280" y="504748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5,139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326880" y="5047488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186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515600" y="50474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Military Service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40080" y="550468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7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97280" y="550468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IG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103120" y="550468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Found an amazing pastrami sandwich at Pop's Wings! Toasted bread, tender pa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955280" y="550468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4,752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326880" y="5504688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128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515600" y="55046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Food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48640" y="5852160"/>
            <a:ext cx="11155680" cy="457200"/>
          </a:xfrm>
          <a:prstGeom prst="rect">
            <a:avLst/>
          </a:prstGeom>
          <a:solidFill>
            <a:srgbClr val="F5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40080" y="596188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8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97280" y="596188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IG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103120" y="596188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Dreamed of college, but the cost was a barrier. Joined the Army, and they p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955280" y="596188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4,043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326880" y="5961888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143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515600" y="59618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Military Service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31520" y="62636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The mix at the top has expanded — Downey Growth and American Pride joined the political leaders.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297680"/>
            <a:ext cx="12191695" cy="256032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4864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E86AB"/>
                </a:solidFill>
                <a:latin typeface="Helvetica Neue"/>
              </a:rPr>
              <a:t>THE READ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1440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600" b="1">
                <a:solidFill>
                  <a:srgbClr val="FFFFFF"/>
                </a:solidFill>
                <a:latin typeface="Georgia"/>
              </a:rPr>
              <a:t>July diversified the show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965960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FCF6F5"/>
                </a:solidFill>
                <a:latin typeface="Helvetica Neue"/>
              </a:rPr>
              <a:t>June was proof of concept — controversy engine at scale. July was the sequel — same engine, plus new lanes.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926080"/>
            <a:ext cx="10332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—  June posts (Jun 8–30): 131  →  July posts (Jul 1–31): 163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218688"/>
            <a:ext cx="10332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—  #1 post in July: [TT] 37,900 views — Military Service — "Combat jobs aren't for everyone. See how your MOS determines depl"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511296"/>
            <a:ext cx="10332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—  Top-earning category: Military Service (62,185 total views in July)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803904"/>
            <a:ext cx="10332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—  Content split: 0 investigative posts vs 98 positive/community posts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096512"/>
            <a:ext cx="10332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—  Dominant platform for reach: Tiktok (largest share of total July views)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66344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WHAT TO ASK THE SPONSOR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502920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Georgia"/>
              </a:rPr>
              <a:t>Where should we lean in August — heat, growth, or pride?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