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990011"/>
                </a:solidFill>
                <a:latin typeface="Helvetica Neue"/>
              </a:rPr>
              <a:t>OVERALL PERFORMANCE — ALL-TIME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Talking Downey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089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0">
                <a:solidFill>
                  <a:srgbClr val="FCF6F5"/>
                </a:solidFill>
                <a:latin typeface="Georgia"/>
              </a:rPr>
              <a:t>Since Jun 8, 2026 · 2026-09-25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Every tracked post across every platform.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937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The cumulative story — no monthly cutoffs.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0350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Prepared by Zhamir Pascual — 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THE HEADLINE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Total reach since engagement started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Sum of view counts across every unique post captured since Jun 8,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106984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0" b="1">
                <a:solidFill>
                  <a:srgbClr val="990011"/>
                </a:solidFill>
                <a:latin typeface="Georgia"/>
              </a:rPr>
              <a:t>620,010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65760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2F3C7E"/>
                </a:solidFill>
                <a:latin typeface="Helvetica Neue"/>
              </a:rPr>
              <a:t>total views across all tracked posts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447" y="4572000"/>
            <a:ext cx="34747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447" y="4572000"/>
            <a:ext cx="73152" cy="12801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3767" y="47548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TOTAL POSTS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3767" y="507492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41833"/>
                </a:solidFill>
                <a:latin typeface="Georgia"/>
              </a:rPr>
              <a:t>532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58487" y="4572000"/>
            <a:ext cx="34747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58487" y="4572000"/>
            <a:ext cx="73152" cy="12801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32807" y="47548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TOTAL LIKES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2807" y="507492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41833"/>
                </a:solidFill>
                <a:latin typeface="Georgia"/>
              </a:rPr>
              <a:t>18,833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07527" y="4572000"/>
            <a:ext cx="34747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7527" y="4572000"/>
            <a:ext cx="73152" cy="12801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81847" y="47548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AVG VIEWS/POST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1847" y="507492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41833"/>
                </a:solidFill>
                <a:latin typeface="Georgia"/>
              </a:rPr>
              <a:t>1,165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BY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Where the reach is coming from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Total views + post count per platform since Jun 8. Bigger view total = the audience is there.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447" y="219456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447" y="2194560"/>
            <a:ext cx="54864" cy="347472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2327" y="2377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INSTAGRAM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327" y="278892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1">
                <a:solidFill>
                  <a:srgbClr val="2F3C7E"/>
                </a:solidFill>
                <a:latin typeface="Georgia"/>
              </a:rPr>
              <a:t>187,156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327" y="38404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327" y="4297679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170 posts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327" y="46634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1,101 avg views/post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98367" y="219456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98367" y="2194560"/>
            <a:ext cx="54864" cy="34747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81247" y="2377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TIKTOK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81247" y="278892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1">
                <a:solidFill>
                  <a:srgbClr val="2F3C7E"/>
                </a:solidFill>
                <a:latin typeface="Georgia"/>
              </a:rPr>
              <a:t>245,109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81247" y="38404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81247" y="4297679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156 posts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81247" y="46634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1,571 avg views/post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87287" y="219456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87287" y="2194560"/>
            <a:ext cx="54864" cy="34747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0167" y="2377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FACEBOOK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70167" y="278892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1">
                <a:solidFill>
                  <a:srgbClr val="2F3C7E"/>
                </a:solidFill>
                <a:latin typeface="Georgia"/>
              </a:rPr>
              <a:t>185,885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38404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0167" y="4297679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191 posts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0167" y="46634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973 avg views/post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76207" y="219456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976207" y="2194560"/>
            <a:ext cx="54864" cy="347472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59087" y="2377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YOUTUBE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59087" y="278892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1">
                <a:solidFill>
                  <a:srgbClr val="2F3C7E"/>
                </a:solidFill>
                <a:latin typeface="Georgia"/>
              </a:rPr>
              <a:t>1,860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59087" y="38404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59087" y="4297679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15 posts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59087" y="46634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124 avg views/post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Instagram is the workhorse. TikTok punches above weight on breakouts. YouTube compounds. FB is the reliable floor.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ALL-TIME CATEGORY RANKING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Which content types earned the most reach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Cumulative view totals per category. Numbers speak — this is the sponsor's decision matrix.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76272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Food</a:t>
            </a:r>
          </a:p>
        </p:txBody>
      </p:sp>
      <p:sp>
        <p:nvSpPr>
          <p:cNvPr id="7" name="Rectangle 6"/>
          <p:cNvSpPr/>
          <p:nvPr/>
        </p:nvSpPr>
        <p:spPr>
          <a:xfrm>
            <a:off x="3383280" y="2203704"/>
            <a:ext cx="6858000" cy="192024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19" y="2176272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93,817   (61 posts · 1,538 avg)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05456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Other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3280" y="2532888"/>
            <a:ext cx="6674154" cy="192024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48874" y="2505456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91,302   (158 posts · 578 avg)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34640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military_service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3280" y="2862072"/>
            <a:ext cx="4571366" cy="192024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086" y="2834640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62,536   (22 posts · 2,843 avg)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163824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FIFA — Positive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83280" y="3191256"/>
            <a:ext cx="3783131" cy="192024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57851" y="3163824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51,753   (17 posts · 3,044 avg)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493008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83280" y="3520440"/>
            <a:ext cx="3485177" cy="19202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59897" y="3493008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47,677   (18 posts · 2,649 avg)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822192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Trujillo Scandal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83280" y="3849624"/>
            <a:ext cx="3009005" cy="192024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3725" y="3822192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41,163   (18 posts · 2,287 avg)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151376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Community Local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83280" y="4178807"/>
            <a:ext cx="2417555" cy="192024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92275" y="4151376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33,072   (33 posts · 1,002 avg)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480560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Politics (other)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383280" y="4507992"/>
            <a:ext cx="2251545" cy="192024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726265" y="4480560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30,801   (19 posts · 1,621 avg)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4809744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Council Chaos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383280" y="4837176"/>
            <a:ext cx="2094746" cy="192024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569466" y="4809744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28,656   (6 posts · 4,776 avg)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5138928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Political Highlight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383280" y="5166359"/>
            <a:ext cx="2011851" cy="192024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571" y="5138928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27,522   (30 posts · 917 avg)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5468112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Judicial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383280" y="5495543"/>
            <a:ext cx="1498983" cy="192024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973703" y="5468112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20,506   (49 posts · 418 avg)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5797296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Elections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383280" y="5824728"/>
            <a:ext cx="1483194" cy="192024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57914" y="5797296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20,290   (21 posts · 966 avg)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The top of the leaderboard tells you what's earning attention. The tail tells you where headroom exists.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ALL-TIME TOP 10 POSTS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The peak performers since Jun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Individual URLs ranked by views. These are the moments the audience shows up hardest.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11064240" cy="384048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26771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#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26771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PLATFORM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2267712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POST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22677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22677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22677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CATEGORY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578608"/>
            <a:ext cx="54864" cy="384048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65176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65176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265176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Combat jobs aren't for everyone. See how your MOS determines deployment likeliho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26517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37,900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26517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2,472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60" y="26517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Military Service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2962656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2962656"/>
            <a:ext cx="54864" cy="384048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03580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303580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11680" y="303580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Get ready! Round One is taking over the old Sears at Stonewood Mall. This massiv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0" y="303580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29,200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303580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2,513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60" y="303580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346703"/>
            <a:ext cx="54864" cy="384048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341985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341985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11680" y="3419856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Watch party in Stonewood Mall! Over 25,000 people showed up for this epic event.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0" y="34198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27,400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0" y="34198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806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24160" y="34198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3730752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38039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" y="380390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011680" y="3803904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Mama Lu's is coming to Downey! Asian community favorite, famous for their tender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63840" y="380390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13,600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0" y="380390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951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24160" y="380390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Food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418795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" y="418795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FB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011680" y="4187952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Chaos erupted at a council meeting when Ms. Rivera began screaming, refusing to 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863840" y="4187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11,780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44000" y="4187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47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24160" y="4187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Politics Other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8640" y="4498848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0080" y="457200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7280" y="457200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011680" y="457200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Grew up in Huntington Park and still own property there. The city's o...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63840" y="45720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9,839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44000" y="45720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548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424160" y="45720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Trujillo Scandal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0080" y="49560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97280" y="495604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011680" y="495604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Pop's Wings just opened and it's a must-try! Their pastrami sandwich with sweet 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863840" y="49560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8,352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0" y="49560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405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424160" y="49560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Food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8640" y="5266944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0080" y="534009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97280" y="534009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011680" y="5340096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Chaos erupted! Lissette Rivera refused to calm down, escalating until she was es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863840" y="534009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7,728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144000" y="534009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109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424160" y="534009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Council Chaos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40080" y="57241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97280" y="572414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011680" y="5724144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25,000+ people gathered for a watch party at Stonewood Mall! Despite the $300k c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863840" y="57241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7,180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144000" y="57241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264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424160" y="57241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48640" y="6035040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40080" y="61081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10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97280" y="610819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011680" y="6108192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woman's outburst at a city council meeting, repeatedly warned by the mayor, le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863840" y="61081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7,031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144000" y="61081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93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424160" y="61081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Council Chaos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