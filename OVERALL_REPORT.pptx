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990011"/>
                </a:solidFill>
                <a:latin typeface="Helvetica Neue"/>
              </a:rPr>
              <a:t>OVERALL PERFORMANCE — ALL-TIME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Georgia"/>
              </a:rPr>
              <a:t>Talking Downey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>
                <a:solidFill>
                  <a:srgbClr val="FCF6F5"/>
                </a:solidFill>
                <a:latin typeface="Georgia"/>
              </a:rPr>
              <a:t>Since Jun 8, 2026 · 2026-10-02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Every tracked post across every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The cumulative story — no monthly cutoffs.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Prepared by Zhamir Pascual — 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THE 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Total reach since engagement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Sum of view counts across every unique post captured since Jun 8,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990011"/>
                </a:solidFill>
                <a:latin typeface="Georgia"/>
              </a:rPr>
              <a:t>806,526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2F3C7E"/>
                </a:solidFill>
                <a:latin typeface="Helvetica Neue"/>
              </a:rPr>
              <a:t>total views across all tracked posts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" y="4572000"/>
            <a:ext cx="34747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447" y="4572000"/>
            <a:ext cx="73152" cy="12801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3767" y="47548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90011"/>
                </a:solidFill>
                <a:latin typeface="Helvetica Neue"/>
              </a:rPr>
              <a:t>TOTAL POSTS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3767" y="50749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41833"/>
                </a:solidFill>
                <a:latin typeface="Georgia"/>
              </a:rPr>
              <a:t>559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8487" y="4572000"/>
            <a:ext cx="34747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8487" y="4572000"/>
            <a:ext cx="73152" cy="12801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2807" y="47548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90011"/>
                </a:solidFill>
                <a:latin typeface="Helvetica Neue"/>
              </a:rPr>
              <a:t>TOTAL LIKES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2807" y="50749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41833"/>
                </a:solidFill>
                <a:latin typeface="Georgia"/>
              </a:rPr>
              <a:t>24,792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7527" y="4572000"/>
            <a:ext cx="34747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7527" y="4572000"/>
            <a:ext cx="73152" cy="12801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1847" y="47548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90011"/>
                </a:solidFill>
                <a:latin typeface="Helvetica Neue"/>
              </a:rPr>
              <a:t>AVG VIEWS/POST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1847" y="50749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41833"/>
                </a:solidFill>
                <a:latin typeface="Georgia"/>
              </a:rPr>
              <a:t>1,442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BY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Where the reach is coming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Total views + post count per platform since Jun 8. Bigger view total = the audience is there.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447" y="2194560"/>
            <a:ext cx="260604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447" y="2194560"/>
            <a:ext cx="54864" cy="34747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327" y="23774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90011"/>
                </a:solidFill>
                <a:latin typeface="Helvetica Neue"/>
              </a:rPr>
              <a:t>INSTAGRAM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278892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1">
                <a:solidFill>
                  <a:srgbClr val="2F3C7E"/>
                </a:solidFill>
                <a:latin typeface="Georgia"/>
              </a:rPr>
              <a:t>346,207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27" y="38404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B7082"/>
                </a:solidFill>
                <a:latin typeface="Helvetica Neue"/>
              </a:rPr>
              <a:t>total 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327" y="4297679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179 posts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327" y="46634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1,934 avg views/post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8367" y="2194560"/>
            <a:ext cx="260604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8367" y="2194560"/>
            <a:ext cx="54864" cy="347472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1247" y="23774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1833"/>
                </a:solidFill>
                <a:latin typeface="Helvetica Neue"/>
              </a:rPr>
              <a:t>TIKTOK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1247" y="278892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1">
                <a:solidFill>
                  <a:srgbClr val="2F3C7E"/>
                </a:solidFill>
                <a:latin typeface="Georgia"/>
              </a:rPr>
              <a:t>268,675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1247" y="38404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B7082"/>
                </a:solidFill>
                <a:latin typeface="Helvetica Neue"/>
              </a:rPr>
              <a:t>total 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1247" y="4297679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164 posts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1247" y="46634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1,638 avg views/post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7287" y="2194560"/>
            <a:ext cx="260604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7287" y="2194560"/>
            <a:ext cx="54864" cy="34747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0167" y="23774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FACEBOOK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167" y="278892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1">
                <a:solidFill>
                  <a:srgbClr val="2F3C7E"/>
                </a:solidFill>
                <a:latin typeface="Georgia"/>
              </a:rPr>
              <a:t>189,412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38404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B7082"/>
                </a:solidFill>
                <a:latin typeface="Helvetica Neue"/>
              </a:rPr>
              <a:t>total 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167" y="4297679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199 posts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46634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952 avg views/post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76207" y="2194560"/>
            <a:ext cx="260604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76207" y="2194560"/>
            <a:ext cx="54864" cy="347472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59087" y="23774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990011"/>
                </a:solidFill>
                <a:latin typeface="Helvetica Neue"/>
              </a:rPr>
              <a:t>YOUTUBE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9087" y="278892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1">
                <a:solidFill>
                  <a:srgbClr val="2F3C7E"/>
                </a:solidFill>
                <a:latin typeface="Georgia"/>
              </a:rPr>
              <a:t>2,232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9087" y="384048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B7082"/>
                </a:solidFill>
                <a:latin typeface="Helvetica Neue"/>
              </a:rPr>
              <a:t>total views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9087" y="4297679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41833"/>
                </a:solidFill>
                <a:latin typeface="Helvetica Neue"/>
              </a:rPr>
              <a:t>17 posts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9087" y="46634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131 avg views/post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Instagram is the workhorse. TikTok punches above weight on breakouts. YouTube compounds. FB is the reliable floor.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ALL-TIME CATEGORY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Which content types earned the most 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Cumulative view totals per category. Numbers speak — this is the sponsor's decision matrix.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76272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1833"/>
                </a:solidFill>
                <a:latin typeface="Helvetica Neue"/>
              </a:rPr>
              <a:t>Other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2203704"/>
            <a:ext cx="6858000" cy="192024"/>
          </a:xfrm>
          <a:prstGeom prst="rect">
            <a:avLst/>
          </a:prstGeom>
          <a:solidFill>
            <a:srgbClr val="6B7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9" y="2176272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250,607   (174 posts · 1,440 avg)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05456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1833"/>
                </a:solidFill>
                <a:latin typeface="Helvetica Neue"/>
              </a:rPr>
              <a:t>Food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532888"/>
            <a:ext cx="2583582" cy="192024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58302" y="2505456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94,410   (62 posts · 1,523 avg)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41833"/>
                </a:solidFill>
                <a:latin typeface="Helvetica Neue"/>
              </a:rPr>
              <a:t>military_service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862072"/>
            <a:ext cx="2363590" cy="192024"/>
          </a:xfrm>
          <a:prstGeom prst="rect">
            <a:avLst/>
          </a:prstGeom>
          <a:solidFill>
            <a:srgbClr val="6B7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38310" y="283464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86,371   (28 posts · 3,085 avg)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63824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FIFA — Positive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3191256"/>
            <a:ext cx="1421750" cy="192024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6470" y="3163824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51,954   (17 posts · 3,056 avg)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93008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Downtown Development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520440"/>
            <a:ext cx="1304707" cy="1920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9427" y="3493008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47,677   (18 posts · 2,649 avg)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22192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Trujillo Scandal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849624"/>
            <a:ext cx="1126503" cy="19202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1223" y="3822192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41,165   (18 posts · 2,287 avg)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51376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Community Local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178807"/>
            <a:ext cx="927911" cy="192024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2631" y="4151376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33,908   (34 posts · 997 avg)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480560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Politics (other)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4507992"/>
            <a:ext cx="849098" cy="192024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3818" y="448056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31,028   (21 posts · 1,478 avg)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09744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Council Chaos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4837176"/>
            <a:ext cx="785117" cy="192024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9837" y="4809744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28,690   (6 posts · 4,782 avg)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38928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Political Highlight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5166359"/>
            <a:ext cx="767521" cy="19202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2241" y="5138928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28,047   (30 posts · 935 avg)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468112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Elections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3280" y="5495543"/>
            <a:ext cx="562499" cy="192024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37219" y="5468112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20,555   (21 posts · 979 avg)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797296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Judicial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0" y="5824728"/>
            <a:ext cx="561650" cy="192024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36370" y="5797296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20,524   (49 posts · 419 avg)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The top of the leaderboard tells you what's earning attention. The tail tells you where headroom exists.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ALL-TIME TOP 10 POSTS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The peak performers since Jun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Individual URLs ranked by views. These are the moments the audience shows up hardest.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384048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677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677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26771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2677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2677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LIKES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22677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CATEGORY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78608"/>
            <a:ext cx="54864" cy="384048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517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65176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Joined the National Guard for college tuition. Now a Battalion Commander after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6517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80,582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6517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2,836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26517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Other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62656"/>
            <a:ext cx="11064240" cy="384048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962656"/>
            <a:ext cx="54864" cy="384048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358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0358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03580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Visa issues left me without a country to study in. Malaysia or Singapore were 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0358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69,069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0358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1,988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30358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Other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346703"/>
            <a:ext cx="54864" cy="384048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4198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4198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3419856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Combat jobs aren't for everyone. See how your MOS determines deployment likeliho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4198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37,900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4198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2,472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34198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Military Service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730752"/>
            <a:ext cx="11064240" cy="384048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8039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380390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3803904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Get ready! Round One is taking over the old Sears at Stonewood Mall. This massiv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380390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29,200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380390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2,513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380390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Downtown Development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1879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187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418795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Watch party in Stonewood Mall! Over 25,000 people showed up for this epic event.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4187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27,400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4187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806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4187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Fifa Positive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498848"/>
            <a:ext cx="11064240" cy="384048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572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45720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11680" y="457200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From Las Vegas to Battalion Commander: A journey fueled by college dreams and mi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45720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19,300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45720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692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60" y="45720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Military Service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49560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" y="49560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11680" y="495604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Mama Lu's is coming to Downey! Asian community favorite, famous for their tender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63840" y="49560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13,600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49560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951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0" y="49560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Food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266944"/>
            <a:ext cx="11064240" cy="384048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3400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" y="534009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FB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11680" y="5340096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Chaos erupted at a council meeting when Ms. Rivera began screaming, refusing to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63840" y="534009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11,860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0" y="534009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47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24160" y="534009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Politics Other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57241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" y="572414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11680" y="5724144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Grew up in Huntington Park and still own property there. The city's o...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63840" y="57241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9,839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0" y="57241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548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24160" y="57241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Trujillo Scandal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8640" y="6035040"/>
            <a:ext cx="11064240" cy="384048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" y="61081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97280" y="61081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11680" y="610819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Pop's Wings just opened and it's a must-try! Their pastrami sandwich with sweet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63840" y="61081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8,352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44000" y="61081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405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24160" y="61081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Food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