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E86AB"/>
                </a:solidFill>
                <a:latin typeface="Helvetica Neue"/>
              </a:rPr>
              <a:t>STATE OF THE SHOW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0">
                <a:solidFill>
                  <a:srgbClr val="FCF6F5"/>
                </a:solidFill>
                <a:latin typeface="Georgia"/>
              </a:rPr>
              <a:t>12 weeks. 1 podcast episode. 4 platforms. 400+ pieces of proof.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Since Jun 8, 2026 · through 2026-09-21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The read-once-and-you-get-the-show deck.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RECEIPT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Everything the show has shipped since launch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Cumulative totals from Jun 8 through today. Whatever the individual month, this is the body of work.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6984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2E86AB"/>
                </a:solidFill>
                <a:latin typeface="Georgia"/>
              </a:rPr>
              <a:t>517,279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747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2F3C7E"/>
                </a:solidFill>
                <a:latin typeface="Helvetica Neue"/>
              </a:rPr>
              <a:t>views across every tracked post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44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447" y="4480560"/>
            <a:ext cx="54864" cy="12801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32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435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POSTS PUBLISHED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9836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98367" y="4480560"/>
            <a:ext cx="54864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124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990011"/>
                </a:solidFill>
                <a:latin typeface="Georgia"/>
              </a:rPr>
              <a:t>16,566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124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TOTAL LIKES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728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7287" y="4480560"/>
            <a:ext cx="54864" cy="12801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016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B7A43"/>
                </a:solidFill>
                <a:latin typeface="Georgia"/>
              </a:rPr>
              <a:t>928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016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TOTAL COMMENTS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7620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76207" y="4480560"/>
            <a:ext cx="54864" cy="1280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5908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C9A227"/>
                </a:solidFill>
                <a:latin typeface="Georgia"/>
              </a:rPr>
              <a:t>1,189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5908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AVG VIEWS / POST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THREE MONTHS, THREE IDENTITIES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show's own arc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The same voice, three different chapters. Each month tried something the last month didn't.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52247" y="2103120"/>
            <a:ext cx="38404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2247" y="2103120"/>
            <a:ext cx="73152" cy="40233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0847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990011"/>
                </a:solidFill>
                <a:latin typeface="Helvetica Neue"/>
              </a:rPr>
              <a:t>JUNE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0847" y="2606039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Proof of concept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0847" y="338327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220,342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0847" y="37947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131 posts · 1,682 avg / post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0847" y="4206240"/>
            <a:ext cx="3383280" cy="18288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0847" y="429767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TOP CATEGORY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847" y="4572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0847" y="5120640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Controversy engine at scale — scandal + council chaos led the reach.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75607" y="2103120"/>
            <a:ext cx="38404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75607" y="2103120"/>
            <a:ext cx="73152" cy="40233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04207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2E86AB"/>
                </a:solidFill>
                <a:latin typeface="Helvetica Neue"/>
              </a:rPr>
              <a:t>JULY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4207" y="2606039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Diversification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4207" y="338327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207,774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4207" y="37947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163 posts · 1,274 avg / post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04207" y="4206240"/>
            <a:ext cx="3383280" cy="18288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04207" y="429767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TOP CATEGORY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04207" y="4572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41833"/>
                </a:solidFill>
                <a:latin typeface="Helvetica Neue"/>
              </a:rPr>
              <a:t>Military Service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04207" y="5120640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Military service and the FIFA watch party joined the top of the reach ladder — new lanes, same voice.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98967" y="2103120"/>
            <a:ext cx="38404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98967" y="2103120"/>
            <a:ext cx="73152" cy="40233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27567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A227"/>
                </a:solidFill>
                <a:latin typeface="Helvetica Neue"/>
              </a:rPr>
              <a:t>AUGUST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27567" y="2606039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Exploration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27567" y="338327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89,163 views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27567" y="37947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141 posts · 632 avg / post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27567" y="4206240"/>
            <a:ext cx="3383280" cy="18288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27567" y="429767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TOP CATEGORY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27567" y="4572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41833"/>
                </a:solidFill>
                <a:latin typeface="Helvetica Neue"/>
              </a:rPr>
              <a:t>Food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27567" y="5120640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No scandal chased, no viral event. Volume held, reach softened — the show explored formats without a defined pillar.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One episode has spawned three months of distinct content identities. That's what a real editorial engine looks like.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WHAT EARNED THE REACH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top 8 posts since launch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Ranked by views across all platforms. These are the pieces that pulled outside the average — the ones that traveled.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155680" cy="4572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04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304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304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2304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2304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2304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517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761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761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0" y="2761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37,900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761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2,472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2761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1089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1089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218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218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3218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3218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29,200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3218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2,513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3218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5661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675887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67588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3675887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80" y="3675887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27,400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3675887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3675887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0233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1330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41330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03120" y="41330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80" y="41330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13,600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0" y="41330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951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4133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590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590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03120" y="4590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80" y="4590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9,839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0" y="4590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548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15600" y="4590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Trujillo Scandal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5047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5047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3120" y="5047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80" y="5047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8,352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26880" y="5047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405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5047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5504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5504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03120" y="5504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55280" y="5504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7,180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26880" y="5504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5504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8521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9618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9618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03120" y="59618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55280" y="59618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7,031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26880" y="59618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59618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pieces that traveled cut across categories — a scandal, a local retail opening, a military explainer, a mall event. Range is the moat.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WORKHORSES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What consistently works across every month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Categories that appeared in June, July, and August. Ranked by cumulative reach. These are the reliable lanes.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147" y="2194560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5147" y="2194560"/>
            <a:ext cx="54864" cy="155448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8027" y="233172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FOOD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8027" y="260604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92,798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027" y="306323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60 posts · 1,546 avg / post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802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02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19 posts · 34,134 views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6006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6006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25 posts · 40,444 views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4210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210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16 posts · 18,220 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89907" y="2194560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9907" y="2194560"/>
            <a:ext cx="54864" cy="155448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72787" y="233172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2787" y="260604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30,730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2787" y="306323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30 posts · 1,024 avg / post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278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278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6 posts · 8,381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5482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482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11 posts · 9,564 views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3686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3686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13 posts · 12,785 views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84667" y="2194560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84667" y="2194560"/>
            <a:ext cx="54864" cy="155448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67547" y="233172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JUDICIAL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67547" y="260604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18,648 views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7547" y="306323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46 posts · 405 avg / post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6754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6754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 posts · 163 views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958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958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23 posts · 6,984 views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3162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3162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22 posts · 11,501 views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5147" y="4069079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95147" y="4069079"/>
            <a:ext cx="54864" cy="155448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8027" y="420624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POLITICS (OTHER)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8027" y="448055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17,226 views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8027" y="493775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16 posts · 1,076 avg / post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802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802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12 posts · 14,941 views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76006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76006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 posts · 2,075 views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4210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4210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3 posts · 210 views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89907" y="4069079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289907" y="4069079"/>
            <a:ext cx="54864" cy="155448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72787" y="420624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ELECTIONS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72787" y="448055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9,222 views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72787" y="493775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10 posts · 922 avg / post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7278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7278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 posts · 2,515 views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5482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5482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3 posts · 3,617 views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3686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3686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5 posts · 3,090 views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084667" y="4069079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084667" y="4069079"/>
            <a:ext cx="54864" cy="155448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267547" y="420624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RESIDENT HIGHLIGHT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67547" y="448055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8,250 views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67547" y="493775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8 posts · 1,031 avg / post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6754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6754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 posts · 6,042 views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34958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34958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4 posts · 1,349 views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43162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43162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 posts · 859 views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show's floor is Food + Community Local. Every month, no exception. Everything else is optional flavoring on top of this base.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WHERE THE AUDIENCE SHOWS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Reach by platform, all-time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Each platform is doing something different for the show — this isn't just cross-posting, it's four distinct audiences.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9456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94560"/>
            <a:ext cx="73152" cy="14630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3317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TIKTOK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65176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229,109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72687" y="269748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129 posts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2687" y="30175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1,776 avg /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32461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breakout engine — highest per-post reach, home of the viral moments.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219456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2194560"/>
            <a:ext cx="73152" cy="146304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1607" y="23317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INSTAGRAM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1607" y="265176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147,758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1967" y="269748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140 posts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41967" y="30175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1,055 avg / 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2461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workhorse — steady volume, steady reach, the show's Rolodex.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3727" y="393192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3727" y="3931920"/>
            <a:ext cx="73152" cy="146304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2327" y="406908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FACEBOOK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327" y="438912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138,903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72687" y="443484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153 posts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72687" y="47548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907 avg / post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2327" y="498347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reliable floor — held up strongest in August when the others dipped.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33007" y="393192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3007" y="3931920"/>
            <a:ext cx="73152" cy="14630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1607" y="406908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C9A227"/>
                </a:solidFill>
                <a:latin typeface="Helvetica Neue"/>
              </a:rPr>
              <a:t>YOUTUBE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1607" y="438912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1,509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1967" y="443484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13 posts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1967" y="47548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116 avg / post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61607" y="498347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compounding asset — each episode is a permanent link the algorithm keeps finding.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Four platforms, four jobs. A sponsor picking Talking Downey isn't buying one audience — they're buying four connected ones.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BRAND POSTURE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What Talking Downey is intentionally 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A show that runs on scandal has a ceiling. This one has been architected to have a floor instead.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03120"/>
            <a:ext cx="73152" cy="914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1284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990011"/>
                </a:solidFill>
                <a:latin typeface="Georgia"/>
              </a:rPr>
              <a:t>NOT a doomscroll show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56032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8% of posts are investigative / scandal-adjacent — the rest are city stories, food, community, and civic life.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154679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3154679"/>
            <a:ext cx="73152" cy="914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6440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B7A43"/>
                </a:solidFill>
                <a:latin typeface="Georgia"/>
              </a:rPr>
              <a:t>NOT a one-note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611879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44% of the catalog is positive / community-forward content. Sponsors are buying breadth, not controversy.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206240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206240"/>
            <a:ext cx="73152" cy="914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31596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E86AB"/>
                </a:solidFill>
                <a:latin typeface="Georgia"/>
              </a:rPr>
              <a:t>NOT reliant on any single platform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66344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Reach is spread across TikTok, Instagram, Facebook, and YouTube. No algorithm change breaks the show.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5257800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" y="5257800"/>
            <a:ext cx="73152" cy="914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36752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C9A227"/>
                </a:solidFill>
                <a:latin typeface="Georgia"/>
              </a:rPr>
              <a:t>NOT chasing every trend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57150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August proved it — the show can take a quiet month and let the catalog work in the background while it explores.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This is what makes the show sponsor-safe. The floor is community. Any heat that shows up is optional flavor.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E86AB"/>
                </a:solidFill>
                <a:latin typeface="Helvetica Neue"/>
              </a:rPr>
              <a:t>WHAT COMES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Georgia"/>
              </a:rPr>
              <a:t>Three directions for the next chapter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FCF6F5"/>
                </a:solidFill>
                <a:latin typeface="Helvetica Neue"/>
              </a:rPr>
              <a:t>Pick one, pick two, pick all three. Each is grounded in what the last 12 weeks proved.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651760"/>
            <a:ext cx="10698480" cy="59436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651760"/>
            <a:ext cx="73152" cy="5943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72491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B7A43"/>
                </a:solidFill>
                <a:latin typeface="Helvetica Neue"/>
              </a:rPr>
              <a:t>LEAN INTO WHAT 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27889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Sponsor a Food + Community Local weekly slot. Sustained per-post reach across all 3 months. Low-risk, high-reliability.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337560"/>
            <a:ext cx="10698480" cy="59436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337560"/>
            <a:ext cx="73152" cy="5943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1071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990011"/>
                </a:solidFill>
                <a:latin typeface="Helvetica Neue"/>
              </a:rPr>
              <a:t>REOPEN THE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34747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Green-light one investigative piece per month. Scandal drove June's breakout — proven ceiling is much higher than the current floor.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023360"/>
            <a:ext cx="10698480" cy="59436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4023360"/>
            <a:ext cx="73152" cy="5943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09651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A227"/>
                </a:solidFill>
                <a:latin typeface="Helvetica Neue"/>
              </a:rPr>
              <a:t>TEST A NEW FORMAT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41605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Fund a two-week experiment (YouTube long-form, TikTok series, live stream). The show has shown it can take exploration months without breaking.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9377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ASK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3035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Georgia"/>
              </a:rPr>
              <a:t>What do you want the next 12 weeks to look like?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